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2" r:id="rId7"/>
    <p:sldId id="263" r:id="rId8"/>
    <p:sldId id="276" r:id="rId9"/>
    <p:sldId id="265" r:id="rId10"/>
    <p:sldId id="267" r:id="rId11"/>
    <p:sldId id="268" r:id="rId12"/>
    <p:sldId id="270" r:id="rId13"/>
    <p:sldId id="271" r:id="rId14"/>
    <p:sldId id="272" r:id="rId15"/>
    <p:sldId id="277" r:id="rId16"/>
    <p:sldId id="273" r:id="rId17"/>
    <p:sldId id="278" r:id="rId18"/>
    <p:sldId id="275"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5563"/>
    <a:srgbClr val="DC2626"/>
    <a:srgbClr val="1E1B4B"/>
    <a:srgbClr val="FEE2E2"/>
    <a:srgbClr val="FFCC00"/>
    <a:srgbClr val="A8FAAE"/>
    <a:srgbClr val="6200C4"/>
    <a:srgbClr val="E7E7F5"/>
    <a:srgbClr val="C4C3E7"/>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65359" autoAdjust="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364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Project Brief</a:t>
            </a:r>
          </a:p>
          <a:p>
            <a:endParaRPr lang="en-US" dirty="0"/>
          </a:p>
          <a:p>
            <a:r>
              <a:rPr lang="en-US" dirty="0"/>
              <a:t>This project focuses on predicting smartphone prices using hardware specifications through an end-to-end machine learning workflow. The analysis is based on a dataset containing 541 smartphone models and aims to identify the key factors influencing smartphone pricing while developing an accurate predictive model.</a:t>
            </a:r>
          </a:p>
          <a:p>
            <a:endParaRPr lang="en-US" dirty="0"/>
          </a:p>
          <a:p>
            <a:r>
              <a:rPr lang="en-US" dirty="0"/>
              <a:t>Presentation Flow</a:t>
            </a:r>
          </a:p>
          <a:p>
            <a:endParaRPr lang="en-US" dirty="0"/>
          </a:p>
          <a:p>
            <a:r>
              <a:rPr lang="en-US" dirty="0"/>
              <a:t>• Business Understanding &amp; Dataset Overview</a:t>
            </a:r>
          </a:p>
          <a:p>
            <a:r>
              <a:rPr lang="en-US" dirty="0"/>
              <a:t>• Data Cleaning &amp; Preprocessing</a:t>
            </a:r>
          </a:p>
          <a:p>
            <a:r>
              <a:rPr lang="en-US" dirty="0"/>
              <a:t>• Feature Engineering</a:t>
            </a:r>
          </a:p>
          <a:p>
            <a:r>
              <a:rPr lang="en-US" dirty="0"/>
              <a:t>• Exploratory Data Analysis</a:t>
            </a:r>
          </a:p>
          <a:p>
            <a:r>
              <a:rPr lang="en-US" dirty="0"/>
              <a:t>• Feature Extraction &amp; Selection</a:t>
            </a:r>
          </a:p>
          <a:p>
            <a:r>
              <a:rPr lang="en-US" dirty="0"/>
              <a:t>• Model Building &amp; Hyperparameter Tuning</a:t>
            </a:r>
          </a:p>
          <a:p>
            <a:r>
              <a:rPr lang="en-US" dirty="0"/>
              <a:t>• Model Performance Comparison</a:t>
            </a:r>
          </a:p>
          <a:p>
            <a:r>
              <a:rPr lang="en-US" dirty="0"/>
              <a:t>• Feature Importance Analysis</a:t>
            </a:r>
          </a:p>
          <a:p>
            <a:r>
              <a:rPr lang="en-US" dirty="0"/>
              <a:t>• Final Model Retraining &amp; Validation</a:t>
            </a:r>
          </a:p>
          <a:p>
            <a:r>
              <a:rPr lang="en-US" dirty="0"/>
              <a:t>• Business Recommendations</a:t>
            </a:r>
          </a:p>
          <a:p>
            <a:r>
              <a:rPr lang="en-US" dirty="0"/>
              <a:t>• Challenges &amp; Key Learnings</a:t>
            </a:r>
          </a:p>
          <a:p>
            <a:r>
              <a:rPr lang="en-US" dirty="0"/>
              <a:t>• Conclusion &amp; Future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Business problem: </a:t>
            </a:r>
          </a:p>
          <a:p>
            <a:r>
              <a:rPr lang="en-US" dirty="0"/>
              <a:t>A mobile phone retailer needs a data-driven pricing engine. Manual pricing is inconsistent.
Dataset:</a:t>
            </a:r>
          </a:p>
          <a:p>
            <a:r>
              <a:rPr lang="en-US" dirty="0"/>
              <a:t>Processed_Flipdata.csv — 541 rows, 12 columns.</a:t>
            </a:r>
          </a:p>
          <a:p>
            <a:r>
              <a:rPr lang="en-US" dirty="0"/>
              <a:t>• 0 missing values and 10 duplicate rows detected during the initial data quality audit.
• Prize (target) stored as string with commas → needs cleaning
• Rear/Front Camera stored as strings like '13MP+2MP' → numeric extraction needed
• Processor_ is a full string like 'Qualcomm Snapdragon 680' → brand needs extraction
• Model (187 unique) and Colour (275 unique) are very high cardinality categoricals
</a:t>
            </a:r>
            <a:r>
              <a:rPr lang="en-IN" dirty="0"/>
              <a:t>All 7 objectives were fully met and exceeded in the final 11-section notebook. Below are the detailed objectives:</a:t>
            </a:r>
          </a:p>
          <a:p>
            <a:pPr marL="171450" indent="-171450">
              <a:buFont typeface="Arial" panose="020B0604020202020204" pitchFamily="34" charset="0"/>
              <a:buChar char="•"/>
            </a:pPr>
            <a:r>
              <a:rPr lang="en-IN" sz="1200" dirty="0">
                <a:solidFill>
                  <a:srgbClr val="4B5563"/>
                </a:solidFill>
                <a:latin typeface="Segoe UI" panose="020B0502040204020203" pitchFamily="34" charset="0"/>
                <a:ea typeface="Calibri" pitchFamily="34" charset="-122"/>
                <a:cs typeface="Segoe UI" panose="020B0502040204020203" pitchFamily="34" charset="0"/>
              </a:rPr>
              <a:t>Perform thorough data preprocessing and handle all structural inconsistencies in the raw dataset</a:t>
            </a:r>
          </a:p>
          <a:p>
            <a:pPr marL="171450" indent="-171450">
              <a:buFont typeface="Arial" panose="020B0604020202020204" pitchFamily="34" charset="0"/>
              <a:buChar char="•"/>
            </a:pPr>
            <a:r>
              <a:rPr lang="en-IN" sz="1200" dirty="0">
                <a:solidFill>
                  <a:srgbClr val="4B5563"/>
                </a:solidFill>
                <a:latin typeface="Segoe UI" panose="020B0502040204020203" pitchFamily="34" charset="0"/>
                <a:ea typeface="Calibri" pitchFamily="34" charset="-122"/>
                <a:cs typeface="Segoe UI" panose="020B0502040204020203" pitchFamily="34" charset="0"/>
              </a:rPr>
              <a:t>Engineer meaningful features from raw specification strings (camera MP, processor brand, colour family, etc.)</a:t>
            </a:r>
          </a:p>
          <a:p>
            <a:pPr marL="171450" indent="-171450">
              <a:buFont typeface="Arial" panose="020B0604020202020204" pitchFamily="34" charset="0"/>
              <a:buChar char="•"/>
            </a:pPr>
            <a:r>
              <a:rPr lang="en-IN" sz="1200" dirty="0">
                <a:solidFill>
                  <a:srgbClr val="4B5563"/>
                </a:solidFill>
                <a:latin typeface="Segoe UI" panose="020B0502040204020203" pitchFamily="34" charset="0"/>
                <a:ea typeface="Calibri" pitchFamily="34" charset="-122"/>
                <a:cs typeface="Segoe UI" panose="020B0502040204020203" pitchFamily="34" charset="0"/>
              </a:rPr>
              <a:t>Identify the most influential hardware features using three complementary screening methods</a:t>
            </a:r>
          </a:p>
          <a:p>
            <a:pPr marL="171450" indent="-171450">
              <a:buFont typeface="Arial" panose="020B0604020202020204" pitchFamily="34" charset="0"/>
              <a:buChar char="•"/>
            </a:pPr>
            <a:r>
              <a:rPr lang="en-US" sz="1200" dirty="0">
                <a:solidFill>
                  <a:srgbClr val="4B5563"/>
                </a:solidFill>
                <a:latin typeface="Segoe UI" panose="020B0502040204020203" pitchFamily="34" charset="0"/>
                <a:ea typeface="Calibri" pitchFamily="34" charset="-122"/>
                <a:cs typeface="Segoe UI" panose="020B0502040204020203" pitchFamily="34" charset="0"/>
              </a:rPr>
              <a:t>Resolve method conflicts through empirical experiments</a:t>
            </a:r>
            <a:endParaRPr lang="en-US" sz="1200" dirty="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IN" sz="1200" dirty="0">
                <a:solidFill>
                  <a:srgbClr val="4B5563"/>
                </a:solidFill>
                <a:latin typeface="Segoe UI" panose="020B0502040204020203" pitchFamily="34" charset="0"/>
                <a:ea typeface="Calibri" pitchFamily="34" charset="-122"/>
                <a:cs typeface="Segoe UI" panose="020B0502040204020203" pitchFamily="34" charset="0"/>
              </a:rPr>
              <a:t>Build and evaluate four machine learning models under identical, controlled conditions</a:t>
            </a:r>
          </a:p>
          <a:p>
            <a:pPr marL="171450" indent="-171450">
              <a:buFont typeface="Arial" panose="020B0604020202020204" pitchFamily="34" charset="0"/>
              <a:buChar char="•"/>
            </a:pPr>
            <a:r>
              <a:rPr lang="en-IN" sz="1200" dirty="0">
                <a:solidFill>
                  <a:srgbClr val="4B5563"/>
                </a:solidFill>
                <a:latin typeface="Segoe UI" panose="020B0502040204020203" pitchFamily="34" charset="0"/>
                <a:ea typeface="Calibri" pitchFamily="34" charset="-122"/>
                <a:cs typeface="Segoe UI" panose="020B0502040204020203" pitchFamily="34" charset="0"/>
              </a:rPr>
              <a:t>Optimize the winning model through systematic hyperparameter tuning via GridSearchCV</a:t>
            </a:r>
          </a:p>
          <a:p>
            <a:pPr marL="171450" indent="-171450">
              <a:buFont typeface="Arial" panose="020B0604020202020204" pitchFamily="34" charset="0"/>
              <a:buChar char="•"/>
            </a:pPr>
            <a:r>
              <a:rPr lang="en-IN" sz="1200" dirty="0">
                <a:solidFill>
                  <a:srgbClr val="4B5563"/>
                </a:solidFill>
                <a:latin typeface="Segoe UI" panose="020B0502040204020203" pitchFamily="34" charset="0"/>
                <a:ea typeface="Calibri" pitchFamily="34" charset="-122"/>
                <a:cs typeface="Segoe UI" panose="020B0502040204020203" pitchFamily="34" charset="0"/>
              </a:rPr>
              <a:t>Validate model reliability through residual analysis and a Feature Contribution Test</a:t>
            </a:r>
          </a:p>
          <a:p>
            <a:pPr marL="171450" indent="-171450">
              <a:buFont typeface="Arial" panose="020B0604020202020204" pitchFamily="34" charset="0"/>
              <a:buChar char="•"/>
            </a:pPr>
            <a:r>
              <a:rPr lang="en-IN" sz="1200" dirty="0">
                <a:solidFill>
                  <a:srgbClr val="4B5563"/>
                </a:solidFill>
                <a:latin typeface="Segoe UI" panose="020B0502040204020203" pitchFamily="34" charset="0"/>
                <a:ea typeface="Calibri" pitchFamily="34" charset="-122"/>
                <a:cs typeface="Segoe UI" panose="020B0502040204020203" pitchFamily="34" charset="0"/>
              </a:rPr>
              <a:t>Provide actionable, evidence-backed business recommendations for pricing strategy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The initial preprocessing phase focuses on verifying data integrity and applying structural transformations to the raw 541-record smartphone dataset. </a:t>
            </a:r>
          </a:p>
          <a:p>
            <a:r>
              <a:rPr lang="en-IN" dirty="0"/>
              <a:t>The data quality audit identified zero missing values and ten duplicate rows. </a:t>
            </a:r>
          </a:p>
          <a:p>
            <a:r>
              <a:rPr lang="en-IN" dirty="0"/>
              <a:t>After removing the duplicates, preprocessing focused primarily on structural transformation rather than data correction.</a:t>
            </a:r>
          </a:p>
          <a:p>
            <a:endParaRPr lang="en-US" dirty="0"/>
          </a:p>
          <a:p>
            <a:r>
              <a:rPr lang="en-IN" dirty="0"/>
              <a:t>Machine learning models require numerical representations of input features before training. Unstructured text, such as camera specifications or formatting artifacts in the target price data, must be parsed to extract the underlying numerical values. Furthermore, raw model names and colour variants contain hundreds of unique values that would lead to a feature space explosion if encoded directly and therefore must be transformed into machine-readable representations while preserving their analytical value.</a:t>
            </a:r>
          </a:p>
          <a:p>
            <a:endParaRPr lang="en-IN" dirty="0"/>
          </a:p>
          <a:p>
            <a:r>
              <a:rPr lang="en-IN" dirty="0"/>
              <a:t>The target variable and camera strings are stripped of non-numeric characters using regular expressions and safely cast into integer datatypes. </a:t>
            </a:r>
          </a:p>
          <a:p>
            <a:endParaRPr lang="en-IN" dirty="0"/>
          </a:p>
          <a:p>
            <a:r>
              <a:rPr lang="en-IN" b="1" dirty="0"/>
              <a:t>Finally, non-analytical artifacts are removed, resulting in a refined 13-column dataset ready for exploratory data analysis (EDA).</a:t>
            </a:r>
          </a:p>
          <a:p>
            <a:endParaRPr lang="en-US" b="1" dirty="0"/>
          </a:p>
          <a:p>
            <a:endParaRPr lang="en-US" dirty="0"/>
          </a:p>
          <a:p>
            <a:r>
              <a:rPr lang="en-US" dirty="0"/>
              <a:t>In short, key cleaning steps:</a:t>
            </a:r>
          </a:p>
          <a:p>
            <a:r>
              <a:rPr lang="en-US" dirty="0"/>
              <a:t>
1. `Unnamed:0` dropped — leftover from CSV export
2. `Battery_` renamed to `Battery_mAh`
3. Camera extraction:</a:t>
            </a:r>
          </a:p>
          <a:p>
            <a:r>
              <a:rPr lang="en-US" dirty="0"/>
              <a:t>   str.extract(r'(\d+)') extracts the first numeric value from strings such as '13MP+2MP', then safely converts the result to integer. Zero nulls confirmed.</a:t>
            </a:r>
          </a:p>
          <a:p>
            <a:r>
              <a:rPr lang="en-US" dirty="0"/>
              <a:t>4. Prize cleaning:</a:t>
            </a:r>
          </a:p>
          <a:p>
            <a:r>
              <a:rPr lang="en-US" dirty="0"/>
              <a:t>   .str.replace(',','').astype(int) removes comma separators, converts the values to integer, and the column is renamed to Price.
</a:t>
            </a:r>
          </a:p>
          <a:p>
            <a:r>
              <a:rPr lang="en-US" dirty="0"/>
              <a:t>Data integrity audit results:</a:t>
            </a:r>
          </a:p>
          <a:p>
            <a:r>
              <a:rPr lang="en-US" dirty="0"/>
              <a:t>
- isnull().sum(): 0 missing across all 12 columns
- duplicated().sum(): 10 duplicate rows
</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Three analytical helper features were engineered to support exploratory analysis and simplify the handling of high-cardinality categorical variables during subsequent preprocessing.</a:t>
            </a:r>
          </a:p>
          <a:p>
            <a:endParaRPr lang="en-US" dirty="0"/>
          </a:p>
          <a:p>
            <a:r>
              <a:rPr lang="en-US" dirty="0"/>
              <a:t>1. Processor_Brand — keyword matching from full processor strings:</a:t>
            </a:r>
          </a:p>
          <a:p>
            <a:r>
              <a:rPr lang="en-US" dirty="0"/>
              <a:t>   '</a:t>
            </a:r>
            <a:r>
              <a:rPr lang="en-US" dirty="0" err="1"/>
              <a:t>qualcomm</a:t>
            </a:r>
            <a:r>
              <a:rPr lang="en-US" dirty="0"/>
              <a:t>'/'snapdragon' → Qualcomm</a:t>
            </a:r>
          </a:p>
          <a:p>
            <a:r>
              <a:rPr lang="en-US" dirty="0"/>
              <a:t>   '</a:t>
            </a:r>
            <a:r>
              <a:rPr lang="en-US" dirty="0" err="1"/>
              <a:t>mediatek</a:t>
            </a:r>
            <a:r>
              <a:rPr lang="en-US" dirty="0"/>
              <a:t>'/'</a:t>
            </a:r>
            <a:r>
              <a:rPr lang="en-US" dirty="0" err="1"/>
              <a:t>dimensity</a:t>
            </a:r>
            <a:r>
              <a:rPr lang="en-US" dirty="0"/>
              <a:t>'/'</a:t>
            </a:r>
            <a:r>
              <a:rPr lang="en-US" dirty="0" err="1"/>
              <a:t>helio</a:t>
            </a:r>
            <a:r>
              <a:rPr lang="en-US" dirty="0"/>
              <a:t>' → Mediatek</a:t>
            </a:r>
          </a:p>
          <a:p>
            <a:r>
              <a:rPr lang="en-US" dirty="0"/>
              <a:t>   '</a:t>
            </a:r>
            <a:r>
              <a:rPr lang="en-US" dirty="0" err="1"/>
              <a:t>unisoc</a:t>
            </a:r>
            <a:r>
              <a:rPr lang="en-US" dirty="0"/>
              <a:t>' → Unisoc</a:t>
            </a:r>
          </a:p>
          <a:p>
            <a:r>
              <a:rPr lang="en-US" dirty="0"/>
              <a:t>   '</a:t>
            </a:r>
            <a:r>
              <a:rPr lang="en-US" dirty="0" err="1"/>
              <a:t>exynos</a:t>
            </a:r>
            <a:r>
              <a:rPr lang="en-US" dirty="0"/>
              <a:t>' → Exynos</a:t>
            </a:r>
          </a:p>
          <a:p>
            <a:r>
              <a:rPr lang="en-US" dirty="0"/>
              <a:t>   'google tensor' → Google</a:t>
            </a:r>
          </a:p>
          <a:p>
            <a:r>
              <a:rPr lang="en-US" dirty="0"/>
              <a:t>   Any unrecognized processor string was assigned to the 'Unknown' category.</a:t>
            </a:r>
          </a:p>
          <a:p>
            <a:endParaRPr lang="en-US" dirty="0"/>
          </a:p>
          <a:p>
            <a:r>
              <a:rPr lang="en-US" dirty="0"/>
              <a:t>   Final distribution:</a:t>
            </a:r>
          </a:p>
          <a:p>
            <a:r>
              <a:rPr lang="en-US" dirty="0"/>
              <a:t>   • Mediatek: 280</a:t>
            </a:r>
          </a:p>
          <a:p>
            <a:r>
              <a:rPr lang="en-US" dirty="0"/>
              <a:t>   • Qualcomm: 129</a:t>
            </a:r>
          </a:p>
          <a:p>
            <a:r>
              <a:rPr lang="en-US" dirty="0"/>
              <a:t>   • Unisoc: 69</a:t>
            </a:r>
          </a:p>
          <a:p>
            <a:r>
              <a:rPr lang="en-US" dirty="0"/>
              <a:t>   • Exynos: 30</a:t>
            </a:r>
          </a:p>
          <a:p>
            <a:r>
              <a:rPr lang="en-US" dirty="0"/>
              <a:t>   • Google: 8</a:t>
            </a:r>
          </a:p>
          <a:p>
            <a:r>
              <a:rPr lang="en-US" dirty="0"/>
              <a:t>   • Unknown: 17</a:t>
            </a:r>
          </a:p>
          <a:p>
            <a:endParaRPr lang="en-US" dirty="0"/>
          </a:p>
          <a:p>
            <a:r>
              <a:rPr lang="en-US" dirty="0"/>
              <a:t>   Only 17 records (3.2%) remained unmapped, indicating that the keyword-based extraction achieved high coverage across the dataset.</a:t>
            </a:r>
          </a:p>
          <a:p>
            <a:endParaRPr lang="en-US" dirty="0"/>
          </a:p>
          <a:p>
            <a:r>
              <a:rPr lang="en-US" dirty="0"/>
              <a:t>2. Model_Category — grouped 187 individual model names into 13 brand families using keyword extraction.</a:t>
            </a:r>
          </a:p>
          <a:p>
            <a:r>
              <a:rPr lang="en-US" dirty="0"/>
              <a:t>   Xiaomi (132), Realme (97), and Infinix (65) together account for approximately 55% of the dataset, simplifying brand-level exploratory analysis while preserving the original Model column for modelling.</a:t>
            </a:r>
          </a:p>
          <a:p>
            <a:endParaRPr lang="en-US" dirty="0"/>
          </a:p>
          <a:p>
            <a:r>
              <a:rPr lang="en-US" dirty="0"/>
              <a:t>3. Colour_Category — grouped 275 individual colour variants into 12 base colour families.</a:t>
            </a:r>
          </a:p>
          <a:p>
            <a:r>
              <a:rPr lang="en-US" dirty="0"/>
              <a:t>   Black (157) and Blue (139) together account for approximately 56% of all devices, making colour distribution visualizations more interpretable during exploratory analysis.</a:t>
            </a:r>
          </a:p>
          <a:p>
            <a:endParaRPr lang="en-US" dirty="0"/>
          </a:p>
          <a:p>
            <a:r>
              <a:rPr lang="en-US" dirty="0"/>
              <a:t>IMPORTANT:</a:t>
            </a:r>
          </a:p>
          <a:p>
            <a:r>
              <a:rPr lang="en-US" dirty="0"/>
              <a:t>Model_Category and Colour_Category were created exclusively as EDA helper features and were intentionally removed before model training. The original Model and Colour columns were retained and later Label Encoded to preserve fine-grained pricing information. </a:t>
            </a:r>
          </a:p>
          <a:p>
            <a:r>
              <a:rPr lang="en-IN" dirty="0"/>
              <a:t>During the encoding stage, </a:t>
            </a:r>
            <a:r>
              <a:rPr lang="en-IN" sz="1200" kern="1200" dirty="0" err="1">
                <a:solidFill>
                  <a:schemeClr val="tx1"/>
                </a:solidFill>
                <a:latin typeface="+mn-lt"/>
                <a:ea typeface="+mn-ea"/>
                <a:cs typeface="+mn-cs"/>
              </a:rPr>
              <a:t>Processor_Brand</a:t>
            </a:r>
            <a:r>
              <a:rPr lang="en-IN" dirty="0"/>
              <a:t> was transformed into six One-Hot Encoded binary features, after which the original </a:t>
            </a:r>
            <a:r>
              <a:rPr lang="en-IN" sz="1200" kern="1200" dirty="0" err="1">
                <a:solidFill>
                  <a:schemeClr val="tx1"/>
                </a:solidFill>
                <a:latin typeface="+mn-lt"/>
                <a:ea typeface="+mn-ea"/>
                <a:cs typeface="+mn-cs"/>
              </a:rPr>
              <a:t>Processor_Brand</a:t>
            </a:r>
            <a:r>
              <a:rPr lang="en-IN" dirty="0"/>
              <a:t> column was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b="1" dirty="0"/>
              <a:t>Outlier Detection &amp; Treatment</a:t>
            </a:r>
          </a:p>
          <a:p>
            <a:endParaRPr lang="en-IN" dirty="0"/>
          </a:p>
          <a:p>
            <a:r>
              <a:rPr lang="en-IN" dirty="0"/>
              <a:t>The dataset was examined for potential outliers using multiple complementary techniques rather than relying on a single statistical rule. The objective was to distinguish genuine premium smartphone specifications from erroneous observations before deciding whether treatment was necessary.</a:t>
            </a:r>
          </a:p>
          <a:p>
            <a:endParaRPr lang="en-IN" dirty="0"/>
          </a:p>
          <a:p>
            <a:r>
              <a:rPr lang="en-IN" dirty="0"/>
              <a:t>Two statistical detection methods were applied:</a:t>
            </a:r>
          </a:p>
          <a:p>
            <a:r>
              <a:rPr lang="en-IN" b="1" dirty="0"/>
              <a:t>Interquartile Range (IQR)</a:t>
            </a:r>
            <a:endParaRPr lang="en-IN" dirty="0"/>
          </a:p>
          <a:p>
            <a:r>
              <a:rPr lang="en-IN" dirty="0"/>
              <a:t>Applied to all numerical features. </a:t>
            </a:r>
          </a:p>
          <a:p>
            <a:r>
              <a:rPr lang="en-IN" dirty="0"/>
              <a:t>Flagged observations lying outside the conventional 1.5×IQR fences. </a:t>
            </a:r>
          </a:p>
          <a:p>
            <a:r>
              <a:rPr lang="en-IN" dirty="0"/>
              <a:t>Detected: </a:t>
            </a:r>
          </a:p>
          <a:p>
            <a:pPr lvl="1"/>
            <a:r>
              <a:rPr lang="en-IN" dirty="0"/>
              <a:t>Memory: 55 </a:t>
            </a:r>
          </a:p>
          <a:p>
            <a:pPr lvl="1"/>
            <a:r>
              <a:rPr lang="en-IN" dirty="0"/>
              <a:t>Battery: 148 </a:t>
            </a:r>
          </a:p>
          <a:p>
            <a:pPr lvl="1"/>
            <a:r>
              <a:rPr lang="en-IN" dirty="0"/>
              <a:t>Rear Camera: 39 </a:t>
            </a:r>
          </a:p>
          <a:p>
            <a:pPr lvl="1"/>
            <a:r>
              <a:rPr lang="en-IN" dirty="0"/>
              <a:t>Front Camera: 13 </a:t>
            </a:r>
          </a:p>
          <a:p>
            <a:pPr lvl="1"/>
            <a:r>
              <a:rPr lang="en-IN" dirty="0"/>
              <a:t>Price: 25.</a:t>
            </a:r>
          </a:p>
          <a:p>
            <a:endParaRPr lang="en-IN" b="1" dirty="0"/>
          </a:p>
          <a:p>
            <a:r>
              <a:rPr lang="en-IN" b="1" dirty="0"/>
              <a:t>Z-Score Method</a:t>
            </a:r>
            <a:endParaRPr lang="en-IN" dirty="0"/>
          </a:p>
          <a:p>
            <a:r>
              <a:rPr lang="en-IN" dirty="0"/>
              <a:t>Applied using the Empirical Rule (|Z| &gt; 3). </a:t>
            </a:r>
          </a:p>
          <a:p>
            <a:r>
              <a:rPr lang="en-IN" dirty="0"/>
              <a:t>Produced fewer extreme observations: </a:t>
            </a:r>
          </a:p>
          <a:p>
            <a:pPr lvl="1"/>
            <a:r>
              <a:rPr lang="en-IN" dirty="0"/>
              <a:t>Battery: 15 </a:t>
            </a:r>
          </a:p>
          <a:p>
            <a:pPr lvl="1"/>
            <a:r>
              <a:rPr lang="en-IN" dirty="0"/>
              <a:t>Rear Camera: 8 </a:t>
            </a:r>
          </a:p>
          <a:p>
            <a:pPr lvl="1"/>
            <a:r>
              <a:rPr lang="en-IN" dirty="0"/>
              <a:t>Front Camera: 13 </a:t>
            </a:r>
          </a:p>
          <a:p>
            <a:pPr lvl="1"/>
            <a:r>
              <a:rPr lang="en-IN" dirty="0"/>
              <a:t>Price: 11 </a:t>
            </a:r>
          </a:p>
          <a:p>
            <a:r>
              <a:rPr lang="en-IN" dirty="0"/>
              <a:t>These records were also verified as genuine premium devices and therefore were not removed.</a:t>
            </a:r>
          </a:p>
          <a:p>
            <a:endParaRPr lang="en-IN" dirty="0"/>
          </a:p>
          <a:p>
            <a:r>
              <a:rPr lang="en-IN" dirty="0"/>
              <a:t>Unlike the remaining variables, </a:t>
            </a:r>
            <a:r>
              <a:rPr lang="en-IN" b="1" dirty="0"/>
              <a:t>Mobile Height</a:t>
            </a:r>
            <a:r>
              <a:rPr lang="en-IN" dirty="0"/>
              <a:t> contained implausible measurements identified during exploratory validation. </a:t>
            </a:r>
          </a:p>
          <a:p>
            <a:r>
              <a:rPr lang="en-IN" dirty="0"/>
              <a:t>These values were corrected through </a:t>
            </a:r>
            <a:r>
              <a:rPr lang="en-IN" b="1" dirty="0"/>
              <a:t>median imputation.</a:t>
            </a:r>
          </a:p>
          <a:p>
            <a:endParaRPr lang="en-IN" dirty="0"/>
          </a:p>
          <a:p>
            <a:r>
              <a:rPr lang="en-IN" dirty="0"/>
              <a:t>For the target variable (</a:t>
            </a:r>
            <a:r>
              <a:rPr lang="en-IN" b="1" dirty="0"/>
              <a:t>Price</a:t>
            </a:r>
            <a:r>
              <a:rPr lang="en-IN" dirty="0"/>
              <a:t>), outright removal would unnecessarily discard valuable premium smartphones. </a:t>
            </a:r>
          </a:p>
          <a:p>
            <a:r>
              <a:rPr lang="en-IN" dirty="0"/>
              <a:t>Instead, a </a:t>
            </a:r>
            <a:r>
              <a:rPr lang="en-IN" b="1" dirty="0"/>
              <a:t>99th percentile cap (₹55,999)</a:t>
            </a:r>
            <a:r>
              <a:rPr lang="en-IN" dirty="0"/>
              <a:t> was applied, affecting only </a:t>
            </a:r>
            <a:r>
              <a:rPr lang="en-IN" b="1" dirty="0"/>
              <a:t>7 observations</a:t>
            </a:r>
            <a:r>
              <a:rPr lang="en-IN" dirty="0"/>
              <a:t> while preserving every record within the dataset.</a:t>
            </a:r>
          </a:p>
          <a:p>
            <a:r>
              <a:rPr lang="en-IN" dirty="0"/>
              <a:t>This selective treatment reduced distributional extremity without sacrificing legitimate market behaviour, allowing subsequent modelling to retain realistic premium-price information.</a:t>
            </a:r>
          </a:p>
          <a:p>
            <a:endParaRPr lang="en-IN"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Following outlier treatment, univariate analysis was performed to understand the distribution of the target variable and the overall composition of the smartphone market represented within the dataset.</a:t>
            </a:r>
          </a:p>
          <a:p>
            <a:r>
              <a:rPr lang="en-IN" dirty="0"/>
              <a:t>The capped price distribution remained positively skewed.</a:t>
            </a:r>
          </a:p>
          <a:p>
            <a:endParaRPr lang="en-IN" dirty="0"/>
          </a:p>
          <a:p>
            <a:r>
              <a:rPr lang="en-IN" dirty="0"/>
              <a:t>Price segment analysis showed:</a:t>
            </a:r>
          </a:p>
          <a:p>
            <a:r>
              <a:rPr lang="en-IN" dirty="0"/>
              <a:t>Budget (&lt; ₹10,000): </a:t>
            </a:r>
            <a:r>
              <a:rPr lang="en-IN" b="1" dirty="0"/>
              <a:t>176 devices</a:t>
            </a:r>
            <a:r>
              <a:rPr lang="en-IN" dirty="0"/>
              <a:t> </a:t>
            </a:r>
          </a:p>
          <a:p>
            <a:r>
              <a:rPr lang="en-IN" dirty="0"/>
              <a:t>Mid-range (₹10,000–20,000): </a:t>
            </a:r>
            <a:r>
              <a:rPr lang="en-IN" b="1" dirty="0"/>
              <a:t>236 devices</a:t>
            </a:r>
            <a:r>
              <a:rPr lang="en-IN" dirty="0"/>
              <a:t> </a:t>
            </a:r>
          </a:p>
          <a:p>
            <a:r>
              <a:rPr lang="en-IN" dirty="0"/>
              <a:t>Upper Mid (₹20,000–35,000): </a:t>
            </a:r>
            <a:r>
              <a:rPr lang="en-IN" b="1" dirty="0"/>
              <a:t>97 devices</a:t>
            </a:r>
            <a:r>
              <a:rPr lang="en-IN" dirty="0"/>
              <a:t> </a:t>
            </a:r>
          </a:p>
          <a:p>
            <a:r>
              <a:rPr lang="en-IN" dirty="0"/>
              <a:t>Premium (&gt; ₹35,000): </a:t>
            </a:r>
            <a:r>
              <a:rPr lang="en-IN" b="1" dirty="0"/>
              <a:t>22 devices</a:t>
            </a:r>
            <a:r>
              <a:rPr lang="en-IN" dirty="0"/>
              <a:t> </a:t>
            </a:r>
          </a:p>
          <a:p>
            <a:endParaRPr lang="en-IN" dirty="0"/>
          </a:p>
          <a:p>
            <a:r>
              <a:rPr lang="en-IN" dirty="0"/>
              <a:t>Together, the Budget and Mid-range segments account for approximately </a:t>
            </a:r>
            <a:r>
              <a:rPr lang="en-IN" b="1" dirty="0"/>
              <a:t>77%</a:t>
            </a:r>
            <a:r>
              <a:rPr lang="en-IN" dirty="0"/>
              <a:t> of the dataset, confirming that the collection primarily represents affordable consumer smartphones.</a:t>
            </a:r>
          </a:p>
          <a:p>
            <a:r>
              <a:rPr lang="en-IN" dirty="0"/>
              <a:t>Although capping reduced the influence of extreme prices, the histogram still exhibits a long right tail. This indicates that premium devices remain comparatively rare but continue to influence the overall distribution.</a:t>
            </a:r>
          </a:p>
          <a:p>
            <a:endParaRPr lang="en-IN" dirty="0"/>
          </a:p>
          <a:p>
            <a:r>
              <a:rPr lang="en-IN" dirty="0"/>
              <a:t>A Quantile-Quantile (Q-Q) Plot was also examined within the notebook. Systematic deviation from the reference line—particularly within the upper tail—confirmed that the target variable does not follow a normal distribution even after treatment. This finding later helps explain why tree-based ensemble models substantially outperform Linear Regression.</a:t>
            </a:r>
          </a:p>
          <a:p>
            <a:endParaRPr lang="en-IN" dirty="0"/>
          </a:p>
          <a:p>
            <a:r>
              <a:rPr lang="en-IN" b="1" dirty="0"/>
              <a:t>Brand composition </a:t>
            </a:r>
            <a:r>
              <a:rPr lang="en-IN" dirty="0"/>
              <a:t>further highlights the dataset structure.</a:t>
            </a:r>
          </a:p>
          <a:p>
            <a:r>
              <a:rPr lang="en-IN" dirty="0"/>
              <a:t>Xiaomi, Realme and Infinix together account for slightly over half of all smartphones, whereas Apple and Google devices represent only a very small proportion of the observations.</a:t>
            </a:r>
          </a:p>
          <a:p>
            <a:endParaRPr lang="en-IN" b="1" dirty="0"/>
          </a:p>
          <a:p>
            <a:r>
              <a:rPr lang="en-IN" b="1" dirty="0"/>
              <a:t>Colour analysis </a:t>
            </a:r>
            <a:r>
              <a:rPr lang="en-IN" dirty="0"/>
              <a:t>showed that Black and Blue variants dominate the dataset, accounting for over half of all devices. </a:t>
            </a:r>
          </a:p>
          <a:p>
            <a:r>
              <a:rPr lang="en-IN" dirty="0"/>
              <a:t>Since colour was not expected to influence pricing behaviour, the engineered </a:t>
            </a:r>
            <a:r>
              <a:rPr lang="en-IN" dirty="0" err="1"/>
              <a:t>Colour_Category</a:t>
            </a:r>
            <a:r>
              <a:rPr lang="en-IN" dirty="0"/>
              <a:t> feature was used only during exploratory analysis and removed before feature selection.</a:t>
            </a:r>
          </a:p>
          <a:p>
            <a:endParaRPr lang="en-IN"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RAM vs Price</a:t>
            </a:r>
            <a:r>
              <a:rPr lang="en-IN" dirty="0"/>
              <a:t> </a:t>
            </a:r>
            <a:r>
              <a:rPr lang="en-IN" i="1" dirty="0"/>
              <a:t>(covered in notes only — no visual)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b="1" dirty="0"/>
              <a:t>What: </a:t>
            </a:r>
            <a:r>
              <a:rPr lang="en-IN" dirty="0"/>
              <a:t>Average price rises from ₹7,865 (2GB) to ₹9,268 (3GB), ₹11,751 (4GB), ₹17,249 (6GB), and ₹24,063 (8GB).</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b="1" dirty="0"/>
              <a:t>How: </a:t>
            </a:r>
            <a:r>
              <a:rPr lang="en-IN" dirty="0"/>
              <a:t>Computed as mean Price grouped by RAM tier across all 531 devices.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b="1" dirty="0"/>
              <a:t>Why it matters: </a:t>
            </a:r>
            <a:r>
              <a:rPr lang="en-IN" dirty="0"/>
              <a:t>The increase accelerates at higher tiers rather than rising linearly — but it isn't deterministic.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dirty="0"/>
              <a:t>Some 8GB devices sell as low as ₹920 (the dataset's overall minimum price) — feature-phone-spec devices from budget brands with unusually high RAM but rock-bottom pricing.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dirty="0"/>
              <a:t>RAM alone cannot determine price; brand and positioning override raw specs at the low end.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Memory vs Price</a:t>
            </a:r>
            <a:r>
              <a:rPr lang="en-IN" dirty="0"/>
              <a:t> </a:t>
            </a:r>
            <a:r>
              <a:rPr lang="en-IN" i="1" dirty="0"/>
              <a:t>(notes only)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b="1" dirty="0"/>
              <a:t>What: </a:t>
            </a:r>
            <a:r>
              <a:rPr lang="en-IN" dirty="0"/>
              <a:t>Average price rises from ₹3,393 (16GB) to ₹6,749 (32GB), ₹10,631 (64GB), ₹19,375 (128GB), and ₹27,566 (256GB).</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b="1" dirty="0"/>
              <a:t>How: </a:t>
            </a:r>
            <a:r>
              <a:rPr lang="en-IN" dirty="0"/>
              <a:t>Same method as RAM, grouped by Memory tier.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b="1" dirty="0"/>
              <a:t>Why it matters: </a:t>
            </a:r>
            <a:r>
              <a:rPr lang="en-IN" dirty="0"/>
              <a:t>Same accelerating pattern — the 128GB→256GB jump alone (+₹8,191) is larger than the entire 16GB→64GB range combined.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r>
              <a:rPr lang="en-IN" b="1" dirty="0"/>
              <a:t>AI Lens vs Price</a:t>
            </a:r>
            <a:r>
              <a:rPr lang="en-IN" dirty="0"/>
              <a:t> </a:t>
            </a:r>
            <a:r>
              <a:rPr lang="en-IN" i="1" dirty="0"/>
              <a:t>(shown on slide — boxplot)</a:t>
            </a:r>
            <a:endParaRPr lang="en-IN" b="1" dirty="0"/>
          </a:p>
          <a:p>
            <a:pPr marL="0" indent="0">
              <a:buFont typeface="Arial" panose="020B0604020202020204" pitchFamily="34" charset="0"/>
              <a:buNone/>
            </a:pPr>
            <a:r>
              <a:rPr lang="en-IN" b="1" dirty="0"/>
              <a:t>What: </a:t>
            </a:r>
            <a:r>
              <a:rPr lang="en-IN" dirty="0"/>
              <a:t>Devices without AI Lens show a higher median price (~₹14,000) than devices with it (~₹9,000).</a:t>
            </a:r>
          </a:p>
          <a:p>
            <a:pPr marL="0" indent="0">
              <a:buFont typeface="Arial" panose="020B0604020202020204" pitchFamily="34" charset="0"/>
              <a:buNone/>
            </a:pPr>
            <a:r>
              <a:rPr lang="en-IN" b="1" dirty="0"/>
              <a:t>How: </a:t>
            </a:r>
            <a:r>
              <a:rPr lang="en-IN" dirty="0"/>
              <a:t>Boxplot comparing Price distributions for AI Lens absent (0) vs. present (1).</a:t>
            </a:r>
          </a:p>
          <a:p>
            <a:pPr marL="0" indent="0">
              <a:buFont typeface="Arial" panose="020B0604020202020204" pitchFamily="34" charset="0"/>
              <a:buNone/>
            </a:pPr>
            <a:r>
              <a:rPr lang="en-IN" b="1" dirty="0"/>
              <a:t>Why it matters: </a:t>
            </a:r>
            <a:r>
              <a:rPr lang="en-IN" dirty="0"/>
              <a:t>Counterintuitive — a "smart" feature correlating with </a:t>
            </a:r>
            <a:r>
              <a:rPr lang="en-IN" i="1" dirty="0"/>
              <a:t>lower</a:t>
            </a:r>
            <a:r>
              <a:rPr lang="en-IN" dirty="0"/>
              <a:t> price. </a:t>
            </a:r>
          </a:p>
          <a:p>
            <a:pPr marL="0" indent="0">
              <a:buFont typeface="Arial" panose="020B0604020202020204" pitchFamily="34" charset="0"/>
              <a:buNone/>
            </a:pPr>
            <a:r>
              <a:rPr lang="en-IN" dirty="0"/>
              <a:t>This reflects AI Lens being marketed as a budget-tier spec in the Indian market, not a premium differentiator. </a:t>
            </a:r>
          </a:p>
          <a:p>
            <a:endParaRPr lang="en-IN" b="1" dirty="0"/>
          </a:p>
          <a:p>
            <a:r>
              <a:rPr lang="en-IN" b="1" dirty="0"/>
              <a:t>Battery vs Price</a:t>
            </a:r>
            <a:r>
              <a:rPr lang="en-IN" dirty="0"/>
              <a:t> </a:t>
            </a:r>
            <a:r>
              <a:rPr lang="en-IN" i="1" dirty="0"/>
              <a:t>(shown on slide — scatter)</a:t>
            </a:r>
            <a:endParaRPr lang="en-IN" dirty="0"/>
          </a:p>
          <a:p>
            <a:pPr marL="0" indent="0">
              <a:buFont typeface="Arial" panose="020B0604020202020204" pitchFamily="34" charset="0"/>
              <a:buNone/>
            </a:pPr>
            <a:r>
              <a:rPr lang="en-IN" b="1" dirty="0"/>
              <a:t>What: </a:t>
            </a:r>
            <a:r>
              <a:rPr lang="en-IN" dirty="0"/>
              <a:t>Wide price dispersion at every battery level — most devices cluster at 4,000–6,000 </a:t>
            </a:r>
            <a:r>
              <a:rPr lang="en-IN" dirty="0" err="1"/>
              <a:t>mAh</a:t>
            </a:r>
            <a:r>
              <a:rPr lang="en-IN" dirty="0"/>
              <a:t>, but prices at that exact range span from ₹5,000 to ₹56,000.</a:t>
            </a:r>
            <a:br>
              <a:rPr lang="en-IN" dirty="0"/>
            </a:br>
            <a:r>
              <a:rPr lang="en-IN" b="1" dirty="0"/>
              <a:t>How:</a:t>
            </a:r>
            <a:r>
              <a:rPr lang="en-IN" dirty="0"/>
              <a:t> Scatter plot, all 531 devices, </a:t>
            </a:r>
            <a:r>
              <a:rPr lang="en-IN" dirty="0" err="1"/>
              <a:t>Battery_mAh</a:t>
            </a:r>
            <a:r>
              <a:rPr lang="en-IN" dirty="0"/>
              <a:t> vs. Price.</a:t>
            </a:r>
            <a:br>
              <a:rPr lang="en-IN" dirty="0"/>
            </a:br>
            <a:r>
              <a:rPr lang="en-IN" b="1" dirty="0"/>
              <a:t>Why it matters:</a:t>
            </a:r>
            <a:r>
              <a:rPr lang="en-IN" dirty="0"/>
              <a:t> No visible linear trend, and correlation confirms it (−0.035, near-zero). </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Processor Brand vs Price</a:t>
            </a:r>
            <a:r>
              <a:rPr lang="en-IN" dirty="0"/>
              <a:t> </a:t>
            </a:r>
            <a:r>
              <a:rPr lang="en-IN" i="1" dirty="0"/>
              <a:t>(shown on slide — bar chart)</a:t>
            </a:r>
            <a:br>
              <a:rPr lang="en-IN" dirty="0"/>
            </a:br>
            <a:r>
              <a:rPr lang="en-IN" b="1" dirty="0"/>
              <a:t>What:</a:t>
            </a:r>
            <a:r>
              <a:rPr lang="en-IN" dirty="0"/>
              <a:t> Google ₹44,749 &gt; Qualcomm ₹20,591 &gt; </a:t>
            </a:r>
            <a:r>
              <a:rPr lang="en-IN" dirty="0" err="1"/>
              <a:t>Mediatek</a:t>
            </a:r>
            <a:r>
              <a:rPr lang="en-IN" dirty="0"/>
              <a:t> ₹14,738 &gt; </a:t>
            </a:r>
            <a:r>
              <a:rPr lang="en-IN" dirty="0" err="1"/>
              <a:t>Unisoc</a:t>
            </a:r>
            <a:r>
              <a:rPr lang="en-IN" dirty="0"/>
              <a:t> ₹7,439 — roughly a 6× spread among the four major identifiable brands.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(Full ranking including smaller categories: Google &gt; Unknown ₹23,559 &gt; Qualcomm &gt; </a:t>
            </a:r>
            <a:r>
              <a:rPr lang="en-IN" dirty="0" err="1"/>
              <a:t>Exynos</a:t>
            </a:r>
            <a:r>
              <a:rPr lang="en-IN" dirty="0"/>
              <a:t> ₹18,022 &gt; </a:t>
            </a:r>
            <a:r>
              <a:rPr lang="en-IN" dirty="0" err="1"/>
              <a:t>Mediatek</a:t>
            </a:r>
            <a:r>
              <a:rPr lang="en-IN" dirty="0"/>
              <a:t> &gt; </a:t>
            </a:r>
            <a:r>
              <a:rPr lang="en-IN" dirty="0" err="1"/>
              <a:t>Unisoc</a:t>
            </a:r>
            <a:r>
              <a:rPr lang="en-IN" dirty="0"/>
              <a:t>.)</a:t>
            </a:r>
            <a:br>
              <a:rPr lang="en-IN" dirty="0"/>
            </a:br>
            <a:r>
              <a:rPr lang="en-IN" b="1" dirty="0"/>
              <a:t>How:</a:t>
            </a:r>
            <a:r>
              <a:rPr lang="en-IN" dirty="0"/>
              <a:t> Mean Price grouped by extracted </a:t>
            </a:r>
            <a:r>
              <a:rPr lang="en-IN" dirty="0" err="1"/>
              <a:t>Processor_Brand</a:t>
            </a:r>
            <a:r>
              <a:rPr lang="en-IN" dirty="0"/>
              <a:t> category.</a:t>
            </a:r>
            <a:br>
              <a:rPr lang="en-IN" dirty="0"/>
            </a:br>
            <a:r>
              <a:rPr lang="en-IN" b="1" dirty="0"/>
              <a:t>Why it matters: </a:t>
            </a:r>
            <a:r>
              <a:rPr lang="en-IN" dirty="0"/>
              <a:t>Separately, at the brand (not processor) level, the spread is even more dramatic — Micromax averages ₹2,399 against Apple's ₹52,639, roughly a 22× gap — reinforcing that brand identity, not just processor choice, drives much of this hierarchy.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Camera MP vs Price</a:t>
            </a:r>
            <a:r>
              <a:rPr lang="en-IN" dirty="0"/>
              <a:t> </a:t>
            </a:r>
            <a:r>
              <a:rPr lang="en-IN" i="1" dirty="0"/>
              <a:t>(shown on slide — grouped bar)</a:t>
            </a:r>
            <a:br>
              <a:rPr lang="en-IN" dirty="0"/>
            </a:br>
            <a:r>
              <a:rPr lang="en-IN" b="1" dirty="0"/>
              <a:t>What:</a:t>
            </a:r>
            <a:r>
              <a:rPr lang="en-IN" dirty="0"/>
              <a:t> Front camera outprices rear camera at every comparable tier: ₹11,136 vs ₹6,474 (0–10MP), widening to ₹32,999 vs ₹22,993 (51–100MP). No devices exceed 100MP on front camera.</a:t>
            </a:r>
            <a:br>
              <a:rPr lang="en-IN" dirty="0"/>
            </a:br>
            <a:r>
              <a:rPr lang="en-IN" b="1" dirty="0"/>
              <a:t>How:</a:t>
            </a:r>
            <a:r>
              <a:rPr lang="en-IN" dirty="0"/>
              <a:t> Devices bucketed into MP range tiers, mean Price computed per bucket, per camera type.</a:t>
            </a:r>
            <a:br>
              <a:rPr lang="en-IN" dirty="0"/>
            </a:br>
            <a:r>
              <a:rPr lang="en-IN" b="1" dirty="0"/>
              <a:t>Why it matters:</a:t>
            </a:r>
            <a:r>
              <a:rPr lang="en-IN" dirty="0"/>
              <a:t> This says that it is one of the most important feature of the camera and might be still after the model is build perhaps.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82A61-740D-1793-CD88-6DB50A0D1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C1B4A-B49D-7257-2C7D-3A96E5C32F5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08F0036-697C-106A-17C2-E973875380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Following completion of exploratory analysis, temporary helper columns created solely for EDA (including </a:t>
            </a:r>
            <a:r>
              <a:rPr lang="en-IN" b="1" dirty="0"/>
              <a:t>Model_Category</a:t>
            </a:r>
            <a:r>
              <a:rPr lang="en-IN" dirty="0"/>
              <a:t> and </a:t>
            </a:r>
            <a:r>
              <a:rPr lang="en-IN" b="1" dirty="0"/>
              <a:t>Colour_Category</a:t>
            </a:r>
            <a:r>
              <a:rPr lang="en-IN" dirty="0"/>
              <a:t>) were removed to prevent redundant information from entering the modelling pipeline. The dataset was then transformed into a fully numerical representation suitable for machine learning.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r>
              <a:rPr lang="en-IN" b="1" dirty="0"/>
              <a:t>Encoding Strategy:</a:t>
            </a:r>
          </a:p>
          <a:p>
            <a:endParaRPr lang="en-IN" b="1" dirty="0"/>
          </a:p>
          <a:p>
            <a:r>
              <a:rPr lang="en-IN" b="1" dirty="0"/>
              <a:t>Model</a:t>
            </a:r>
            <a:r>
              <a:rPr lang="en-IN" dirty="0"/>
              <a:t> (187 unique categories) was Label Encoded into </a:t>
            </a:r>
            <a:r>
              <a:rPr lang="en-IN" b="1" dirty="0" err="1"/>
              <a:t>Model_Encoded</a:t>
            </a:r>
            <a:r>
              <a:rPr lang="en-IN" dirty="0"/>
              <a:t>, while </a:t>
            </a:r>
            <a:r>
              <a:rPr lang="en-IN" b="1" dirty="0"/>
              <a:t>Colour</a:t>
            </a:r>
            <a:r>
              <a:rPr lang="en-IN" dirty="0"/>
              <a:t> (275 unique categories) was transformed into </a:t>
            </a:r>
            <a:r>
              <a:rPr lang="en-IN" b="1" dirty="0" err="1"/>
              <a:t>Colour_Encoded</a:t>
            </a:r>
            <a:r>
              <a:rPr lang="en-IN" dirty="0"/>
              <a:t>. Label Encoding was selected because both variables exhibit very high cardinality, making One-Hot Encoding impractical. The assigned integers serve only as machine-readable identifiers and do not imply any ordinal relationship between categories.</a:t>
            </a:r>
          </a:p>
          <a:p>
            <a:endParaRPr lang="en-US" dirty="0"/>
          </a:p>
          <a:p>
            <a:r>
              <a:rPr lang="en-IN" b="1" dirty="0"/>
              <a:t>Processor_Brand</a:t>
            </a:r>
            <a:r>
              <a:rPr lang="en-IN" dirty="0"/>
              <a:t> contains only six categories and was therefore One-Hot Encoded into six binary variables:</a:t>
            </a:r>
          </a:p>
          <a:p>
            <a:r>
              <a:rPr lang="en-IN" dirty="0"/>
              <a:t>Proc_Exynos </a:t>
            </a:r>
          </a:p>
          <a:p>
            <a:r>
              <a:rPr lang="en-IN" dirty="0"/>
              <a:t>Proc_Google </a:t>
            </a:r>
          </a:p>
          <a:p>
            <a:r>
              <a:rPr lang="en-IN" dirty="0"/>
              <a:t>Proc_Mediatek </a:t>
            </a:r>
          </a:p>
          <a:p>
            <a:r>
              <a:rPr lang="en-IN" dirty="0"/>
              <a:t>Proc_Qualcomm </a:t>
            </a:r>
          </a:p>
          <a:p>
            <a:r>
              <a:rPr lang="en-IN" dirty="0"/>
              <a:t>Proc_Unisoc </a:t>
            </a:r>
          </a:p>
          <a:p>
            <a:r>
              <a:rPr lang="en-IN" dirty="0"/>
              <a:t>Proc_Unknown </a:t>
            </a:r>
          </a:p>
          <a:p>
            <a:endParaRPr lang="en-IN" dirty="0"/>
          </a:p>
          <a:p>
            <a:r>
              <a:rPr lang="en-IN" dirty="0"/>
              <a:t>This preserves categorical information without introducing artificial ordering.</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After preprocessing, the modelling dataset consisted of </a:t>
            </a:r>
            <a:r>
              <a:rPr lang="en-IN" b="1" dirty="0"/>
              <a:t>531 observations</a:t>
            </a:r>
            <a:r>
              <a:rPr lang="en-IN" dirty="0"/>
              <a:t> and </a:t>
            </a:r>
            <a:r>
              <a:rPr lang="en-IN" b="1" dirty="0"/>
              <a:t>15 predictor columns + 1 Target</a:t>
            </a:r>
            <a:r>
              <a:rPr lang="en-IN" dirty="0"/>
              <a:t>, ready for feature screening.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r>
              <a:rPr lang="en-IN" b="1" dirty="0"/>
              <a:t>Pearson Correlation Analysis:</a:t>
            </a:r>
          </a:p>
          <a:p>
            <a:endParaRPr lang="en-IN" b="1" dirty="0"/>
          </a:p>
          <a:p>
            <a:r>
              <a:rPr lang="en-IN" dirty="0"/>
              <a:t>Pearson correlation was then used as the first feature-screening technique to measure linear relationships between each predictor and smartphone price.</a:t>
            </a:r>
          </a:p>
          <a:p>
            <a:endParaRPr lang="en-IN" dirty="0"/>
          </a:p>
          <a:p>
            <a:r>
              <a:rPr lang="en-IN" dirty="0"/>
              <a:t>Strongest positive correlations:</a:t>
            </a:r>
          </a:p>
          <a:p>
            <a:r>
              <a:rPr lang="en-IN" dirty="0"/>
              <a:t>Memory: </a:t>
            </a:r>
            <a:r>
              <a:rPr lang="en-IN" b="1" dirty="0"/>
              <a:t>0.602</a:t>
            </a:r>
            <a:r>
              <a:rPr lang="en-IN" dirty="0"/>
              <a:t> </a:t>
            </a:r>
          </a:p>
          <a:p>
            <a:r>
              <a:rPr lang="en-IN" dirty="0"/>
              <a:t>RAM: </a:t>
            </a:r>
            <a:r>
              <a:rPr lang="en-IN" b="1" dirty="0"/>
              <a:t>0.581</a:t>
            </a:r>
            <a:r>
              <a:rPr lang="en-IN" dirty="0"/>
              <a:t> </a:t>
            </a:r>
          </a:p>
          <a:p>
            <a:r>
              <a:rPr lang="en-IN" dirty="0"/>
              <a:t>Front Camera MP: </a:t>
            </a:r>
            <a:r>
              <a:rPr lang="en-IN" b="1" dirty="0"/>
              <a:t>0.579</a:t>
            </a:r>
            <a:r>
              <a:rPr lang="en-IN" dirty="0"/>
              <a:t> </a:t>
            </a:r>
          </a:p>
          <a:p>
            <a:r>
              <a:rPr lang="en-IN" dirty="0"/>
              <a:t>Rear Camera MP: </a:t>
            </a:r>
            <a:r>
              <a:rPr lang="en-IN" b="1" dirty="0"/>
              <a:t>0.460</a:t>
            </a:r>
            <a:r>
              <a:rPr lang="en-IN" dirty="0"/>
              <a:t> </a:t>
            </a:r>
          </a:p>
          <a:p>
            <a:endParaRPr lang="en-IN" dirty="0"/>
          </a:p>
          <a:p>
            <a:r>
              <a:rPr lang="en-IN" dirty="0"/>
              <a:t>These findings suggest that storage capacity, memory, and camera specifications exhibit the strongest linear association with smartphone price.</a:t>
            </a:r>
          </a:p>
          <a:p>
            <a:r>
              <a:rPr lang="en-IN" dirty="0"/>
              <a:t>Several engineered processor features display weaker relationships. </a:t>
            </a:r>
          </a:p>
          <a:p>
            <a:r>
              <a:rPr lang="en-IN" dirty="0"/>
              <a:t>Google-powered devices show a moderate positive correlation (</a:t>
            </a:r>
            <a:r>
              <a:rPr lang="en-IN" b="1" dirty="0"/>
              <a:t>0.358</a:t>
            </a:r>
            <a:r>
              <a:rPr lang="en-IN" dirty="0"/>
              <a:t>), whereas </a:t>
            </a:r>
            <a:r>
              <a:rPr lang="en-IN" dirty="0" err="1"/>
              <a:t>Unisoc</a:t>
            </a:r>
            <a:r>
              <a:rPr lang="en-IN" dirty="0"/>
              <a:t> devices exhibit the strongest negative correlation (</a:t>
            </a:r>
            <a:r>
              <a:rPr lang="en-IN" b="1" dirty="0"/>
              <a:t>−0.339</a:t>
            </a:r>
            <a:r>
              <a:rPr lang="en-IN" dirty="0"/>
              <a:t>), reflecting their concentration within lower-priced market segments.</a:t>
            </a:r>
          </a:p>
          <a:p>
            <a:r>
              <a:rPr lang="en-IN" dirty="0"/>
              <a:t>Battery capacity (</a:t>
            </a:r>
            <a:r>
              <a:rPr lang="en-IN" b="1" dirty="0"/>
              <a:t>−0.035</a:t>
            </a:r>
            <a:r>
              <a:rPr lang="en-IN" dirty="0"/>
              <a:t>) and Mobile Height (</a:t>
            </a:r>
            <a:r>
              <a:rPr lang="en-IN" b="1" dirty="0"/>
              <a:t>−0.047</a:t>
            </a:r>
            <a:r>
              <a:rPr lang="en-IN" dirty="0"/>
              <a:t>) display negligible linear correlation with price, indicating that these specifications alone provide little explanatory power under a linear relationship.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r>
              <a:rPr lang="en-IN" b="1" dirty="0"/>
              <a:t>Why this matters</a:t>
            </a:r>
          </a:p>
          <a:p>
            <a:r>
              <a:rPr lang="en-IN" dirty="0"/>
              <a:t>Pearson correlation evaluates </a:t>
            </a:r>
            <a:r>
              <a:rPr lang="en-IN" b="1" dirty="0"/>
              <a:t>only linear relationships</a:t>
            </a:r>
            <a:r>
              <a:rPr lang="en-IN" dirty="0"/>
              <a:t>. </a:t>
            </a:r>
          </a:p>
          <a:p>
            <a:r>
              <a:rPr lang="en-IN" dirty="0"/>
              <a:t>Features exhibiting weak correlation are </a:t>
            </a:r>
            <a:r>
              <a:rPr lang="en-IN" b="1" dirty="0"/>
              <a:t>not necessarily unimportant</a:t>
            </a:r>
            <a:r>
              <a:rPr lang="en-IN" dirty="0"/>
              <a:t>; they may influence price through non-linear interactions that linear correlation cannot detect.</a:t>
            </a:r>
          </a:p>
          <a:p>
            <a:r>
              <a:rPr lang="en-IN" dirty="0"/>
              <a:t>This limitation motivates the use of additional feature-screening techniques in the next section, where multiple methods are compared before selecting the final modelling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F754FBC3-7D68-3603-CBB6-C692A774BEE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31727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b="1" dirty="0"/>
              <a:t>Feature Selection &amp; Empirical Validation</a:t>
            </a:r>
          </a:p>
          <a:p>
            <a:endParaRPr lang="en-IN" dirty="0"/>
          </a:p>
          <a:p>
            <a:r>
              <a:rPr lang="en-IN" dirty="0"/>
              <a:t>Following the initial Pearson correlation screening presented in the previous section, two additional feature selection techniques were applied to capture statistical significance and non-linear feature importance. The combined results were then compared to identify both consensus features and conflicting rankings requiring further investigation.</a:t>
            </a:r>
          </a:p>
          <a:p>
            <a:endParaRPr lang="en-US" dirty="0"/>
          </a:p>
          <a:p>
            <a:r>
              <a:rPr lang="en-IN" b="1" dirty="0"/>
              <a:t>SelectKBest (F-test):</a:t>
            </a:r>
          </a:p>
          <a:p>
            <a:r>
              <a:rPr lang="en-IN" dirty="0"/>
              <a:t>SelectKBest evaluates whether each feature exhibits a statistically significant relationship with smartphone price.</a:t>
            </a:r>
          </a:p>
          <a:p>
            <a:r>
              <a:rPr lang="en-IN" b="1" dirty="0"/>
              <a:t>Results:</a:t>
            </a:r>
            <a:endParaRPr lang="en-IN" dirty="0"/>
          </a:p>
          <a:p>
            <a:r>
              <a:rPr lang="en-IN" b="1" dirty="0"/>
              <a:t>10 of 15 features</a:t>
            </a:r>
            <a:r>
              <a:rPr lang="en-IN" dirty="0"/>
              <a:t> were statistically significant (</a:t>
            </a:r>
            <a:r>
              <a:rPr lang="en-IN" b="1" dirty="0"/>
              <a:t>p &lt; 0.05</a:t>
            </a:r>
            <a:r>
              <a:rPr lang="en-IN" dirty="0"/>
              <a:t>). </a:t>
            </a:r>
          </a:p>
          <a:p>
            <a:r>
              <a:rPr lang="en-IN" dirty="0"/>
              <a:t>The remaining five features (</a:t>
            </a:r>
            <a:r>
              <a:rPr lang="en-IN" b="1" dirty="0"/>
              <a:t>Battery_mAh, Mobile Height, </a:t>
            </a:r>
            <a:r>
              <a:rPr lang="en-IN" b="1" dirty="0" err="1"/>
              <a:t>Model_Encoded</a:t>
            </a:r>
            <a:r>
              <a:rPr lang="en-IN" b="1" dirty="0"/>
              <a:t>, Colour_Encoded and Proc_Exynos</a:t>
            </a:r>
            <a:r>
              <a:rPr lang="en-IN" dirty="0"/>
              <a:t>) were not statistically significant under the linear F-test.</a:t>
            </a:r>
          </a:p>
          <a:p>
            <a:endParaRPr lang="en-US" dirty="0"/>
          </a:p>
          <a:p>
            <a:r>
              <a:rPr lang="en-IN" b="1" dirty="0"/>
              <a:t>Random Forest (RF Gain):</a:t>
            </a:r>
          </a:p>
          <a:p>
            <a:r>
              <a:rPr lang="en-IN" dirty="0"/>
              <a:t>Unlike Pearson correlation and SelectKBest, Random Forest measures the contribution of each feature to prediction accuracy and is capable of capturing non-linear relationships.</a:t>
            </a:r>
          </a:p>
          <a:p>
            <a:r>
              <a:rPr lang="en-IN" dirty="0"/>
              <a:t>The strongest gain scores were:</a:t>
            </a:r>
          </a:p>
          <a:p>
            <a:r>
              <a:rPr lang="en-IN" dirty="0"/>
              <a:t>Front Camera MP (0.420) </a:t>
            </a:r>
          </a:p>
          <a:p>
            <a:r>
              <a:rPr lang="en-IN" dirty="0"/>
              <a:t>Model_Encoded (0.217) </a:t>
            </a:r>
          </a:p>
          <a:p>
            <a:r>
              <a:rPr lang="en-IN" dirty="0"/>
              <a:t>Battery_mAh (0.091) </a:t>
            </a:r>
          </a:p>
          <a:p>
            <a:r>
              <a:rPr lang="en-IN" dirty="0"/>
              <a:t>Memory (0.082) </a:t>
            </a:r>
          </a:p>
          <a:p>
            <a:r>
              <a:rPr lang="en-IN" dirty="0"/>
              <a:t>These rankings differed substantially from the earlier statistical methods, particularly for </a:t>
            </a:r>
            <a:r>
              <a:rPr lang="en-IN" b="1" dirty="0"/>
              <a:t>Model_Encoded</a:t>
            </a:r>
            <a:r>
              <a:rPr lang="en-IN" dirty="0"/>
              <a:t> and </a:t>
            </a:r>
            <a:r>
              <a:rPr lang="en-IN" b="1" dirty="0"/>
              <a:t>Battery_mAh</a:t>
            </a:r>
            <a:r>
              <a:rPr lang="en-IN" dirty="0"/>
              <a:t>, indicating that further validation was required before making feature selection decisions.</a:t>
            </a:r>
          </a:p>
          <a:p>
            <a:endParaRPr lang="en-US" dirty="0"/>
          </a:p>
          <a:p>
            <a:r>
              <a:rPr lang="en-IN" b="1" dirty="0"/>
              <a:t>Why empirical validation was necessary</a:t>
            </a:r>
          </a:p>
          <a:p>
            <a:r>
              <a:rPr lang="en-IN" dirty="0"/>
              <a:t>While Memory, RAM and Camera features ranked consistently across all screening methods, three features produced conflicting evidence:</a:t>
            </a:r>
          </a:p>
          <a:p>
            <a:r>
              <a:rPr lang="en-IN" b="1" dirty="0"/>
              <a:t>Model_Encoded , Battery_mAh , AI Lens </a:t>
            </a:r>
          </a:p>
          <a:p>
            <a:r>
              <a:rPr lang="en-IN" dirty="0"/>
              <a:t>Rather than relying solely on statistical rankings, controlled empirical experiments were conducted by retraining identical Random Forest models with and without each disputed feature while keeping all remaining predictors unchanged.</a:t>
            </a:r>
          </a:p>
          <a:p>
            <a:endParaRPr lang="en-IN" dirty="0"/>
          </a:p>
          <a:p>
            <a:r>
              <a:rPr lang="en-IN" b="1" dirty="0"/>
              <a:t>Empirical Validation Results</a:t>
            </a:r>
          </a:p>
          <a:p>
            <a:r>
              <a:rPr lang="en-IN" b="1" dirty="0"/>
              <a:t>Model_Encoded</a:t>
            </a:r>
          </a:p>
          <a:p>
            <a:r>
              <a:rPr lang="en-IN" dirty="0"/>
              <a:t>Removing </a:t>
            </a:r>
            <a:r>
              <a:rPr lang="en-IN" b="1" dirty="0"/>
              <a:t>Model_Encoded</a:t>
            </a:r>
            <a:r>
              <a:rPr lang="en-IN" dirty="0"/>
              <a:t> increased MAE from </a:t>
            </a:r>
            <a:r>
              <a:rPr lang="en-IN" b="1" dirty="0"/>
              <a:t>₹2,712</a:t>
            </a:r>
            <a:r>
              <a:rPr lang="en-IN" dirty="0"/>
              <a:t> to </a:t>
            </a:r>
            <a:r>
              <a:rPr lang="en-IN" b="1" dirty="0"/>
              <a:t>₹2,908</a:t>
            </a:r>
            <a:r>
              <a:rPr lang="en-IN" dirty="0"/>
              <a:t> and reduced R² from </a:t>
            </a:r>
            <a:r>
              <a:rPr lang="en-IN" b="1" dirty="0"/>
              <a:t>0.6850</a:t>
            </a:r>
            <a:r>
              <a:rPr lang="en-IN" dirty="0"/>
              <a:t> to </a:t>
            </a:r>
            <a:r>
              <a:rPr lang="en-IN" b="1" dirty="0"/>
              <a:t>0.6646</a:t>
            </a:r>
            <a:r>
              <a:rPr lang="en-IN" dirty="0"/>
              <a:t>.</a:t>
            </a:r>
          </a:p>
          <a:p>
            <a:r>
              <a:rPr lang="en-IN" dirty="0"/>
              <a:t>This confirms that the model information contributes meaningful predictive value despite receiving weak rankings from linear methods.</a:t>
            </a:r>
          </a:p>
          <a:p>
            <a:r>
              <a:rPr lang="en-IN" b="1" dirty="0"/>
              <a:t>Decision:</a:t>
            </a:r>
            <a:r>
              <a:rPr lang="en-IN" dirty="0"/>
              <a:t> Retained.</a:t>
            </a:r>
          </a:p>
          <a:p>
            <a:endParaRPr lang="en-IN" dirty="0"/>
          </a:p>
          <a:p>
            <a:r>
              <a:rPr lang="en-IN" b="1" dirty="0"/>
              <a:t>Battery_mAh</a:t>
            </a:r>
          </a:p>
          <a:p>
            <a:r>
              <a:rPr lang="en-IN" dirty="0"/>
              <a:t>Removing </a:t>
            </a:r>
            <a:r>
              <a:rPr lang="en-IN" b="1" dirty="0"/>
              <a:t>Battery_mAh</a:t>
            </a:r>
            <a:r>
              <a:rPr lang="en-IN" dirty="0"/>
              <a:t> increased MAE from </a:t>
            </a:r>
            <a:r>
              <a:rPr lang="en-IN" b="1" dirty="0"/>
              <a:t>₹2,712</a:t>
            </a:r>
            <a:r>
              <a:rPr lang="en-IN" dirty="0"/>
              <a:t> to </a:t>
            </a:r>
            <a:r>
              <a:rPr lang="en-IN" b="1" dirty="0"/>
              <a:t>₹3,031</a:t>
            </a:r>
            <a:r>
              <a:rPr lang="en-IN" dirty="0"/>
              <a:t> while reducing R² from </a:t>
            </a:r>
            <a:r>
              <a:rPr lang="en-IN" b="1" dirty="0"/>
              <a:t>0.6850</a:t>
            </a:r>
            <a:r>
              <a:rPr lang="en-IN" dirty="0"/>
              <a:t> to </a:t>
            </a:r>
            <a:r>
              <a:rPr lang="en-IN" b="1" dirty="0"/>
              <a:t>0.6268</a:t>
            </a:r>
            <a:r>
              <a:rPr lang="en-IN" dirty="0"/>
              <a:t>.</a:t>
            </a:r>
          </a:p>
          <a:p>
            <a:r>
              <a:rPr lang="en-IN" dirty="0"/>
              <a:t>Although Battery exhibited almost no linear relationship with price, empirical testing demonstrated that it provides useful non-linear information to the Random Forest model.</a:t>
            </a:r>
          </a:p>
          <a:p>
            <a:r>
              <a:rPr lang="en-IN" b="1" dirty="0"/>
              <a:t>Decision:</a:t>
            </a:r>
            <a:r>
              <a:rPr lang="en-IN" dirty="0"/>
              <a:t> Retained.</a:t>
            </a:r>
          </a:p>
          <a:p>
            <a:endParaRPr lang="en-IN" dirty="0"/>
          </a:p>
          <a:p>
            <a:r>
              <a:rPr lang="en-IN" b="1" dirty="0"/>
              <a:t>AI Lens</a:t>
            </a:r>
          </a:p>
          <a:p>
            <a:r>
              <a:rPr lang="en-IN" dirty="0"/>
              <a:t>Removing </a:t>
            </a:r>
            <a:r>
              <a:rPr lang="en-IN" b="1" dirty="0"/>
              <a:t>AI Lens</a:t>
            </a:r>
            <a:r>
              <a:rPr lang="en-IN" dirty="0"/>
              <a:t> produced only a negligible change in performance (MAE increased by </a:t>
            </a:r>
            <a:r>
              <a:rPr lang="en-IN" b="1" dirty="0"/>
              <a:t>₹17</a:t>
            </a:r>
            <a:r>
              <a:rPr lang="en-IN" dirty="0"/>
              <a:t>, while R² changed from </a:t>
            </a:r>
            <a:r>
              <a:rPr lang="en-IN" b="1" dirty="0"/>
              <a:t>0.6850</a:t>
            </a:r>
            <a:r>
              <a:rPr lang="en-IN" dirty="0"/>
              <a:t> to </a:t>
            </a:r>
            <a:r>
              <a:rPr lang="en-IN" b="1" dirty="0"/>
              <a:t>0.6847</a:t>
            </a:r>
            <a:r>
              <a:rPr lang="en-IN" dirty="0"/>
              <a:t>).</a:t>
            </a:r>
          </a:p>
          <a:p>
            <a:r>
              <a:rPr lang="en-IN" dirty="0"/>
              <a:t>The feature therefore contributed virtually no practical predictive value despite being statistically significant under SelectKBest.</a:t>
            </a:r>
          </a:p>
          <a:p>
            <a:r>
              <a:rPr lang="en-IN" b="1" dirty="0"/>
              <a:t>Decision:</a:t>
            </a:r>
            <a:r>
              <a:rPr lang="en-IN" dirty="0"/>
              <a:t> Dropped.</a:t>
            </a:r>
          </a:p>
          <a:p>
            <a:endParaRPr lang="en-IN" dirty="0"/>
          </a:p>
          <a:p>
            <a:r>
              <a:rPr lang="en-IN" b="1" dirty="0"/>
              <a:t>Final Feature Set</a:t>
            </a:r>
          </a:p>
          <a:p>
            <a:r>
              <a:rPr lang="en-IN" dirty="0"/>
              <a:t>Following empirical validation, four features were excluded before model development:</a:t>
            </a:r>
          </a:p>
          <a:p>
            <a:r>
              <a:rPr lang="en-IN" dirty="0"/>
              <a:t>AI Lens </a:t>
            </a:r>
          </a:p>
          <a:p>
            <a:r>
              <a:rPr lang="en-IN" dirty="0"/>
              <a:t>Colour_Encoded </a:t>
            </a:r>
          </a:p>
          <a:p>
            <a:r>
              <a:rPr lang="en-IN" dirty="0"/>
              <a:t>Proc_Exynos </a:t>
            </a:r>
          </a:p>
          <a:p>
            <a:r>
              <a:rPr lang="en-IN" dirty="0"/>
              <a:t>Proc_Unknown </a:t>
            </a:r>
          </a:p>
          <a:p>
            <a:r>
              <a:rPr lang="en-IN" dirty="0"/>
              <a:t>The remaining </a:t>
            </a:r>
            <a:r>
              <a:rPr lang="en-IN" b="1" dirty="0"/>
              <a:t>11 validated features</a:t>
            </a:r>
            <a:r>
              <a:rPr lang="en-IN" dirty="0"/>
              <a:t> were carried forward into baseline model development.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b="1" dirty="0"/>
              <a:t>Model Building – The Race</a:t>
            </a:r>
          </a:p>
          <a:p>
            <a:endParaRPr lang="en-IN" dirty="0"/>
          </a:p>
          <a:p>
            <a:r>
              <a:rPr lang="en-IN" dirty="0"/>
              <a:t>Four regression algorithms were evaluated under identical training and testing conditions to compare predictive accuracy and generalization performance.</a:t>
            </a:r>
          </a:p>
          <a:p>
            <a:r>
              <a:rPr lang="en-IN" b="1" dirty="0"/>
              <a:t>Why these four models?</a:t>
            </a:r>
          </a:p>
          <a:p>
            <a:r>
              <a:rPr lang="en-IN" b="1" dirty="0"/>
              <a:t>Linear Regression</a:t>
            </a:r>
            <a:r>
              <a:rPr lang="en-IN" dirty="0"/>
              <a:t> establishes the baseline by assuming purely linear relationships between hardware specifications and smartphone price. </a:t>
            </a:r>
          </a:p>
          <a:p>
            <a:r>
              <a:rPr lang="en-IN" b="1" dirty="0"/>
              <a:t>Decision Tree</a:t>
            </a:r>
            <a:r>
              <a:rPr lang="en-IN" dirty="0"/>
              <a:t> introduces non-linear decision boundaries but is susceptible to overfitting. </a:t>
            </a:r>
          </a:p>
          <a:p>
            <a:r>
              <a:rPr lang="en-IN" b="1" dirty="0"/>
              <a:t>Random Forest</a:t>
            </a:r>
            <a:r>
              <a:rPr lang="en-IN" dirty="0"/>
              <a:t> reduces variance by averaging predictions across multiple decision trees trained on random subsets. </a:t>
            </a:r>
          </a:p>
          <a:p>
            <a:r>
              <a:rPr lang="en-IN" b="1" dirty="0"/>
              <a:t>XGBoost</a:t>
            </a:r>
            <a:r>
              <a:rPr lang="en-IN" dirty="0"/>
              <a:t> builds trees sequentially, correcting previous prediction errors and typically achieving superior performance on structured tabular datasets.</a:t>
            </a:r>
          </a:p>
          <a:p>
            <a:endParaRPr lang="en-IN" dirty="0"/>
          </a:p>
          <a:p>
            <a:r>
              <a:rPr lang="en-IN" b="1" dirty="0"/>
              <a:t>Model Comparison Results</a:t>
            </a:r>
          </a:p>
          <a:p>
            <a:r>
              <a:rPr lang="en-IN" b="1" dirty="0"/>
              <a:t>Linear Regression</a:t>
            </a:r>
            <a:endParaRPr lang="en-IN" dirty="0"/>
          </a:p>
          <a:p>
            <a:r>
              <a:rPr lang="en-IN" dirty="0"/>
              <a:t>Test MAE: ₹4,110 </a:t>
            </a:r>
          </a:p>
          <a:p>
            <a:r>
              <a:rPr lang="en-IN" dirty="0"/>
              <a:t>Test RMSE: ₹6,665 </a:t>
            </a:r>
          </a:p>
          <a:p>
            <a:r>
              <a:rPr lang="en-IN" dirty="0"/>
              <a:t>Test R²: 0.4570 </a:t>
            </a:r>
          </a:p>
          <a:p>
            <a:r>
              <a:rPr lang="en-IN" dirty="0"/>
              <a:t>CV R²: 0.6256 </a:t>
            </a:r>
          </a:p>
          <a:p>
            <a:r>
              <a:rPr lang="en-IN" dirty="0"/>
              <a:t>The comparatively weak performance confirms the earlier EDA finding that smartphone pricing cannot be adequately explained using purely linear relationships.</a:t>
            </a:r>
          </a:p>
          <a:p>
            <a:endParaRPr lang="en-IN" dirty="0"/>
          </a:p>
          <a:p>
            <a:r>
              <a:rPr lang="en-IN" b="1" dirty="0"/>
              <a:t>Decision Tree</a:t>
            </a:r>
            <a:endParaRPr lang="en-IN" dirty="0"/>
          </a:p>
          <a:p>
            <a:r>
              <a:rPr lang="en-IN" dirty="0"/>
              <a:t>Test MAE: ₹1,313 </a:t>
            </a:r>
          </a:p>
          <a:p>
            <a:r>
              <a:rPr lang="en-IN" dirty="0"/>
              <a:t>Test RMSE: ₹4,418 </a:t>
            </a:r>
          </a:p>
          <a:p>
            <a:r>
              <a:rPr lang="en-IN" dirty="0"/>
              <a:t>Test R²: 0.7615 </a:t>
            </a:r>
          </a:p>
          <a:p>
            <a:r>
              <a:rPr lang="en-IN" dirty="0"/>
              <a:t>CV R²: 0.7766 </a:t>
            </a:r>
          </a:p>
          <a:p>
            <a:r>
              <a:rPr lang="en-IN" dirty="0"/>
              <a:t>Introducing non-linearity substantially improved prediction accuracy over Linear Regression.</a:t>
            </a:r>
          </a:p>
          <a:p>
            <a:endParaRPr lang="en-IN" dirty="0"/>
          </a:p>
          <a:p>
            <a:r>
              <a:rPr lang="en-IN" b="1" dirty="0"/>
              <a:t>Random Forest</a:t>
            </a:r>
            <a:endParaRPr lang="en-IN" dirty="0"/>
          </a:p>
          <a:p>
            <a:r>
              <a:rPr lang="en-IN" dirty="0"/>
              <a:t>Test MAE: ₹1,987 </a:t>
            </a:r>
          </a:p>
          <a:p>
            <a:r>
              <a:rPr lang="en-IN" dirty="0"/>
              <a:t>Test RMSE: ₹4,641 </a:t>
            </a:r>
          </a:p>
          <a:p>
            <a:r>
              <a:rPr lang="en-IN" dirty="0"/>
              <a:t>Test R²: 0.7367 </a:t>
            </a:r>
          </a:p>
          <a:p>
            <a:r>
              <a:rPr lang="en-IN" dirty="0"/>
              <a:t>CV R²: 0.8593 </a:t>
            </a:r>
          </a:p>
          <a:p>
            <a:r>
              <a:rPr lang="en-IN" dirty="0"/>
              <a:t>Random Forest demonstrated strong cross-validation performance, reflecting the stabilizing effect of bagging, although its single test split performance was comparatively lower.</a:t>
            </a:r>
          </a:p>
          <a:p>
            <a:endParaRPr lang="en-IN" dirty="0"/>
          </a:p>
          <a:p>
            <a:r>
              <a:rPr lang="en-IN" b="1" dirty="0"/>
              <a:t>Baseline XGBoost</a:t>
            </a:r>
            <a:endParaRPr lang="en-IN" dirty="0"/>
          </a:p>
          <a:p>
            <a:r>
              <a:rPr lang="en-IN" dirty="0"/>
              <a:t>Test MAE: ₹1,194 </a:t>
            </a:r>
          </a:p>
          <a:p>
            <a:r>
              <a:rPr lang="en-IN" dirty="0"/>
              <a:t>Test RMSE: ₹3,793 </a:t>
            </a:r>
          </a:p>
          <a:p>
            <a:r>
              <a:rPr lang="en-IN" dirty="0"/>
              <a:t>Test R²: 0.8241 </a:t>
            </a:r>
          </a:p>
          <a:p>
            <a:r>
              <a:rPr lang="en-IN" dirty="0"/>
              <a:t>CV R²: 0.8809 </a:t>
            </a:r>
          </a:p>
          <a:p>
            <a:endParaRPr lang="en-IN" dirty="0"/>
          </a:p>
          <a:p>
            <a:r>
              <a:rPr lang="en-IN" dirty="0"/>
              <a:t>Baseline XGBoost achieved the strongest overall performance across the baseline models and was therefore selected for hyperparameter tuning.</a:t>
            </a:r>
          </a:p>
          <a:p>
            <a:r>
              <a:rPr lang="en-IN" dirty="0"/>
              <a:t>StandardScaler was applied only to Linear Regression because tree-based algorithms are inherently scale-independent.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b="1" dirty="0"/>
              <a:t>Hyperparameter Tuning — GridSearchCV</a:t>
            </a:r>
          </a:p>
          <a:p>
            <a:r>
              <a:rPr lang="en-IN" dirty="0"/>
              <a:t>Hyperparameter tuning was performed exclusively on the baseline XGBoost model because it emerged as the strongest candidate during the initial model comparison.</a:t>
            </a:r>
          </a:p>
          <a:p>
            <a:r>
              <a:rPr lang="en-IN" dirty="0"/>
              <a:t>Optimizing every model would substantially increase computational cost while providing limited practical benefit.</a:t>
            </a:r>
          </a:p>
          <a:p>
            <a:endParaRPr lang="en-US" dirty="0"/>
          </a:p>
          <a:p>
            <a:r>
              <a:rPr lang="en-IN" b="1" dirty="0"/>
              <a:t>Grid Search Configuration</a:t>
            </a:r>
          </a:p>
          <a:p>
            <a:r>
              <a:rPr lang="en-IN" dirty="0"/>
              <a:t>The following parameter grid was evaluated:</a:t>
            </a:r>
          </a:p>
          <a:p>
            <a:r>
              <a:rPr lang="en-IN" dirty="0" err="1"/>
              <a:t>n_estimators</a:t>
            </a:r>
            <a:r>
              <a:rPr lang="en-IN" dirty="0"/>
              <a:t>: 100, 200, 300 </a:t>
            </a:r>
          </a:p>
          <a:p>
            <a:r>
              <a:rPr lang="en-IN" dirty="0" err="1"/>
              <a:t>max_depth</a:t>
            </a:r>
            <a:r>
              <a:rPr lang="en-IN" dirty="0"/>
              <a:t>: 2, 3, 4, 5, 7 </a:t>
            </a:r>
          </a:p>
          <a:p>
            <a:r>
              <a:rPr lang="en-IN" dirty="0" err="1"/>
              <a:t>learning_rate</a:t>
            </a:r>
            <a:r>
              <a:rPr lang="en-IN" dirty="0"/>
              <a:t>: 0.01, 0.1, 0.2, 0.3 </a:t>
            </a:r>
          </a:p>
          <a:p>
            <a:r>
              <a:rPr lang="en-IN" dirty="0"/>
              <a:t>subsample: 0.7, 0.8, 1.0 </a:t>
            </a:r>
          </a:p>
          <a:p>
            <a:r>
              <a:rPr lang="en-IN" dirty="0"/>
              <a:t>This produced </a:t>
            </a:r>
            <a:r>
              <a:rPr lang="en-IN" b="1" dirty="0"/>
              <a:t>180 hyperparameter combinations</a:t>
            </a:r>
            <a:r>
              <a:rPr lang="en-IN" dirty="0"/>
              <a:t>, evaluated using </a:t>
            </a:r>
            <a:r>
              <a:rPr lang="en-IN" b="1" dirty="0"/>
              <a:t>5-fold cross-validation</a:t>
            </a:r>
            <a:r>
              <a:rPr lang="en-IN" dirty="0"/>
              <a:t>, resulting in </a:t>
            </a:r>
            <a:r>
              <a:rPr lang="en-IN" b="1" dirty="0"/>
              <a:t>900 model fits</a:t>
            </a:r>
            <a:r>
              <a:rPr lang="en-IN" dirty="0"/>
              <a:t>.</a:t>
            </a:r>
          </a:p>
          <a:p>
            <a:endParaRPr lang="en-US" dirty="0"/>
          </a:p>
          <a:p>
            <a:r>
              <a:rPr lang="en-IN" b="1" dirty="0"/>
              <a:t>Best Hyperparameters</a:t>
            </a:r>
          </a:p>
          <a:p>
            <a:r>
              <a:rPr lang="en-IN" dirty="0" err="1"/>
              <a:t>learning_rate</a:t>
            </a:r>
            <a:r>
              <a:rPr lang="en-IN" dirty="0"/>
              <a:t> = 0.2 </a:t>
            </a:r>
          </a:p>
          <a:p>
            <a:r>
              <a:rPr lang="en-IN" dirty="0" err="1"/>
              <a:t>max_depth</a:t>
            </a:r>
            <a:r>
              <a:rPr lang="en-IN" dirty="0"/>
              <a:t> = 3 </a:t>
            </a:r>
          </a:p>
          <a:p>
            <a:r>
              <a:rPr lang="en-IN" dirty="0" err="1"/>
              <a:t>n_estimators</a:t>
            </a:r>
            <a:r>
              <a:rPr lang="en-IN" dirty="0"/>
              <a:t> = 200 </a:t>
            </a:r>
          </a:p>
          <a:p>
            <a:r>
              <a:rPr lang="en-IN" dirty="0"/>
              <a:t>subsample = 0.8 </a:t>
            </a:r>
          </a:p>
          <a:p>
            <a:r>
              <a:rPr lang="en-IN" dirty="0"/>
              <a:t>These settings balance model complexity, learning speed and generalization while avoiding unnecessary tree depth.</a:t>
            </a:r>
          </a:p>
          <a:p>
            <a:endParaRPr lang="en-US" dirty="0"/>
          </a:p>
          <a:p>
            <a:r>
              <a:rPr lang="en-IN" b="1" dirty="0"/>
              <a:t>Why the tuned model was selected</a:t>
            </a:r>
          </a:p>
          <a:p>
            <a:r>
              <a:rPr lang="en-IN" dirty="0"/>
              <a:t>The tuned model achieved the highest </a:t>
            </a:r>
            <a:r>
              <a:rPr lang="en-IN" b="1" dirty="0"/>
              <a:t>Cross-Validated R² (0.9100)</a:t>
            </a:r>
            <a:r>
              <a:rPr lang="en-IN" dirty="0"/>
              <a:t> among all evaluated models.</a:t>
            </a:r>
          </a:p>
          <a:p>
            <a:r>
              <a:rPr lang="en-IN" dirty="0"/>
              <a:t>Although its performance on the single held-out test split was slightly lower than the baseline XGBoost, notebook analysis demonstrated that a dataset of approximately 531 observations produces a relatively small (~107-row) test partition. Additional robustness analysis confirmed that this individual split is subject to meaningful sampling variance.</a:t>
            </a:r>
          </a:p>
          <a:p>
            <a:r>
              <a:rPr lang="en-IN" dirty="0"/>
              <a:t>Cross-validation therefore provides the more reliable estimate of expected real-world performance, making the tuned XGBoost model the appropriate candidate for final retraining and deployment.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b="1" dirty="0"/>
              <a:t>Model Comparison Dashboard</a:t>
            </a:r>
          </a:p>
          <a:p>
            <a:endParaRPr lang="en-IN" dirty="0"/>
          </a:p>
          <a:p>
            <a:r>
              <a:rPr lang="en-IN" dirty="0"/>
              <a:t>This dashboard consolidates the performance of all evaluated models using the two primary evaluation metrics: </a:t>
            </a:r>
            <a:r>
              <a:rPr lang="en-IN" b="1" dirty="0"/>
              <a:t>Cross-Validated R²</a:t>
            </a:r>
            <a:r>
              <a:rPr lang="en-IN" dirty="0"/>
              <a:t> (generalization performance) and </a:t>
            </a:r>
            <a:r>
              <a:rPr lang="en-IN" b="1" dirty="0"/>
              <a:t>Test RMSE</a:t>
            </a:r>
            <a:r>
              <a:rPr lang="en-IN" dirty="0"/>
              <a:t> (prediction error on the held-out test set).</a:t>
            </a:r>
          </a:p>
          <a:p>
            <a:r>
              <a:rPr lang="en-IN" dirty="0"/>
              <a:t>Cross-validation is emphasized because it provides a more reliable estimate of expected model performance than a single train-test split, particularly for a dataset of 531 observations.</a:t>
            </a:r>
          </a:p>
          <a:p>
            <a:endParaRPr lang="en-IN" b="1" dirty="0"/>
          </a:p>
          <a:p>
            <a:r>
              <a:rPr lang="en-IN" b="1" dirty="0"/>
              <a:t>Overall Performance Progression</a:t>
            </a:r>
          </a:p>
          <a:p>
            <a:r>
              <a:rPr lang="en-IN" dirty="0"/>
              <a:t>Model performance improves progressively throughout the project:</a:t>
            </a:r>
          </a:p>
          <a:p>
            <a:r>
              <a:rPr lang="en-IN" dirty="0"/>
              <a:t>Linear Regression → CV R² = </a:t>
            </a:r>
            <a:r>
              <a:rPr lang="en-IN" b="1" dirty="0"/>
              <a:t>0.6256</a:t>
            </a:r>
            <a:r>
              <a:rPr lang="en-IN" dirty="0"/>
              <a:t> </a:t>
            </a:r>
          </a:p>
          <a:p>
            <a:r>
              <a:rPr lang="en-IN" dirty="0"/>
              <a:t>Decision Tree → </a:t>
            </a:r>
            <a:r>
              <a:rPr lang="en-IN" b="1" dirty="0"/>
              <a:t>0.7766</a:t>
            </a:r>
            <a:r>
              <a:rPr lang="en-IN" dirty="0"/>
              <a:t> </a:t>
            </a:r>
          </a:p>
          <a:p>
            <a:r>
              <a:rPr lang="en-IN" dirty="0"/>
              <a:t>Random Forest → </a:t>
            </a:r>
            <a:r>
              <a:rPr lang="en-IN" b="1" dirty="0"/>
              <a:t>0.8593</a:t>
            </a:r>
            <a:r>
              <a:rPr lang="en-IN" dirty="0"/>
              <a:t> </a:t>
            </a:r>
          </a:p>
          <a:p>
            <a:r>
              <a:rPr lang="en-IN" dirty="0"/>
              <a:t>Baseline XGBoost → </a:t>
            </a:r>
            <a:r>
              <a:rPr lang="en-IN" b="1" dirty="0"/>
              <a:t>0.8809</a:t>
            </a:r>
            <a:r>
              <a:rPr lang="en-IN" dirty="0"/>
              <a:t> </a:t>
            </a:r>
          </a:p>
          <a:p>
            <a:r>
              <a:rPr lang="en-IN" dirty="0"/>
              <a:t>Tuned XGBoost → </a:t>
            </a:r>
            <a:r>
              <a:rPr lang="en-IN" b="1" dirty="0"/>
              <a:t>0.9100</a:t>
            </a:r>
            <a:r>
              <a:rPr lang="en-IN" dirty="0"/>
              <a:t> </a:t>
            </a:r>
          </a:p>
          <a:p>
            <a:r>
              <a:rPr lang="en-IN" dirty="0"/>
              <a:t>The largest improvement occurs between </a:t>
            </a:r>
            <a:r>
              <a:rPr lang="en-IN" b="1" dirty="0"/>
              <a:t>Linear Regression and Decision Tree</a:t>
            </a:r>
            <a:r>
              <a:rPr lang="en-IN" dirty="0"/>
              <a:t>, confirming that smartphone pricing exhibits strong non-linear relationships that cannot be captured adequately by a linear model.</a:t>
            </a:r>
          </a:p>
          <a:p>
            <a:r>
              <a:rPr lang="en-IN" dirty="0"/>
              <a:t>Hyperparameter tuning further increases the Cross-Validated R² from </a:t>
            </a:r>
            <a:r>
              <a:rPr lang="en-IN" b="1" dirty="0"/>
              <a:t>0.8809 to 0.9100</a:t>
            </a:r>
            <a:r>
              <a:rPr lang="en-IN" dirty="0"/>
              <a:t>, demonstrating improved generalization performance.</a:t>
            </a:r>
          </a:p>
          <a:p>
            <a:endParaRPr lang="en-IN" dirty="0"/>
          </a:p>
          <a:p>
            <a:r>
              <a:rPr lang="en-IN" dirty="0"/>
              <a:t>Although the Baseline XGBoost achieved a slightly stronger score on one held-out test split, the Tuned XGBoost consistently performed better during repeated cross-validation. </a:t>
            </a:r>
          </a:p>
          <a:p>
            <a:r>
              <a:rPr lang="en-IN" dirty="0"/>
              <a:t>Combined with the alternate-split robustness analysis presented later in the notebook, this supports selecting the tuned model for final deployment.</a:t>
            </a:r>
          </a:p>
          <a:p>
            <a:endParaRPr lang="en-IN" dirty="0"/>
          </a:p>
          <a:p>
            <a:r>
              <a:rPr lang="en-IN" b="1" dirty="0"/>
              <a:t>Dashboard Interpretation:</a:t>
            </a:r>
          </a:p>
          <a:p>
            <a:r>
              <a:rPr lang="en-IN" dirty="0"/>
              <a:t>The dashboard combines </a:t>
            </a:r>
            <a:r>
              <a:rPr lang="en-IN" b="1" dirty="0"/>
              <a:t>CV R²</a:t>
            </a:r>
            <a:r>
              <a:rPr lang="en-IN" dirty="0"/>
              <a:t> and </a:t>
            </a:r>
            <a:r>
              <a:rPr lang="en-IN" b="1" dirty="0"/>
              <a:t>Test RMSE</a:t>
            </a:r>
            <a:r>
              <a:rPr lang="en-IN" dirty="0"/>
              <a:t> into a single visualization.</a:t>
            </a:r>
          </a:p>
          <a:p>
            <a:r>
              <a:rPr lang="en-IN" dirty="0"/>
              <a:t>The ideal model simultaneously: maximizes Cross-Validated R², minimizes Test RMSE, and demonstrates stable generalization across unseen data. </a:t>
            </a:r>
          </a:p>
          <a:p>
            <a:r>
              <a:rPr lang="en-IN" dirty="0"/>
              <a:t>Among all evaluated models, </a:t>
            </a:r>
            <a:r>
              <a:rPr lang="en-IN" b="1" dirty="0"/>
              <a:t>Tuned XGBoost </a:t>
            </a:r>
            <a:r>
              <a:rPr lang="en-IN" dirty="0"/>
              <a:t>provides the strongest cross-validated generalization — the metric prioritized for final model selection at this dataset size, as established in the Hyperparameter Tuning discussion — making it the model selected for retraining and business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b="1" dirty="0"/>
              <a:t>Feature Importance Analysis</a:t>
            </a:r>
          </a:p>
          <a:p>
            <a:endParaRPr lang="en-IN" b="1" dirty="0"/>
          </a:p>
          <a:p>
            <a:r>
              <a:rPr lang="en-IN" dirty="0"/>
              <a:t>Two complementary feature-importance techniques were applied. </a:t>
            </a:r>
          </a:p>
          <a:p>
            <a:r>
              <a:rPr lang="en-IN" b="1" dirty="0"/>
              <a:t>Built-in XGBoost importance </a:t>
            </a:r>
            <a:r>
              <a:rPr lang="en-IN" dirty="0"/>
              <a:t>explains how the model makes decisions internally, while </a:t>
            </a:r>
            <a:r>
              <a:rPr lang="en-IN" b="1" dirty="0"/>
              <a:t>Permutation Importance </a:t>
            </a:r>
            <a:r>
              <a:rPr lang="en-IN" dirty="0"/>
              <a:t>measures each feature's actual contribution to predictive performance on unseen data. </a:t>
            </a:r>
          </a:p>
          <a:p>
            <a:endParaRPr lang="en-IN" b="1" dirty="0"/>
          </a:p>
          <a:p>
            <a:r>
              <a:rPr lang="en-IN" b="1" dirty="0"/>
              <a:t>1. Built-in Feature Importance:</a:t>
            </a:r>
          </a:p>
          <a:p>
            <a:r>
              <a:rPr lang="en-IN" dirty="0"/>
              <a:t>The built-in XGBoost importance measures how frequently and effectively each feature contributes to decision-tree splits during training.</a:t>
            </a:r>
          </a:p>
          <a:p>
            <a:r>
              <a:rPr lang="en-IN" dirty="0"/>
              <a:t>The ranking was:</a:t>
            </a:r>
          </a:p>
          <a:p>
            <a:r>
              <a:rPr lang="en-IN" dirty="0"/>
              <a:t>Front_Camera_MP — </a:t>
            </a:r>
            <a:r>
              <a:rPr lang="en-IN" b="1" dirty="0"/>
              <a:t>42.02%</a:t>
            </a:r>
            <a:r>
              <a:rPr lang="en-IN" dirty="0"/>
              <a:t> </a:t>
            </a:r>
          </a:p>
          <a:p>
            <a:r>
              <a:rPr lang="en-IN" dirty="0"/>
              <a:t>Memory — </a:t>
            </a:r>
            <a:r>
              <a:rPr lang="en-IN" b="1" dirty="0"/>
              <a:t>15.88%</a:t>
            </a:r>
            <a:r>
              <a:rPr lang="en-IN" dirty="0"/>
              <a:t> </a:t>
            </a:r>
          </a:p>
          <a:p>
            <a:r>
              <a:rPr lang="en-IN" dirty="0"/>
              <a:t>Battery_mAh — </a:t>
            </a:r>
            <a:r>
              <a:rPr lang="en-IN" b="1" dirty="0"/>
              <a:t>10.50%</a:t>
            </a:r>
            <a:r>
              <a:rPr lang="en-IN" dirty="0"/>
              <a:t> </a:t>
            </a:r>
          </a:p>
          <a:p>
            <a:r>
              <a:rPr lang="en-IN" dirty="0"/>
              <a:t>Model_Encoded — </a:t>
            </a:r>
            <a:r>
              <a:rPr lang="en-IN" b="1" dirty="0"/>
              <a:t>8.60%</a:t>
            </a:r>
            <a:r>
              <a:rPr lang="en-IN" dirty="0"/>
              <a:t> </a:t>
            </a:r>
          </a:p>
          <a:p>
            <a:r>
              <a:rPr lang="en-IN" dirty="0" err="1"/>
              <a:t>Rear_Camera_MP</a:t>
            </a:r>
            <a:r>
              <a:rPr lang="en-IN" dirty="0"/>
              <a:t> — </a:t>
            </a:r>
            <a:r>
              <a:rPr lang="en-IN" b="1" dirty="0"/>
              <a:t>6.65%</a:t>
            </a:r>
            <a:r>
              <a:rPr lang="en-IN" dirty="0"/>
              <a:t> </a:t>
            </a:r>
          </a:p>
          <a:p>
            <a:r>
              <a:rPr lang="en-IN" dirty="0"/>
              <a:t>RAM — </a:t>
            </a:r>
            <a:r>
              <a:rPr lang="en-IN" b="1" dirty="0"/>
              <a:t>6.32%</a:t>
            </a:r>
            <a:r>
              <a:rPr lang="en-IN" dirty="0"/>
              <a:t> </a:t>
            </a:r>
          </a:p>
          <a:p>
            <a:r>
              <a:rPr lang="en-IN" dirty="0"/>
              <a:t>All processor-related variables individually contributed less than </a:t>
            </a:r>
            <a:r>
              <a:rPr lang="en-IN" b="1" dirty="0"/>
              <a:t>5%</a:t>
            </a:r>
            <a:r>
              <a:rPr lang="en-IN" dirty="0"/>
              <a:t>, indicating relatively minor influence once stronger hardware specifications were already available.</a:t>
            </a:r>
          </a:p>
          <a:p>
            <a:endParaRPr lang="en-IN" dirty="0"/>
          </a:p>
          <a:p>
            <a:r>
              <a:rPr lang="en-IN" b="1" dirty="0"/>
              <a:t>2. Permutation Importance</a:t>
            </a:r>
          </a:p>
          <a:p>
            <a:r>
              <a:rPr lang="en-IN" dirty="0"/>
              <a:t>Permutation Importance measures the actual decrease in predictive performance after randomly shuffling each feature.</a:t>
            </a:r>
          </a:p>
          <a:p>
            <a:r>
              <a:rPr lang="en-IN" dirty="0"/>
              <a:t>Unlike built-in importance, this evaluates feature contribution on unseen data and is therefore less susceptible to training bias.</a:t>
            </a:r>
          </a:p>
          <a:p>
            <a:r>
              <a:rPr lang="en-IN" dirty="0"/>
              <a:t>The final ranking became:</a:t>
            </a:r>
          </a:p>
          <a:p>
            <a:r>
              <a:rPr lang="en-IN" dirty="0"/>
              <a:t>Front_Camera_MP — </a:t>
            </a:r>
            <a:r>
              <a:rPr lang="en-IN" b="1" dirty="0"/>
              <a:t>0.3629</a:t>
            </a:r>
            <a:r>
              <a:rPr lang="en-IN" dirty="0"/>
              <a:t> </a:t>
            </a:r>
          </a:p>
          <a:p>
            <a:r>
              <a:rPr lang="en-IN" dirty="0"/>
              <a:t>Model_Encoded — </a:t>
            </a:r>
            <a:r>
              <a:rPr lang="en-IN" b="1" dirty="0"/>
              <a:t>0.2367</a:t>
            </a:r>
            <a:r>
              <a:rPr lang="en-IN" dirty="0"/>
              <a:t> </a:t>
            </a:r>
          </a:p>
          <a:p>
            <a:r>
              <a:rPr lang="en-IN" dirty="0"/>
              <a:t>RAM — </a:t>
            </a:r>
            <a:r>
              <a:rPr lang="en-IN" b="1" dirty="0"/>
              <a:t>0.0814</a:t>
            </a:r>
            <a:r>
              <a:rPr lang="en-IN" dirty="0"/>
              <a:t> </a:t>
            </a:r>
          </a:p>
          <a:p>
            <a:r>
              <a:rPr lang="en-IN" dirty="0"/>
              <a:t>Battery_mAh — </a:t>
            </a:r>
            <a:r>
              <a:rPr lang="en-IN" b="1" dirty="0"/>
              <a:t>0.0748</a:t>
            </a:r>
            <a:r>
              <a:rPr lang="en-IN" dirty="0"/>
              <a:t> </a:t>
            </a:r>
          </a:p>
          <a:p>
            <a:r>
              <a:rPr lang="en-IN" dirty="0"/>
              <a:t>Memory — </a:t>
            </a:r>
            <a:r>
              <a:rPr lang="en-IN" b="1" dirty="0"/>
              <a:t>0.0628</a:t>
            </a:r>
            <a:r>
              <a:rPr lang="en-IN" dirty="0"/>
              <a:t> </a:t>
            </a:r>
          </a:p>
          <a:p>
            <a:r>
              <a:rPr lang="en-IN" dirty="0"/>
              <a:t>The remaining features produced substantially smaller performance drops, while several processor indicators produced values close to zero or slightly negative, indicating negligible independent predictive contribution.</a:t>
            </a:r>
          </a:p>
          <a:p>
            <a:endParaRPr lang="en-IN" dirty="0"/>
          </a:p>
          <a:p>
            <a:r>
              <a:rPr lang="en-IN" b="1" dirty="0"/>
              <a:t>Key observations:</a:t>
            </a:r>
          </a:p>
          <a:p>
            <a:r>
              <a:rPr lang="en-IN" dirty="0"/>
              <a:t>1. Both importance methods consistently identified </a:t>
            </a:r>
            <a:r>
              <a:rPr lang="en-IN" b="1" dirty="0"/>
              <a:t>Front_Camera_MP</a:t>
            </a:r>
            <a:r>
              <a:rPr lang="en-IN" dirty="0"/>
              <a:t> as the single most influential predictor of smartphone price.</a:t>
            </a:r>
          </a:p>
          <a:p>
            <a:r>
              <a:rPr lang="en-IN" dirty="0"/>
              <a:t>2. Permutation Importance elevated </a:t>
            </a:r>
            <a:r>
              <a:rPr lang="en-IN" b="1" dirty="0"/>
              <a:t>Model_Encoded</a:t>
            </a:r>
            <a:r>
              <a:rPr lang="en-IN" dirty="0"/>
              <a:t> to the second most influential feature, confirming that brand identity contributes substantially beyond raw hardware specifications.</a:t>
            </a:r>
          </a:p>
          <a:p>
            <a:r>
              <a:rPr lang="en-IN" dirty="0"/>
              <a:t>3. Battery capacity again demonstrated meaningful predictive value despite appearing almost uncorrelated during Pearson analysis, reinforcing the earlier conclusion that it contributes through non-linear relationships rather than simple linear trends.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4. Memory and RAM swap rank order between the two methods — Memory ranks 2nd by built-in importance but only 5th by permutation, while RAM shows the reverse. This reflects their correlation (r≈0.60): shuffling Memory alone understates its contribution because RAM can partially substitute for the lost signal, while RAM's own score reflects less redundant, more unique predictive information.</a:t>
            </a:r>
          </a:p>
          <a:p>
            <a:r>
              <a:rPr lang="en-IN" dirty="0"/>
              <a:t>5. Processor features consistently ranked near the bottom once other hardware specifications were considered, suggesting that processor brand alone adds relatively little unique pricing information after accounting for memory, cameras, battery capacity and model identity.</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i="1" dirty="0"/>
              <a:t>Final interpretation is based on Permutation Importance because it better reflects real-world model dependence.</a:t>
            </a:r>
          </a:p>
          <a:p>
            <a:endParaRPr lang="en-IN"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b="1" dirty="0"/>
              <a:t>Retraining Rationale:</a:t>
            </a:r>
            <a:br>
              <a:rPr lang="en-IN" dirty="0"/>
            </a:br>
            <a:r>
              <a:rPr lang="en-IN" dirty="0"/>
              <a:t>Once hyperparameters are confirmed via GridSearchCV, the test set has served its purpose. </a:t>
            </a:r>
          </a:p>
          <a:p>
            <a:r>
              <a:rPr lang="en-IN" dirty="0"/>
              <a:t>The final model is retrained on the complete dataset (all 531 samples) using the confirmed tuned hyperparameters — </a:t>
            </a:r>
            <a:r>
              <a:rPr lang="en-IN" sz="1200" kern="1200" dirty="0">
                <a:solidFill>
                  <a:schemeClr val="tx1"/>
                </a:solidFill>
                <a:latin typeface="+mn-lt"/>
                <a:ea typeface="+mn-ea"/>
                <a:cs typeface="+mn-cs"/>
              </a:rPr>
              <a:t>learning_rate=0.2, max_depth=3, </a:t>
            </a:r>
            <a:r>
              <a:rPr lang="en-IN" sz="1200" kern="1200" dirty="0" err="1">
                <a:solidFill>
                  <a:schemeClr val="tx1"/>
                </a:solidFill>
                <a:latin typeface="+mn-lt"/>
                <a:ea typeface="+mn-ea"/>
                <a:cs typeface="+mn-cs"/>
              </a:rPr>
              <a:t>n_estimators</a:t>
            </a:r>
            <a:r>
              <a:rPr lang="en-IN" sz="1200" kern="1200" dirty="0">
                <a:solidFill>
                  <a:schemeClr val="tx1"/>
                </a:solidFill>
                <a:latin typeface="+mn-lt"/>
                <a:ea typeface="+mn-ea"/>
                <a:cs typeface="+mn-cs"/>
              </a:rPr>
              <a:t>=200, subsample=0.8</a:t>
            </a:r>
            <a:r>
              <a:rPr lang="en-IN" dirty="0"/>
              <a:t> — to maximize the information available before deployment. </a:t>
            </a:r>
          </a:p>
          <a:p>
            <a:r>
              <a:rPr lang="en-IN" dirty="0"/>
              <a:t>This is standard practice: once a model's configuration is locked in through cross-validated evaluation, holding back data no longer serves a purpose.</a:t>
            </a:r>
          </a:p>
          <a:p>
            <a:endParaRPr lang="en-IN" dirty="0"/>
          </a:p>
          <a:p>
            <a:r>
              <a:rPr lang="en-IN" b="1" dirty="0"/>
              <a:t>Feature Contribution Test — Model_Encoded:</a:t>
            </a:r>
            <a:br>
              <a:rPr lang="en-IN" dirty="0"/>
            </a:br>
            <a:r>
              <a:rPr lang="en-IN" dirty="0"/>
              <a:t>Removing Model_Encoded and retraining on the same 80/20 split: </a:t>
            </a:r>
          </a:p>
          <a:p>
            <a:r>
              <a:rPr lang="en-IN" dirty="0"/>
              <a:t>MAE worsens (₹1,558→₹1,744), and CV R² collapses sharply (0.9100→0.6794) — over 23 percentage points. </a:t>
            </a:r>
          </a:p>
          <a:p>
            <a:r>
              <a:rPr lang="en-IN" dirty="0"/>
              <a:t>Notably, single-split holdout R² actually </a:t>
            </a:r>
            <a:r>
              <a:rPr lang="en-IN" i="1" dirty="0"/>
              <a:t>improves</a:t>
            </a:r>
            <a:r>
              <a:rPr lang="en-IN" dirty="0"/>
              <a:t> slightly (0.7868→0.8440) when the feature is removed — a counterintuitive result, but consistent with the same CV-vs-single-split divergence already observed earlier. </a:t>
            </a:r>
          </a:p>
          <a:p>
            <a:r>
              <a:rPr lang="en-IN" dirty="0"/>
              <a:t>Given that established pattern, CV R² is treated as the trustworthy signal: its consistency across five folds outweighs one ~107-row holdout result. </a:t>
            </a:r>
          </a:p>
          <a:p>
            <a:r>
              <a:rPr lang="en-IN" dirty="0"/>
              <a:t>The CV collapse confirms Model_Encoded is not just improving accuracy — it's the model's primary stabilising anchor across different data subsets. </a:t>
            </a:r>
          </a:p>
          <a:p>
            <a:r>
              <a:rPr lang="en-IN" dirty="0"/>
              <a:t>Without it, the model loses the brand/model context needed to differentiate pricing across market segments — the same specs from different brands price very differently, and Model_Encoded is what captures that.</a:t>
            </a:r>
          </a:p>
          <a:p>
            <a:endParaRPr lang="en-IN" dirty="0"/>
          </a:p>
          <a:p>
            <a:r>
              <a:rPr lang="en-IN" b="1" dirty="0"/>
              <a:t>Feature Contribution Test — Mobile Height:</a:t>
            </a:r>
            <a:br>
              <a:rPr lang="en-IN" dirty="0"/>
            </a:br>
            <a:r>
              <a:rPr lang="en-IN" dirty="0"/>
              <a:t>Removing Mobile Height: </a:t>
            </a:r>
          </a:p>
          <a:p>
            <a:r>
              <a:rPr lang="en-IN" dirty="0"/>
              <a:t>All three metrics move consistently in the same direction — MAE worsens (₹1,558→₹1,574), R² worsens (0.7868→0.7826), and CV R² drops substantially (0.9100→0.7582). </a:t>
            </a:r>
          </a:p>
          <a:p>
            <a:r>
              <a:rPr lang="en-IN" dirty="0"/>
              <a:t>Unlike Model_Encoded, there's no metric disagreement here — a clean, straightforward confirmation that Mobile Height contributes genuine stabilising interaction effects across folds, despite showing only a directional (non-definitive) conflict during initial feature screening.</a:t>
            </a:r>
          </a:p>
          <a:p>
            <a:endParaRPr lang="en-IN" dirty="0"/>
          </a:p>
          <a:p>
            <a:r>
              <a:rPr lang="en-IN" b="1" dirty="0"/>
              <a:t>Why this matters:</a:t>
            </a:r>
            <a:r>
              <a:rPr lang="en-IN" dirty="0"/>
              <a:t> both FCTs retrospectively validate decisions made earlier in the project under uncertainty — Model_Encoded via empirical experiment, Mobile Height via directional conflict deferred to this exact test. Both are now confirmed with the strongest evidence available.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BF19B-CBB7-534E-7ACF-45337083D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1242F-AF0B-D20E-F7CC-647B48DE972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370D3CD-DB46-6143-A55D-67E903881F89}"/>
              </a:ext>
            </a:extLst>
          </p:cNvPr>
          <p:cNvSpPr>
            <a:spLocks noGrp="1"/>
          </p:cNvSpPr>
          <p:nvPr>
            <p:ph type="body" idx="1"/>
          </p:nvPr>
        </p:nvSpPr>
        <p:spPr/>
        <p:txBody>
          <a:bodyPr/>
          <a:lstStyle/>
          <a:p>
            <a:r>
              <a:rPr lang="en-IN" b="1" dirty="0"/>
              <a:t>Sample Predictions:</a:t>
            </a:r>
            <a:br>
              <a:rPr lang="en-IN" dirty="0"/>
            </a:br>
            <a:r>
              <a:rPr lang="en-IN" dirty="0"/>
              <a:t>The retrained final model generates predictions for six representative profiles spanning the market: </a:t>
            </a:r>
          </a:p>
          <a:p>
            <a:r>
              <a:rPr lang="en-IN" dirty="0"/>
              <a:t>Entry Level ₹5,166 → Budget ₹15,160 → Mid-Range ₹27,700 → Upper-Mid ₹31,774 → Flagship (Value Brand) ₹33,785 → Flagship (Premium Brand) ₹36,364. </a:t>
            </a:r>
          </a:p>
          <a:p>
            <a:r>
              <a:rPr lang="en-IN" dirty="0"/>
              <a:t>Each step up in specifications produces a meaningful, proportional price increase — confirming the model has learned realistic market pricing logic, not just abstract mathematical patterns.</a:t>
            </a:r>
          </a:p>
          <a:p>
            <a:endParaRPr lang="en-IN" dirty="0"/>
          </a:p>
          <a:p>
            <a:r>
              <a:rPr lang="en-IN" b="1" dirty="0"/>
              <a:t>The Flagship "A/B Test":</a:t>
            </a:r>
            <a:r>
              <a:rPr lang="en-IN" dirty="0"/>
              <a:t> </a:t>
            </a:r>
          </a:p>
          <a:p>
            <a:r>
              <a:rPr lang="en-IN" dirty="0"/>
              <a:t>The final two profiles share identical hardware — 16GB RAM, 512GB storage, 50MP front camera, 200MP rear camera, 5000mAh battery — yet the model predicts a ₹2,579 gap between them, driven entirely by brand/model identity (</a:t>
            </a:r>
            <a:r>
              <a:rPr lang="en-IN" sz="1200" kern="1200" dirty="0">
                <a:solidFill>
                  <a:schemeClr val="tx1"/>
                </a:solidFill>
                <a:latin typeface="+mn-lt"/>
                <a:ea typeface="+mn-ea"/>
                <a:cs typeface="+mn-cs"/>
              </a:rPr>
              <a:t>Model_Encoded</a:t>
            </a:r>
            <a:r>
              <a:rPr lang="en-IN" dirty="0"/>
              <a:t>). </a:t>
            </a:r>
          </a:p>
          <a:p>
            <a:r>
              <a:rPr lang="en-IN" dirty="0"/>
              <a:t>This is consistent with the dataset's own brand-level pricing pattern (e.g., Samsung averaging ~₹784 higher than Vivo overall) and directly validates the Feature Contribution Test finding: brand carries genuine pricing power beyond hardware specs alone.</a:t>
            </a:r>
          </a:p>
          <a:p>
            <a:endParaRPr lang="en-IN" dirty="0"/>
          </a:p>
          <a:p>
            <a:endParaRPr lang="en-IN" b="1" dirty="0"/>
          </a:p>
          <a:p>
            <a:r>
              <a:rPr lang="en-IN" b="1" dirty="0"/>
              <a:t>Residual &amp; Error Analysis —</a:t>
            </a:r>
          </a:p>
          <a:p>
            <a:r>
              <a:rPr lang="en-IN" dirty="0"/>
              <a:t>These statistics use the tuned model's original held-out test-set predictions (computed before the full-dataset retraining above) — ensuring genuine out-of-sample validation rather than evaluating the model on data it has since been trained on.</a:t>
            </a:r>
          </a:p>
          <a:p>
            <a:endParaRPr lang="en-IN" b="1" dirty="0"/>
          </a:p>
          <a:p>
            <a:r>
              <a:rPr lang="en-IN" b="1" dirty="0"/>
              <a:t>Actual vs. Predicted:</a:t>
            </a:r>
            <a:r>
              <a:rPr lang="en-IN" dirty="0"/>
              <a:t> </a:t>
            </a:r>
          </a:p>
          <a:p>
            <a:r>
              <a:rPr lang="en-IN" dirty="0"/>
              <a:t>Tight clustering along the perfect-prediction line across most of the price range, with wider deviations concentrated in the sparsely-represented premium tier (a few points above ₹35K show 30–40%+ error).</a:t>
            </a:r>
          </a:p>
          <a:p>
            <a:endParaRPr lang="en-IN" b="1" dirty="0"/>
          </a:p>
          <a:p>
            <a:r>
              <a:rPr lang="en-IN" b="1" dirty="0"/>
              <a:t>Residuals:</a:t>
            </a:r>
            <a:r>
              <a:rPr lang="en-IN" dirty="0"/>
              <a:t> </a:t>
            </a:r>
          </a:p>
          <a:p>
            <a:r>
              <a:rPr lang="en-IN" dirty="0"/>
              <a:t>Mean residual of −₹86 — very close to zero, confirming the model shows no meaningful systematic bias toward over- or under-prediction.</a:t>
            </a:r>
          </a:p>
          <a:p>
            <a:endParaRPr lang="en-IN" b="1" dirty="0"/>
          </a:p>
          <a:p>
            <a:r>
              <a:rPr lang="en-IN" b="1" dirty="0"/>
              <a:t>Percentage Error:</a:t>
            </a:r>
            <a:r>
              <a:rPr lang="en-IN" dirty="0"/>
              <a:t> </a:t>
            </a:r>
          </a:p>
          <a:p>
            <a:r>
              <a:rPr lang="en-IN" dirty="0"/>
              <a:t>71.03% of predictions fall within ±10%, 92.52% within ±20%, 95.33% within ±30%. </a:t>
            </a:r>
          </a:p>
          <a:p>
            <a:r>
              <a:rPr lang="en-IN" dirty="0"/>
              <a:t>Mean Absolute Percentage Error is 8.44%, but the median is only 4.48% — the gap between mean and median indicates a small number of larger errors (concentrated in the premium segment) are pulling the average up, rather than errors being spread evenly across all predictions.</a:t>
            </a:r>
          </a:p>
          <a:p>
            <a:endParaRPr lang="en-IN" dirty="0"/>
          </a:p>
          <a:p>
            <a:r>
              <a:rPr lang="en-IN" b="1" dirty="0"/>
              <a:t>Limitation:</a:t>
            </a:r>
            <a:r>
              <a:rPr lang="en-IN" dirty="0"/>
              <a:t> </a:t>
            </a:r>
          </a:p>
          <a:p>
            <a:r>
              <a:rPr lang="en-IN" dirty="0"/>
              <a:t>Premium devices (₹35K+) represent a small minority of the training data, which explains the wider error margins concentrated there.</a:t>
            </a:r>
          </a:p>
          <a:p>
            <a:endParaRPr lang="en-US" dirty="0"/>
          </a:p>
        </p:txBody>
      </p:sp>
      <p:sp>
        <p:nvSpPr>
          <p:cNvPr id="4" name="Slide Number Placeholder 3">
            <a:extLst>
              <a:ext uri="{FF2B5EF4-FFF2-40B4-BE49-F238E27FC236}">
                <a16:creationId xmlns:a16="http://schemas.microsoft.com/office/drawing/2014/main" id="{E96716E8-1A57-1895-53F3-6B0BE5798CA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490563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dirty="0"/>
              <a:t>This section translates the analytical findings into practical business recommendations supported by the complete modelling pipeline.</a:t>
            </a:r>
          </a:p>
          <a:p>
            <a:endParaRPr lang="en-IN" b="1" dirty="0"/>
          </a:p>
          <a:p>
            <a:r>
              <a:rPr lang="en-IN" b="1" dirty="0"/>
              <a:t>1. Prioritise Front Camera Quality</a:t>
            </a:r>
            <a:endParaRPr lang="en-IN" dirty="0"/>
          </a:p>
          <a:p>
            <a:r>
              <a:rPr lang="en-IN" b="1" dirty="0"/>
              <a:t>What: </a:t>
            </a:r>
            <a:r>
              <a:rPr lang="en-IN" dirty="0"/>
              <a:t>Front_Camera_MP emerged as the strongest pricing driver throughout the final model.</a:t>
            </a:r>
          </a:p>
          <a:p>
            <a:r>
              <a:rPr lang="en-IN" b="1" dirty="0"/>
              <a:t>How</a:t>
            </a:r>
            <a:r>
              <a:rPr lang="en-IN" dirty="0"/>
              <a:t>: It ranked </a:t>
            </a:r>
            <a:r>
              <a:rPr lang="en-IN" b="1" dirty="0"/>
              <a:t>#1 in Permutation Importance (R² Drop = 0.3629)</a:t>
            </a:r>
            <a:r>
              <a:rPr lang="en-IN" dirty="0"/>
              <a:t> and remained the most influential feature in the tuned XGBoost model.</a:t>
            </a:r>
          </a:p>
          <a:p>
            <a:r>
              <a:rPr lang="en-IN" b="1" dirty="0"/>
              <a:t>Why: </a:t>
            </a:r>
            <a:r>
              <a:rPr lang="en-IN" dirty="0"/>
              <a:t>Improvements in front-camera capability consistently contribute more to predicted price than equivalent upgrades in many other hardware specifications.</a:t>
            </a:r>
          </a:p>
          <a:p>
            <a:endParaRPr lang="en-IN" dirty="0"/>
          </a:p>
          <a:p>
            <a:r>
              <a:rPr lang="en-IN" b="1" dirty="0"/>
              <a:t>2. Treat Battery as a Non-linear Pricing Feature</a:t>
            </a:r>
            <a:endParaRPr lang="en-IN" dirty="0"/>
          </a:p>
          <a:p>
            <a:r>
              <a:rPr lang="en-IN" b="1" dirty="0"/>
              <a:t>What</a:t>
            </a:r>
            <a:r>
              <a:rPr lang="en-IN" dirty="0"/>
              <a:t>: Battery capacity showed almost no linear correlation with price but proved highly valuable during machine learning.</a:t>
            </a:r>
          </a:p>
          <a:p>
            <a:r>
              <a:rPr lang="en-IN" b="1" dirty="0"/>
              <a:t>How</a:t>
            </a:r>
            <a:r>
              <a:rPr lang="en-IN" dirty="0"/>
              <a:t>: Empirical feature validation showed that removing Battery increased MAE by </a:t>
            </a:r>
            <a:r>
              <a:rPr lang="en-IN" b="1" dirty="0"/>
              <a:t>₹319</a:t>
            </a:r>
            <a:r>
              <a:rPr lang="en-IN" dirty="0"/>
              <a:t> and reduced model performance.</a:t>
            </a:r>
          </a:p>
          <a:p>
            <a:r>
              <a:rPr lang="en-IN" b="1" dirty="0"/>
              <a:t>Why: </a:t>
            </a:r>
            <a:r>
              <a:rPr lang="en-IN" dirty="0"/>
              <a:t>Battery influences pricing through threshold effects rather than proportional increases, making it a specification that should meet market expectations rather than simply maximise capacity.</a:t>
            </a:r>
          </a:p>
          <a:p>
            <a:endParaRPr lang="en-IN" dirty="0"/>
          </a:p>
          <a:p>
            <a:r>
              <a:rPr lang="en-IN" b="1" dirty="0"/>
              <a:t>3. Maintain Consistent Product Positioning</a:t>
            </a:r>
            <a:endParaRPr lang="en-IN" dirty="0"/>
          </a:p>
          <a:p>
            <a:r>
              <a:rPr lang="en-IN" b="1" dirty="0"/>
              <a:t>What: </a:t>
            </a:r>
            <a:r>
              <a:rPr lang="en-IN" dirty="0"/>
              <a:t>Model_Encoded captured important pricing information beyond hardware specifications.</a:t>
            </a:r>
          </a:p>
          <a:p>
            <a:r>
              <a:rPr lang="en-IN" b="1" dirty="0"/>
              <a:t>How</a:t>
            </a:r>
            <a:r>
              <a:rPr lang="en-IN" dirty="0"/>
              <a:t>: Removing Model_Encoded collapses </a:t>
            </a:r>
            <a:r>
              <a:rPr lang="en-IN" b="1" dirty="0"/>
              <a:t>CV R² </a:t>
            </a:r>
            <a:r>
              <a:rPr lang="en-IN" dirty="0"/>
              <a:t>from </a:t>
            </a:r>
            <a:r>
              <a:rPr lang="en-IN" b="1" dirty="0"/>
              <a:t>0.9100 to 0.6794 </a:t>
            </a:r>
            <a:r>
              <a:rPr lang="en-IN" dirty="0"/>
              <a:t>in the Feature Contribution Test, despite showing no statistical significance in </a:t>
            </a:r>
            <a:r>
              <a:rPr lang="en-IN" b="1" dirty="0"/>
              <a:t>SelectKBest (p=0.189).</a:t>
            </a:r>
          </a:p>
          <a:p>
            <a:r>
              <a:rPr lang="en-IN" b="1" dirty="0"/>
              <a:t>Why: </a:t>
            </a:r>
            <a:r>
              <a:rPr lang="en-IN" dirty="0"/>
              <a:t>Product lineage and market positioning contribute measurable pricing power beyond raw specifications alone.</a:t>
            </a:r>
          </a:p>
          <a:p>
            <a:endParaRPr lang="en-IN" dirty="0"/>
          </a:p>
          <a:p>
            <a:r>
              <a:rPr lang="en-IN" b="1" dirty="0"/>
              <a:t>4. Use RAM and Storage to Define Hardware Tiers</a:t>
            </a:r>
            <a:endParaRPr lang="en-IN" dirty="0"/>
          </a:p>
          <a:p>
            <a:r>
              <a:rPr lang="en-IN" b="1" dirty="0"/>
              <a:t>What: </a:t>
            </a:r>
            <a:r>
              <a:rPr lang="en-IN" dirty="0"/>
              <a:t>Memory and RAM consistently ranked among the strongest features during EDA and feature screening.</a:t>
            </a:r>
          </a:p>
          <a:p>
            <a:r>
              <a:rPr lang="en-IN" b="1" dirty="0"/>
              <a:t>How: </a:t>
            </a:r>
            <a:r>
              <a:rPr lang="en-IN" dirty="0"/>
              <a:t>Both demonstrated strong positive relationships with price and formed the basis of distinct pricing tiers across the dataset.</a:t>
            </a:r>
          </a:p>
          <a:p>
            <a:r>
              <a:rPr lang="en-IN" b="1" dirty="0"/>
              <a:t>Why: </a:t>
            </a:r>
            <a:r>
              <a:rPr lang="en-IN" dirty="0"/>
              <a:t>They establish the baseline hardware category, while camera quality and product positioning determine movement within those tiers.</a:t>
            </a:r>
          </a:p>
          <a:p>
            <a:endParaRPr lang="en-IN" dirty="0"/>
          </a:p>
          <a:p>
            <a:r>
              <a:rPr lang="en-IN" b="1" dirty="0"/>
              <a:t>5. Deprioritise Processor Brand</a:t>
            </a:r>
            <a:endParaRPr lang="en-IN" dirty="0"/>
          </a:p>
          <a:p>
            <a:r>
              <a:rPr lang="en-IN" b="1" dirty="0"/>
              <a:t>What: </a:t>
            </a:r>
            <a:r>
              <a:rPr lang="en-IN" dirty="0"/>
              <a:t>Processor-brand variables contributed very little once the remaining specifications were considered.</a:t>
            </a:r>
          </a:p>
          <a:p>
            <a:r>
              <a:rPr lang="en-IN" b="1" dirty="0"/>
              <a:t>How: </a:t>
            </a:r>
            <a:r>
              <a:rPr lang="en-IN" dirty="0"/>
              <a:t>Permutation Importance ranked all processor features near the bottom.</a:t>
            </a:r>
          </a:p>
          <a:p>
            <a:r>
              <a:rPr lang="en-IN" b="1" dirty="0"/>
              <a:t>Why: </a:t>
            </a:r>
            <a:r>
              <a:rPr lang="en-IN" dirty="0"/>
              <a:t>Processor branding alone should not be treated as the primary justification for premium pricing.</a:t>
            </a:r>
          </a:p>
          <a:p>
            <a:endParaRPr lang="en-IN" dirty="0"/>
          </a:p>
          <a:p>
            <a:r>
              <a:rPr lang="en-IN" b="1" dirty="0"/>
              <a:t>6. Deploy the Model for Pricing Support</a:t>
            </a:r>
            <a:endParaRPr lang="en-IN" dirty="0"/>
          </a:p>
          <a:p>
            <a:r>
              <a:rPr lang="en-IN" b="1" dirty="0"/>
              <a:t>What: </a:t>
            </a:r>
            <a:r>
              <a:rPr lang="en-IN" dirty="0"/>
              <a:t>The tuned XGBoost model achieved </a:t>
            </a:r>
            <a:r>
              <a:rPr lang="en-IN" b="1" dirty="0"/>
              <a:t>Test R² = 0.7868</a:t>
            </a:r>
            <a:r>
              <a:rPr lang="en-IN" dirty="0"/>
              <a:t>, </a:t>
            </a:r>
            <a:r>
              <a:rPr lang="en-IN" b="1" dirty="0"/>
              <a:t>CV R² = 0.9100</a:t>
            </a:r>
            <a:r>
              <a:rPr lang="en-IN" dirty="0"/>
              <a:t>, with </a:t>
            </a:r>
            <a:r>
              <a:rPr lang="en-IN" b="1" dirty="0"/>
              <a:t>71.03%</a:t>
            </a:r>
            <a:r>
              <a:rPr lang="en-IN" dirty="0"/>
              <a:t> of predictions falling within ±10%.</a:t>
            </a:r>
          </a:p>
          <a:p>
            <a:r>
              <a:rPr lang="en-IN" b="1" dirty="0"/>
              <a:t>Why: </a:t>
            </a:r>
            <a:r>
              <a:rPr lang="en-IN" dirty="0"/>
              <a:t>The model is suitable for competitive pricing analysis, launch-price estimation and pricing audits, while predictions for devices above approximately </a:t>
            </a:r>
            <a:r>
              <a:rPr lang="en-IN" b="1" dirty="0"/>
              <a:t>₹35,000</a:t>
            </a:r>
            <a:r>
              <a:rPr lang="en-IN" dirty="0"/>
              <a:t> should be interpreted more cautiously because of limited training data.</a:t>
            </a:r>
          </a:p>
          <a:p>
            <a:endParaRPr lang="en-IN"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13ABA-36E8-ECCE-A20A-E48754F72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6E85E-51E1-71B2-DEA8-A4297F70D9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BBC0324-60AC-18D0-ED5C-DA139A06F190}"/>
              </a:ext>
            </a:extLst>
          </p:cNvPr>
          <p:cNvSpPr>
            <a:spLocks noGrp="1"/>
          </p:cNvSpPr>
          <p:nvPr>
            <p:ph type="body" idx="1"/>
          </p:nvPr>
        </p:nvSpPr>
        <p:spPr/>
        <p:txBody>
          <a:bodyPr/>
          <a:lstStyle/>
          <a:p>
            <a:r>
              <a:rPr lang="en-IN" b="1" dirty="0"/>
              <a:t>Project Challenges and Key Learnings </a:t>
            </a:r>
            <a:r>
              <a:rPr lang="en-IN" b="0" dirty="0"/>
              <a:t>in detail: </a:t>
            </a:r>
          </a:p>
          <a:p>
            <a:endParaRPr lang="en-IN" b="0" dirty="0"/>
          </a:p>
          <a:p>
            <a:r>
              <a:rPr lang="en-IN" b="1" dirty="0"/>
              <a:t>1. Data Quality &amp; Preprocessing</a:t>
            </a:r>
          </a:p>
          <a:p>
            <a:r>
              <a:rPr lang="en-IN" b="1" dirty="0"/>
              <a:t>What:</a:t>
            </a:r>
            <a:br>
              <a:rPr lang="en-IN" dirty="0"/>
            </a:br>
            <a:r>
              <a:rPr lang="en-IN" dirty="0"/>
              <a:t>Before any exploratory analysis or modelling could begin, the dataset required careful validation. During preprocessing, </a:t>
            </a:r>
            <a:r>
              <a:rPr lang="en-IN" b="1" dirty="0"/>
              <a:t>10 duplicate records</a:t>
            </a:r>
            <a:r>
              <a:rPr lang="en-IN" dirty="0"/>
              <a:t> were identified and removed, missing values were handled appropriately, processor names were standardised through keyword extraction, and invalid Mobile Height measurements were corrected using median imputation.</a:t>
            </a:r>
          </a:p>
          <a:p>
            <a:r>
              <a:rPr lang="en-IN" b="1" dirty="0"/>
              <a:t>How:</a:t>
            </a:r>
            <a:br>
              <a:rPr lang="en-IN" dirty="0"/>
            </a:br>
            <a:r>
              <a:rPr lang="en-IN" dirty="0"/>
              <a:t>Duplicates were removed to prevent repeated observations from biasing the analysis. Missing and inconsistent values were addressed using feature-specific preprocessing techniques, while </a:t>
            </a:r>
            <a:r>
              <a:rPr lang="en-IN" dirty="0" err="1"/>
              <a:t>Processor_Brand</a:t>
            </a:r>
            <a:r>
              <a:rPr lang="en-IN" dirty="0"/>
              <a:t> was engineered from raw processor descriptions to improve consistency across manufacturers.</a:t>
            </a:r>
          </a:p>
          <a:p>
            <a:r>
              <a:rPr lang="en-IN" b="1" dirty="0"/>
              <a:t>Why it matters:</a:t>
            </a:r>
            <a:br>
              <a:rPr lang="en-IN" dirty="0"/>
            </a:br>
            <a:r>
              <a:rPr lang="en-IN" dirty="0"/>
              <a:t>This stage reinforced that model quality depends first on data quality. Accurate preprocessing ensured that subsequent exploratory analysis, feature selection, and model training were based on reliable and internally consistent data rather than noisy or duplicated observations.</a:t>
            </a:r>
          </a:p>
          <a:p>
            <a:endParaRPr lang="en-IN" dirty="0"/>
          </a:p>
          <a:p>
            <a:r>
              <a:rPr lang="en-IN" b="1" dirty="0"/>
              <a:t>2. Feature Engineering &amp; Encoding</a:t>
            </a:r>
          </a:p>
          <a:p>
            <a:r>
              <a:rPr lang="en-IN" b="1" dirty="0"/>
              <a:t>What:</a:t>
            </a:r>
            <a:br>
              <a:rPr lang="en-IN" dirty="0"/>
            </a:br>
            <a:r>
              <a:rPr lang="en-IN" dirty="0"/>
              <a:t>The dataset contained several high-cardinality categorical variables that could not be used directly by machine learning algorithms.</a:t>
            </a:r>
          </a:p>
          <a:p>
            <a:r>
              <a:rPr lang="en-IN" b="1" dirty="0"/>
              <a:t>How:</a:t>
            </a:r>
            <a:br>
              <a:rPr lang="en-IN" dirty="0"/>
            </a:br>
            <a:r>
              <a:rPr lang="en-IN" dirty="0" err="1"/>
              <a:t>Processor_Brand</a:t>
            </a:r>
            <a:r>
              <a:rPr lang="en-IN" dirty="0"/>
              <a:t> was extracted from processor descriptions and One-Hot Encoded because it contained only six categories. Model and Colour were Label Encoded due to their high cardinality of </a:t>
            </a:r>
            <a:r>
              <a:rPr lang="en-IN" b="1" dirty="0"/>
              <a:t>187</a:t>
            </a:r>
            <a:r>
              <a:rPr lang="en-IN" dirty="0"/>
              <a:t> and </a:t>
            </a:r>
            <a:r>
              <a:rPr lang="en-IN" b="1" dirty="0"/>
              <a:t>275</a:t>
            </a:r>
            <a:r>
              <a:rPr lang="en-IN" dirty="0"/>
              <a:t> unique values respectively. Temporary helper features such as </a:t>
            </a:r>
            <a:r>
              <a:rPr lang="en-IN" dirty="0" err="1"/>
              <a:t>Model_Category</a:t>
            </a:r>
            <a:r>
              <a:rPr lang="en-IN" dirty="0"/>
              <a:t> and </a:t>
            </a:r>
            <a:r>
              <a:rPr lang="en-IN" dirty="0" err="1"/>
              <a:t>Colour_Category</a:t>
            </a:r>
            <a:r>
              <a:rPr lang="en-IN" dirty="0"/>
              <a:t> were created solely for exploratory analysis and removed before model training.</a:t>
            </a:r>
          </a:p>
          <a:p>
            <a:r>
              <a:rPr lang="en-IN" b="1" dirty="0"/>
              <a:t>Why it matters:</a:t>
            </a:r>
            <a:br>
              <a:rPr lang="en-IN" dirty="0"/>
            </a:br>
            <a:r>
              <a:rPr lang="en-IN" dirty="0"/>
              <a:t>This demonstrated that encoding is not a one-size-fits-all process. Selecting an appropriate encoding strategy preserved useful information while avoiding unnecessary dimensionality and maintaining computational efficiency.</a:t>
            </a:r>
          </a:p>
          <a:p>
            <a:endParaRPr lang="en-IN" dirty="0"/>
          </a:p>
          <a:p>
            <a:r>
              <a:rPr lang="en-IN" b="1" dirty="0"/>
              <a:t>3. Feature Selection &amp; Empirical Validation</a:t>
            </a:r>
          </a:p>
          <a:p>
            <a:r>
              <a:rPr lang="en-IN" b="1" dirty="0"/>
              <a:t>What:</a:t>
            </a:r>
            <a:br>
              <a:rPr lang="en-IN" dirty="0"/>
            </a:br>
            <a:r>
              <a:rPr lang="en-IN" dirty="0"/>
              <a:t>Three complementary feature-screening methods—Pearson Correlation, SelectKBest, and Random Forest Feature Importance—produced conflicting rankings for several variables, particularly Battery Capacity, Model_Encoded, and AI Lens.</a:t>
            </a:r>
          </a:p>
          <a:p>
            <a:r>
              <a:rPr lang="en-IN" b="1" dirty="0"/>
              <a:t>How:</a:t>
            </a:r>
            <a:br>
              <a:rPr lang="en-IN" dirty="0"/>
            </a:br>
            <a:r>
              <a:rPr lang="en-IN" dirty="0"/>
              <a:t>Rather than relying on any single statistical technique, empirical feature-removal experiments were conducted using Random Forest to measure the actual effect of each disputed feature on model performance. These experiments confirmed that Battery Capacity and Model_Encoded should be retained, while AI Lens could be removed with negligible impact.</a:t>
            </a:r>
          </a:p>
          <a:p>
            <a:r>
              <a:rPr lang="en-IN" b="1" dirty="0"/>
              <a:t>Why it matters:</a:t>
            </a:r>
            <a:br>
              <a:rPr lang="en-IN" dirty="0"/>
            </a:br>
            <a:r>
              <a:rPr lang="en-IN" dirty="0"/>
              <a:t>This was one of the most important methodological lessons from the project. Statistical significance and linear correlation do not always translate into predictive usefulness. Empirical validation provided the most objective basis for feature-selection decisions.</a:t>
            </a:r>
          </a:p>
          <a:p>
            <a:endParaRPr lang="en-IN" dirty="0"/>
          </a:p>
          <a:p>
            <a:r>
              <a:rPr lang="en-IN" b="1" dirty="0"/>
              <a:t>4. Model Generalisation &amp; Evaluation</a:t>
            </a:r>
          </a:p>
          <a:p>
            <a:r>
              <a:rPr lang="en-IN" b="1" dirty="0"/>
              <a:t>What:</a:t>
            </a:r>
            <a:br>
              <a:rPr lang="en-IN" dirty="0"/>
            </a:br>
            <a:r>
              <a:rPr lang="en-IN" dirty="0"/>
              <a:t>During model optimisation, hyperparameter tuning improved the Cross-Validation R² from </a:t>
            </a:r>
            <a:r>
              <a:rPr lang="en-IN" b="1" dirty="0"/>
              <a:t>0.8809</a:t>
            </a:r>
            <a:r>
              <a:rPr lang="en-IN" dirty="0"/>
              <a:t> to </a:t>
            </a:r>
            <a:r>
              <a:rPr lang="en-IN" b="1" dirty="0"/>
              <a:t>0.9100</a:t>
            </a:r>
            <a:r>
              <a:rPr lang="en-IN" dirty="0"/>
              <a:t>, while the Test R² decreased slightly from </a:t>
            </a:r>
            <a:r>
              <a:rPr lang="en-IN" b="1" dirty="0"/>
              <a:t>0.8241</a:t>
            </a:r>
            <a:r>
              <a:rPr lang="en-IN" dirty="0"/>
              <a:t> to </a:t>
            </a:r>
            <a:r>
              <a:rPr lang="en-IN" b="1" dirty="0"/>
              <a:t>0.7868</a:t>
            </a:r>
            <a:r>
              <a:rPr lang="en-IN" dirty="0"/>
              <a:t>.</a:t>
            </a:r>
          </a:p>
          <a:p>
            <a:r>
              <a:rPr lang="en-IN" b="1" dirty="0"/>
              <a:t>How:</a:t>
            </a:r>
            <a:br>
              <a:rPr lang="en-IN" dirty="0"/>
            </a:br>
            <a:r>
              <a:rPr lang="en-IN" dirty="0"/>
              <a:t>Instead of selecting the final model based solely on the test-set score, both Cross-Validation and Test performance were considered together. An alternate train-test split was also evaluated to verify that the observed behaviour reflected sampling variation rather than model instability.</a:t>
            </a:r>
          </a:p>
          <a:p>
            <a:r>
              <a:rPr lang="en-IN" b="1" dirty="0"/>
              <a:t>Why it matters:</a:t>
            </a:r>
            <a:br>
              <a:rPr lang="en-IN" dirty="0"/>
            </a:br>
            <a:r>
              <a:rPr lang="en-IN" dirty="0"/>
              <a:t>This highlighted an important principle of machine learning: a single test split may not fully represent a model's ability to generalise. Cross-validation provides a more reliable estimate of expected real-world performance, making it the primary criterion for final model selection.</a:t>
            </a:r>
          </a:p>
          <a:p>
            <a:endParaRPr lang="en-IN" dirty="0"/>
          </a:p>
          <a:p>
            <a:r>
              <a:rPr lang="en-IN" b="1" dirty="0"/>
              <a:t>5. Reproducibility &amp; Computational Efficiency</a:t>
            </a:r>
          </a:p>
          <a:p>
            <a:r>
              <a:rPr lang="en-IN" b="1" dirty="0"/>
              <a:t>What:</a:t>
            </a:r>
            <a:br>
              <a:rPr lang="en-IN" dirty="0"/>
            </a:br>
            <a:r>
              <a:rPr lang="en-IN" dirty="0"/>
              <a:t>Hyperparameter tuning required evaluating </a:t>
            </a:r>
            <a:r>
              <a:rPr lang="en-IN" b="1" dirty="0"/>
              <a:t>180 parameter combinations</a:t>
            </a:r>
            <a:r>
              <a:rPr lang="en-IN" dirty="0"/>
              <a:t>, resulting in </a:t>
            </a:r>
            <a:r>
              <a:rPr lang="en-IN" b="1" dirty="0"/>
              <a:t>900 model fits</a:t>
            </a:r>
            <a:r>
              <a:rPr lang="en-IN" dirty="0"/>
              <a:t>, making repeated notebook execution computationally expensive.</a:t>
            </a:r>
          </a:p>
          <a:p>
            <a:r>
              <a:rPr lang="en-IN" b="1" dirty="0"/>
              <a:t>How:</a:t>
            </a:r>
            <a:br>
              <a:rPr lang="en-IN" dirty="0"/>
            </a:br>
            <a:r>
              <a:rPr lang="en-IN" dirty="0"/>
              <a:t>A configurable </a:t>
            </a:r>
            <a:r>
              <a:rPr lang="en-IN" b="1" dirty="0"/>
              <a:t>USE_CACHE</a:t>
            </a:r>
            <a:r>
              <a:rPr lang="en-IN" dirty="0"/>
              <a:t> flag was implemented to optionally load previously saved GridSearchCV results during local development while retaining the complete training workflow for reproducibility and GitHub evaluation.</a:t>
            </a:r>
          </a:p>
          <a:p>
            <a:r>
              <a:rPr lang="en-IN" b="1" dirty="0"/>
              <a:t>Why it matters:</a:t>
            </a:r>
            <a:br>
              <a:rPr lang="en-IN" dirty="0"/>
            </a:br>
            <a:r>
              <a:rPr lang="en-IN" dirty="0"/>
              <a:t>This approach eliminated the need for maintaining separate notebooks while ensuring that the full tuning process remained transparent and reproducible. It also significantly reduced development time during iterative experimentation.</a:t>
            </a:r>
          </a:p>
          <a:p>
            <a:endParaRPr lang="en-IN" dirty="0"/>
          </a:p>
          <a:p>
            <a:r>
              <a:rPr lang="en-IN" b="1" dirty="0"/>
              <a:t>6. Translating Analytics into Business Value</a:t>
            </a:r>
          </a:p>
          <a:p>
            <a:r>
              <a:rPr lang="en-IN" b="1" dirty="0"/>
              <a:t>What:</a:t>
            </a:r>
            <a:br>
              <a:rPr lang="en-IN" dirty="0"/>
            </a:br>
            <a:r>
              <a:rPr lang="en-IN" dirty="0"/>
              <a:t>The project extended beyond predictive modelling by converting analytical findings into actionable business recommendations.</a:t>
            </a:r>
          </a:p>
          <a:p>
            <a:r>
              <a:rPr lang="en-IN" b="1" dirty="0"/>
              <a:t>How:</a:t>
            </a:r>
            <a:br>
              <a:rPr lang="en-IN" dirty="0"/>
            </a:br>
            <a:r>
              <a:rPr lang="en-IN" dirty="0"/>
              <a:t>Results from exploratory analysis, feature importance, empirical validation, and model evaluation were synthesised into recommendations covering pricing strategy, product positioning, hardware prioritisation, and competitive benchmarking.</a:t>
            </a:r>
          </a:p>
          <a:p>
            <a:r>
              <a:rPr lang="en-IN" b="1" dirty="0"/>
              <a:t>Why it matters:</a:t>
            </a:r>
            <a:br>
              <a:rPr lang="en-IN" dirty="0"/>
            </a:br>
            <a:r>
              <a:rPr lang="en-IN" dirty="0"/>
              <a:t>This demonstrated that machine learning delivers its greatest value when technical insights are translated into practical business decisions. The final outcome was not only an accurate prediction model but also an evidence-based framework to support smartphone pricing decisions.</a:t>
            </a:r>
          </a:p>
          <a:p>
            <a:br>
              <a:rPr lang="en-IN" dirty="0"/>
            </a:br>
            <a:endParaRPr lang="en-IN" dirty="0"/>
          </a:p>
          <a:p>
            <a:r>
              <a:rPr lang="en-IN" b="1" dirty="0"/>
              <a:t>Overall Learnings: </a:t>
            </a:r>
          </a:p>
          <a:p>
            <a:r>
              <a:rPr lang="en-IN" dirty="0"/>
              <a:t>This project demonstrated that building an effective machine learning solution involves much more than selecting a high-performing algorithm. Careful data preparation, thoughtful feature engineering, evidence-based feature selection, robust model evaluation, reproducible experimentation, and meaningful business interpretation all contributed to developing a reliable smartphone price prediction model.</a:t>
            </a:r>
          </a:p>
          <a:p>
            <a:endParaRPr lang="en-IN" dirty="0"/>
          </a:p>
        </p:txBody>
      </p:sp>
      <p:sp>
        <p:nvSpPr>
          <p:cNvPr id="4" name="Slide Number Placeholder 3">
            <a:extLst>
              <a:ext uri="{FF2B5EF4-FFF2-40B4-BE49-F238E27FC236}">
                <a16:creationId xmlns:a16="http://schemas.microsoft.com/office/drawing/2014/main" id="{A9D29652-9D69-59A3-950C-DB4498F45A3A}"/>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313087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b="1" dirty="0"/>
              <a:t>Conclusion</a:t>
            </a:r>
          </a:p>
          <a:p>
            <a:r>
              <a:rPr lang="en-IN" dirty="0"/>
              <a:t>This project set out to answer two business questions.</a:t>
            </a:r>
          </a:p>
          <a:p>
            <a:r>
              <a:rPr lang="en-IN" b="1" i="1" dirty="0"/>
              <a:t>First, </a:t>
            </a:r>
            <a:r>
              <a:rPr lang="en-IN" b="0" i="1" dirty="0"/>
              <a:t>which smartphone specifications genuinely influence market price?</a:t>
            </a:r>
          </a:p>
          <a:p>
            <a:r>
              <a:rPr lang="en-IN" b="1" i="1" dirty="0"/>
              <a:t>Second, </a:t>
            </a:r>
            <a:r>
              <a:rPr lang="en-IN" b="0" i="1" dirty="0"/>
              <a:t>can machine learning accurately estimate smartphone prices using those specifications?</a:t>
            </a:r>
          </a:p>
          <a:p>
            <a:r>
              <a:rPr lang="en-IN" dirty="0"/>
              <a:t>The analysis demonstrates that both questions can be answered using a structured, evidence-based machine learning pipeline.</a:t>
            </a:r>
          </a:p>
          <a:p>
            <a:endParaRPr lang="en-IN" dirty="0"/>
          </a:p>
          <a:p>
            <a:r>
              <a:rPr lang="en-IN" b="1" dirty="0"/>
              <a:t>What the project revealed</a:t>
            </a:r>
          </a:p>
          <a:p>
            <a:r>
              <a:rPr lang="en-IN" dirty="0"/>
              <a:t>The analysis showed that smartphone pricing is driven by a combination of hardware capability and product positioning rather than any single specification.</a:t>
            </a:r>
          </a:p>
          <a:p>
            <a:r>
              <a:rPr lang="en-IN" b="1" dirty="0"/>
              <a:t>Front Camera MP </a:t>
            </a:r>
            <a:r>
              <a:rPr lang="en-IN" dirty="0"/>
              <a:t>consistently emerged as the strongest pricing signal, ranking first in the final permutation importance analysis.</a:t>
            </a:r>
          </a:p>
          <a:p>
            <a:r>
              <a:rPr lang="en-IN" b="1" dirty="0"/>
              <a:t>Battery</a:t>
            </a:r>
            <a:r>
              <a:rPr lang="en-IN" dirty="0"/>
              <a:t> capacity demonstrated an important methodological finding. Although it exhibited almost no linear correlation with price, empirical validation showed that removing it noticeably reduced Random Forest performance, confirming that battery influences pricing through non-linear threshold effects rather than proportional increases.</a:t>
            </a:r>
          </a:p>
          <a:p>
            <a:r>
              <a:rPr lang="en-IN" b="1" dirty="0"/>
              <a:t>Model_Encoded </a:t>
            </a:r>
            <a:r>
              <a:rPr lang="en-IN" dirty="0"/>
              <a:t>presented a similar pattern. It appeared weak during statistical screening but became one of the strongest contributors once evaluated using tree-based learning, highlighting that product positioning contributes information beyond hardware specifications alone.</a:t>
            </a:r>
          </a:p>
          <a:p>
            <a:r>
              <a:rPr lang="en-IN" b="1" dirty="0"/>
              <a:t>RAM</a:t>
            </a:r>
            <a:r>
              <a:rPr lang="en-IN" dirty="0"/>
              <a:t> and </a:t>
            </a:r>
            <a:r>
              <a:rPr lang="en-IN" b="1" dirty="0"/>
              <a:t>Memory</a:t>
            </a:r>
            <a:r>
              <a:rPr lang="en-IN" dirty="0"/>
              <a:t> consistently defined the major hardware pricing tiers across the market, while processor-related variables contributed comparatively little independent pricing information once stronger predictors were considered.</a:t>
            </a:r>
          </a:p>
          <a:p>
            <a:endParaRPr lang="en-IN" dirty="0"/>
          </a:p>
          <a:p>
            <a:r>
              <a:rPr lang="en-IN" b="1" dirty="0"/>
              <a:t>Model Performance</a:t>
            </a:r>
          </a:p>
          <a:p>
            <a:r>
              <a:rPr lang="en-IN" dirty="0"/>
              <a:t>Four regression algorithms were evaluated under identical experimental conditions to ensure a fair comparison.</a:t>
            </a:r>
          </a:p>
          <a:p>
            <a:r>
              <a:rPr lang="en-IN" dirty="0"/>
              <a:t>Linear Regression established the baseline but struggled to capture the non-linear relationships identified during exploratory analysis.</a:t>
            </a:r>
          </a:p>
          <a:p>
            <a:r>
              <a:rPr lang="en-IN" dirty="0"/>
              <a:t>Decision Tree substantially improved predictive accuracy but showed lower stability across cross-validation.</a:t>
            </a:r>
          </a:p>
          <a:p>
            <a:r>
              <a:rPr lang="en-IN" dirty="0"/>
              <a:t>Random Forest further improved robustness through ensemble learning.</a:t>
            </a:r>
          </a:p>
          <a:p>
            <a:r>
              <a:rPr lang="en-IN" dirty="0"/>
              <a:t>Baseline XGBoost achieved the strongest cross-validation performance and was therefore selected for GridSearchCV hyperparameter optimisation.</a:t>
            </a:r>
          </a:p>
          <a:p>
            <a:r>
              <a:rPr lang="en-IN" dirty="0"/>
              <a:t>Following a search across </a:t>
            </a:r>
            <a:r>
              <a:rPr lang="en-IN" b="1" dirty="0"/>
              <a:t>180 parameter combinations (900 model fits)</a:t>
            </a:r>
            <a:r>
              <a:rPr lang="en-IN" dirty="0"/>
              <a:t>, the tuned XGBoost model achieved:</a:t>
            </a:r>
          </a:p>
          <a:p>
            <a:pPr marL="171450" indent="-171450">
              <a:buFont typeface="Arial" panose="020B0604020202020204" pitchFamily="34" charset="0"/>
              <a:buChar char="•"/>
            </a:pPr>
            <a:r>
              <a:rPr lang="en-IN" dirty="0"/>
              <a:t>Test R² = </a:t>
            </a:r>
            <a:r>
              <a:rPr lang="en-IN" b="1" dirty="0"/>
              <a:t>0.7868</a:t>
            </a:r>
            <a:r>
              <a:rPr lang="en-IN" dirty="0"/>
              <a:t> </a:t>
            </a:r>
          </a:p>
          <a:p>
            <a:pPr marL="171450" indent="-171450">
              <a:buFont typeface="Arial" panose="020B0604020202020204" pitchFamily="34" charset="0"/>
              <a:buChar char="•"/>
            </a:pPr>
            <a:r>
              <a:rPr lang="en-IN" dirty="0"/>
              <a:t>CV R² = </a:t>
            </a:r>
            <a:r>
              <a:rPr lang="en-IN" b="1" dirty="0"/>
              <a:t>0.9100</a:t>
            </a:r>
            <a:r>
              <a:rPr lang="en-IN" dirty="0"/>
              <a:t> </a:t>
            </a:r>
          </a:p>
          <a:p>
            <a:pPr marL="171450" indent="-171450">
              <a:buFont typeface="Arial" panose="020B0604020202020204" pitchFamily="34" charset="0"/>
              <a:buChar char="•"/>
            </a:pPr>
            <a:r>
              <a:rPr lang="en-IN" dirty="0"/>
              <a:t>MAE = </a:t>
            </a:r>
            <a:r>
              <a:rPr lang="en-IN" b="1" dirty="0"/>
              <a:t>₹1,558</a:t>
            </a:r>
            <a:r>
              <a:rPr lang="en-IN" dirty="0"/>
              <a:t> </a:t>
            </a:r>
          </a:p>
          <a:p>
            <a:pPr marL="171450" indent="-171450">
              <a:buFont typeface="Arial" panose="020B0604020202020204" pitchFamily="34" charset="0"/>
              <a:buChar char="•"/>
            </a:pPr>
            <a:r>
              <a:rPr lang="en-IN" dirty="0"/>
              <a:t>RMSE = </a:t>
            </a:r>
            <a:r>
              <a:rPr lang="en-IN" b="1" dirty="0"/>
              <a:t>₹4,176</a:t>
            </a:r>
          </a:p>
          <a:p>
            <a:pPr marL="0" indent="0">
              <a:buFont typeface="Arial" panose="020B0604020202020204" pitchFamily="34" charset="0"/>
              <a:buNone/>
            </a:pPr>
            <a:endParaRPr lang="en-IN" b="1" dirty="0"/>
          </a:p>
          <a:p>
            <a:r>
              <a:rPr lang="en-IN" dirty="0"/>
              <a:t>Although the baseline XGBoost achieved a slightly stronger score on the single held-out test split, the tuned model produced the highest cross-validation performance. Given the relatively small test partition, the final recommendation prioritised the tuned model because cross-validation provides a more reliable estimate of generalisation to unseen data.</a:t>
            </a:r>
          </a:p>
          <a:p>
            <a:r>
              <a:rPr lang="en-IN" dirty="0"/>
              <a:t>The final model also demonstrated practical predictive capability, with approximately </a:t>
            </a:r>
            <a:r>
              <a:rPr lang="en-IN" b="1" dirty="0"/>
              <a:t>71%</a:t>
            </a:r>
            <a:r>
              <a:rPr lang="en-IN" dirty="0"/>
              <a:t> of predictions falling within </a:t>
            </a:r>
            <a:r>
              <a:rPr lang="en-IN" b="1" dirty="0"/>
              <a:t>±10%</a:t>
            </a:r>
            <a:r>
              <a:rPr lang="en-IN" dirty="0"/>
              <a:t> of the actual market price and over </a:t>
            </a:r>
            <a:r>
              <a:rPr lang="en-IN" b="1" dirty="0"/>
              <a:t>92%</a:t>
            </a:r>
            <a:r>
              <a:rPr lang="en-IN" dirty="0"/>
              <a:t> within </a:t>
            </a:r>
            <a:r>
              <a:rPr lang="en-IN" b="1" dirty="0"/>
              <a:t>±20%</a:t>
            </a:r>
            <a:r>
              <a:rPr lang="en-IN" dirty="0"/>
              <a:t>.</a:t>
            </a:r>
          </a:p>
          <a:p>
            <a:pPr marL="0" indent="0">
              <a:buFont typeface="Arial" panose="020B0604020202020204" pitchFamily="34" charset="0"/>
              <a:buNone/>
            </a:pPr>
            <a:endParaRPr lang="en-IN" dirty="0"/>
          </a:p>
          <a:p>
            <a:r>
              <a:rPr lang="en-IN" b="1" dirty="0"/>
              <a:t>Why these findings are trustworthy</a:t>
            </a:r>
          </a:p>
          <a:p>
            <a:r>
              <a:rPr lang="en-IN" dirty="0"/>
              <a:t>Several methodological decisions strengthened the reliability of the study.</a:t>
            </a:r>
          </a:p>
          <a:p>
            <a:pPr marL="171450" indent="-171450">
              <a:buFont typeface="Arial" panose="020B0604020202020204" pitchFamily="34" charset="0"/>
              <a:buChar char="•"/>
            </a:pPr>
            <a:r>
              <a:rPr lang="en-IN" dirty="0"/>
              <a:t>Duplicate records were identified and removed before modelling to ensure data quality.</a:t>
            </a:r>
          </a:p>
          <a:p>
            <a:pPr marL="171450" indent="-171450">
              <a:buFont typeface="Arial" panose="020B0604020202020204" pitchFamily="34" charset="0"/>
              <a:buChar char="•"/>
            </a:pPr>
            <a:r>
              <a:rPr lang="en-IN" dirty="0"/>
              <a:t>Data validation and targeted preprocessing corrected measurement issues while preserving valid hardware specifications.</a:t>
            </a:r>
          </a:p>
          <a:p>
            <a:pPr marL="171450" indent="-171450">
              <a:buFont typeface="Arial" panose="020B0604020202020204" pitchFamily="34" charset="0"/>
              <a:buChar char="•"/>
            </a:pPr>
            <a:r>
              <a:rPr lang="en-IN" dirty="0"/>
              <a:t>Rather than relying on a single feature-selection technique, disagreements between Correlation Analysis, SelectKBest and Random Forest were resolved through empirical feature contribution experiments.</a:t>
            </a:r>
          </a:p>
          <a:p>
            <a:pPr marL="171450" indent="-171450">
              <a:buFont typeface="Arial" panose="020B0604020202020204" pitchFamily="34" charset="0"/>
              <a:buChar char="•"/>
            </a:pPr>
            <a:r>
              <a:rPr lang="en-IN" dirty="0"/>
              <a:t>Every regression model was trained using identical train-test splits, evaluation metrics and random seeds to ensure a fair comparison.</a:t>
            </a:r>
          </a:p>
          <a:p>
            <a:pPr marL="171450" indent="-171450">
              <a:buFont typeface="Arial" panose="020B0604020202020204" pitchFamily="34" charset="0"/>
              <a:buChar char="•"/>
            </a:pPr>
            <a:r>
              <a:rPr lang="en-IN" dirty="0"/>
              <a:t>Cross-validation was incorporated throughout model development to reduce dependence on a single train-test split.</a:t>
            </a:r>
          </a:p>
          <a:p>
            <a:pPr marL="171450" indent="-171450">
              <a:buFont typeface="Arial" panose="020B0604020202020204" pitchFamily="34" charset="0"/>
              <a:buChar char="•"/>
            </a:pPr>
            <a:r>
              <a:rPr lang="en-IN" dirty="0"/>
              <a:t>Residual analysis and prediction error evaluation further confirmed that the final model remained well calibrated across the primary market segment without systematic prediction bias.</a:t>
            </a:r>
          </a:p>
          <a:p>
            <a:pPr marL="171450" indent="-171450">
              <a:buFont typeface="Arial" panose="020B0604020202020204" pitchFamily="34" charset="0"/>
              <a:buChar char="•"/>
            </a:pPr>
            <a:r>
              <a:rPr lang="en-IN" dirty="0"/>
              <a:t>Overall, the project demonstrates that a carefully engineered machine learning workflow can accurately predict smartphone prices while identifying the hardware characteristics that genuinely influence market value.</a:t>
            </a:r>
          </a:p>
          <a:p>
            <a:pPr marL="0" indent="0">
              <a:buFont typeface="Arial" panose="020B0604020202020204" pitchFamily="34" charset="0"/>
              <a:buNone/>
            </a:pPr>
            <a:endParaRPr lang="en-IN" dirty="0"/>
          </a:p>
          <a:p>
            <a:r>
              <a:rPr lang="en-IN" b="1" dirty="0"/>
              <a:t>Future Scope</a:t>
            </a:r>
          </a:p>
          <a:p>
            <a:r>
              <a:rPr lang="en-IN" dirty="0"/>
              <a:t>Although the developed model performs strongly, several opportunities exist for extending this work.</a:t>
            </a:r>
          </a:p>
          <a:p>
            <a:pPr marL="171450" indent="-171450">
              <a:buFont typeface="Arial" panose="020B0604020202020204" pitchFamily="34" charset="0"/>
              <a:buChar char="•"/>
            </a:pPr>
            <a:r>
              <a:rPr lang="en-IN" dirty="0"/>
              <a:t>Expanding the dataset beyond </a:t>
            </a:r>
            <a:r>
              <a:rPr lang="en-IN" b="1" dirty="0"/>
              <a:t>531 smartphones</a:t>
            </a:r>
            <a:r>
              <a:rPr lang="en-IN" dirty="0"/>
              <a:t> would improve coverage of premium flagship devices and strengthen generalisation.</a:t>
            </a:r>
          </a:p>
          <a:p>
            <a:pPr marL="171450" indent="-171450">
              <a:buFont typeface="Arial" panose="020B0604020202020204" pitchFamily="34" charset="0"/>
              <a:buChar char="•"/>
            </a:pPr>
            <a:r>
              <a:rPr lang="en-IN" dirty="0"/>
              <a:t>Incorporating temporal variables such as launch year, product age and depreciation trends would allow the model to capture changing market prices over time.</a:t>
            </a:r>
          </a:p>
          <a:p>
            <a:pPr marL="171450" indent="-171450">
              <a:buFont typeface="Arial" panose="020B0604020202020204" pitchFamily="34" charset="0"/>
              <a:buChar char="•"/>
            </a:pPr>
            <a:r>
              <a:rPr lang="en-IN" dirty="0"/>
              <a:t>Future work could also investigate more advanced ensemble approaches, including stacking and blending, to further improve predictive performance.</a:t>
            </a:r>
          </a:p>
          <a:p>
            <a:pPr marL="171450" indent="-171450">
              <a:buFont typeface="Arial" panose="020B0604020202020204" pitchFamily="34" charset="0"/>
              <a:buChar char="•"/>
            </a:pPr>
            <a:r>
              <a:rPr lang="en-IN" dirty="0"/>
              <a:t>The trained model could be deployed as a lightweight pricing application to support competitive pricing analysis, catalogue optimisation and new product launches.</a:t>
            </a:r>
          </a:p>
          <a:p>
            <a:pPr marL="171450" indent="-171450">
              <a:buFont typeface="Arial" panose="020B0604020202020204" pitchFamily="34" charset="0"/>
              <a:buChar char="•"/>
            </a:pPr>
            <a:r>
              <a:rPr lang="en-IN" dirty="0"/>
              <a:t>An interactive dashboard would improve accessibility by allowing users to enter specifications, generate predicted prices and visualise feature importance without requiring technical expertise.</a:t>
            </a:r>
          </a:p>
          <a:p>
            <a:pPr marL="171450" indent="-171450">
              <a:buFont typeface="Arial" panose="020B0604020202020204" pitchFamily="34" charset="0"/>
              <a:buChar char="•"/>
            </a:pPr>
            <a:r>
              <a:rPr lang="en-IN" dirty="0"/>
              <a:t>Finally, incorporating additional market and hardware variables—such as display refresh rate, charging speed, processor generation, software support duration, launch year, customer ratings and market demand indicators—would further improve both predictive accuracy and practical business value.</a:t>
            </a:r>
          </a:p>
          <a:p>
            <a:pPr marL="0" indent="0">
              <a:buFont typeface="Arial" panose="020B0604020202020204" pitchFamily="34" charset="0"/>
              <a:buNone/>
            </a:pPr>
            <a:endParaRPr lang="en-IN" dirty="0"/>
          </a:p>
          <a:p>
            <a:pPr marL="0" indent="0">
              <a:buFont typeface="Arial" panose="020B0604020202020204" pitchFamily="34" charset="0"/>
              <a:buNone/>
            </a:pPr>
            <a:endParaRPr lang="en-IN" dirty="0"/>
          </a:p>
          <a:p>
            <a:endParaRPr lang="en-IN" dirty="0"/>
          </a:p>
          <a:p>
            <a:endParaRPr lang="en-IN"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18CF8"/>
          </a:solidFill>
          <a:ln w="12700">
            <a:solidFill>
              <a:srgbClr val="818CF8"/>
            </a:solidFill>
            <a:prstDash val="solid"/>
          </a:ln>
        </p:spPr>
        <p:txBody>
          <a:bodyPr/>
          <a:lstStyle/>
          <a:p>
            <a:endParaRPr lang="en-IN"/>
          </a:p>
        </p:txBody>
      </p:sp>
      <p:sp>
        <p:nvSpPr>
          <p:cNvPr id="3" name="Shape 1"/>
          <p:cNvSpPr/>
          <p:nvPr/>
        </p:nvSpPr>
        <p:spPr>
          <a:xfrm>
            <a:off x="0" y="4640580"/>
            <a:ext cx="9144000" cy="502920"/>
          </a:xfrm>
          <a:prstGeom prst="rect">
            <a:avLst/>
          </a:prstGeom>
          <a:solidFill>
            <a:srgbClr val="5C33BE"/>
          </a:solidFill>
          <a:ln w="12700">
            <a:solidFill>
              <a:srgbClr val="5C33BE"/>
            </a:solidFill>
            <a:prstDash val="solid"/>
          </a:ln>
        </p:spPr>
        <p:txBody>
          <a:bodyPr/>
          <a:lstStyle/>
          <a:p>
            <a:endParaRPr lang="en-IN"/>
          </a:p>
        </p:txBody>
      </p:sp>
      <p:sp>
        <p:nvSpPr>
          <p:cNvPr id="5" name="Text 3"/>
          <p:cNvSpPr/>
          <p:nvPr/>
        </p:nvSpPr>
        <p:spPr>
          <a:xfrm>
            <a:off x="502920" y="933920"/>
            <a:ext cx="8229600" cy="1397800"/>
          </a:xfrm>
          <a:prstGeom prst="rect">
            <a:avLst/>
          </a:prstGeom>
          <a:noFill/>
          <a:ln/>
        </p:spPr>
        <p:txBody>
          <a:bodyPr wrap="square"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Smartphone Price Prediction</a:t>
            </a:r>
            <a:endParaRPr lang="en-US" sz="3800" dirty="0"/>
          </a:p>
        </p:txBody>
      </p:sp>
      <p:sp>
        <p:nvSpPr>
          <p:cNvPr id="6" name="Text 4"/>
          <p:cNvSpPr/>
          <p:nvPr/>
        </p:nvSpPr>
        <p:spPr>
          <a:xfrm>
            <a:off x="502920" y="2331720"/>
            <a:ext cx="8229600" cy="658368"/>
          </a:xfrm>
          <a:prstGeom prst="rect">
            <a:avLst/>
          </a:prstGeom>
          <a:noFill/>
          <a:ln/>
        </p:spPr>
        <p:txBody>
          <a:bodyPr wrap="square" rtlCol="0" anchor="ctr"/>
          <a:lstStyle/>
          <a:p>
            <a:pPr marL="0" indent="0" algn="l">
              <a:buNone/>
            </a:pPr>
            <a:endParaRPr lang="en-US" sz="2800" dirty="0"/>
          </a:p>
        </p:txBody>
      </p:sp>
      <p:sp>
        <p:nvSpPr>
          <p:cNvPr id="7" name="Text 5"/>
          <p:cNvSpPr/>
          <p:nvPr/>
        </p:nvSpPr>
        <p:spPr>
          <a:xfrm>
            <a:off x="502920" y="2313432"/>
            <a:ext cx="7772400" cy="347472"/>
          </a:xfrm>
          <a:prstGeom prst="rect">
            <a:avLst/>
          </a:prstGeom>
          <a:noFill/>
          <a:ln/>
        </p:spPr>
        <p:txBody>
          <a:bodyPr wrap="square" rtlCol="0" anchor="ctr"/>
          <a:lstStyle/>
          <a:p>
            <a:r>
              <a:rPr lang="en-IN" sz="1400" i="1" dirty="0">
                <a:solidFill>
                  <a:srgbClr val="CCCCFF"/>
                </a:solidFill>
                <a:latin typeface="Segoe UI" panose="020B0502040204020203" pitchFamily="34" charset="0"/>
                <a:cs typeface="Segoe UI" panose="020B0502040204020203" pitchFamily="34" charset="0"/>
              </a:rPr>
              <a:t>From Data Exploration to Business Recommendations</a:t>
            </a:r>
          </a:p>
        </p:txBody>
      </p:sp>
      <p:sp>
        <p:nvSpPr>
          <p:cNvPr id="8" name="Shape 6"/>
          <p:cNvSpPr/>
          <p:nvPr/>
        </p:nvSpPr>
        <p:spPr>
          <a:xfrm>
            <a:off x="502920" y="3547872"/>
            <a:ext cx="1600200" cy="310896"/>
          </a:xfrm>
          <a:prstGeom prst="roundRect">
            <a:avLst>
              <a:gd name="adj" fmla="val 17647"/>
            </a:avLst>
          </a:prstGeom>
          <a:solidFill>
            <a:srgbClr val="2D2B6B"/>
          </a:solidFill>
          <a:ln w="6350">
            <a:solidFill>
              <a:srgbClr val="818CF8"/>
            </a:solidFill>
            <a:prstDash val="solid"/>
          </a:ln>
        </p:spPr>
        <p:txBody>
          <a:bodyPr/>
          <a:lstStyle/>
          <a:p>
            <a:endParaRPr lang="en-IN"/>
          </a:p>
        </p:txBody>
      </p:sp>
      <p:sp>
        <p:nvSpPr>
          <p:cNvPr id="9" name="Text 7"/>
          <p:cNvSpPr/>
          <p:nvPr/>
        </p:nvSpPr>
        <p:spPr>
          <a:xfrm>
            <a:off x="502920" y="3547872"/>
            <a:ext cx="1600200" cy="310896"/>
          </a:xfrm>
          <a:prstGeom prst="rect">
            <a:avLst/>
          </a:prstGeom>
          <a:noFill/>
          <a:ln/>
        </p:spPr>
        <p:txBody>
          <a:bodyPr wrap="square" rtlCol="0" anchor="ctr"/>
          <a:lstStyle/>
          <a:p>
            <a:pPr marL="0" indent="0" algn="ctr">
              <a:buNone/>
            </a:pPr>
            <a:r>
              <a:rPr lang="en-US" sz="1000" dirty="0">
                <a:solidFill>
                  <a:srgbClr val="A5B4FC"/>
                </a:solidFill>
                <a:latin typeface="Segoe UI" panose="020B0502040204020203" pitchFamily="34" charset="0"/>
                <a:ea typeface="Calibri" pitchFamily="34" charset="-122"/>
                <a:cs typeface="Segoe UI" panose="020B0502040204020203" pitchFamily="34" charset="0"/>
              </a:rPr>
              <a:t>Data Preprocessing</a:t>
            </a:r>
            <a:endParaRPr lang="en-US" sz="1000" dirty="0">
              <a:latin typeface="Segoe UI" panose="020B0502040204020203" pitchFamily="34" charset="0"/>
              <a:cs typeface="Segoe UI" panose="020B0502040204020203" pitchFamily="34" charset="0"/>
            </a:endParaRPr>
          </a:p>
        </p:txBody>
      </p:sp>
      <p:sp>
        <p:nvSpPr>
          <p:cNvPr id="10" name="Shape 8"/>
          <p:cNvSpPr/>
          <p:nvPr/>
        </p:nvSpPr>
        <p:spPr>
          <a:xfrm>
            <a:off x="2221992" y="3547872"/>
            <a:ext cx="1600200" cy="310896"/>
          </a:xfrm>
          <a:prstGeom prst="roundRect">
            <a:avLst>
              <a:gd name="adj" fmla="val 17647"/>
            </a:avLst>
          </a:prstGeom>
          <a:solidFill>
            <a:srgbClr val="2D2B6B"/>
          </a:solidFill>
          <a:ln w="6350">
            <a:solidFill>
              <a:srgbClr val="818CF8"/>
            </a:solidFill>
            <a:prstDash val="solid"/>
          </a:ln>
        </p:spPr>
        <p:txBody>
          <a:bodyPr/>
          <a:lstStyle/>
          <a:p>
            <a:endParaRPr lang="en-IN"/>
          </a:p>
        </p:txBody>
      </p:sp>
      <p:sp>
        <p:nvSpPr>
          <p:cNvPr id="11" name="Text 9"/>
          <p:cNvSpPr/>
          <p:nvPr/>
        </p:nvSpPr>
        <p:spPr>
          <a:xfrm>
            <a:off x="2221992" y="3547872"/>
            <a:ext cx="1600200" cy="310896"/>
          </a:xfrm>
          <a:prstGeom prst="rect">
            <a:avLst/>
          </a:prstGeom>
          <a:noFill/>
          <a:ln/>
        </p:spPr>
        <p:txBody>
          <a:bodyPr wrap="square" rtlCol="0" anchor="ctr"/>
          <a:lstStyle/>
          <a:p>
            <a:pPr marL="0" indent="0" algn="ctr">
              <a:buNone/>
            </a:pPr>
            <a:r>
              <a:rPr lang="en-US" sz="1000" dirty="0">
                <a:solidFill>
                  <a:srgbClr val="A5B4FC"/>
                </a:solidFill>
                <a:latin typeface="Segoe UI" panose="020B0502040204020203" pitchFamily="34" charset="0"/>
                <a:ea typeface="Calibri" pitchFamily="34" charset="-122"/>
                <a:cs typeface="Segoe UI" panose="020B0502040204020203" pitchFamily="34" charset="0"/>
              </a:rPr>
              <a:t>Exploratory Analysis</a:t>
            </a:r>
            <a:endParaRPr lang="en-US" sz="1000" dirty="0">
              <a:latin typeface="Segoe UI" panose="020B0502040204020203" pitchFamily="34" charset="0"/>
              <a:cs typeface="Segoe UI" panose="020B0502040204020203" pitchFamily="34" charset="0"/>
            </a:endParaRPr>
          </a:p>
        </p:txBody>
      </p:sp>
      <p:sp>
        <p:nvSpPr>
          <p:cNvPr id="12" name="Shape 10"/>
          <p:cNvSpPr/>
          <p:nvPr/>
        </p:nvSpPr>
        <p:spPr>
          <a:xfrm>
            <a:off x="3941064" y="3547872"/>
            <a:ext cx="1600200" cy="310896"/>
          </a:xfrm>
          <a:prstGeom prst="roundRect">
            <a:avLst>
              <a:gd name="adj" fmla="val 17647"/>
            </a:avLst>
          </a:prstGeom>
          <a:solidFill>
            <a:srgbClr val="2D2B6B"/>
          </a:solidFill>
          <a:ln w="6350">
            <a:solidFill>
              <a:srgbClr val="818CF8"/>
            </a:solidFill>
            <a:prstDash val="solid"/>
          </a:ln>
        </p:spPr>
        <p:txBody>
          <a:bodyPr/>
          <a:lstStyle/>
          <a:p>
            <a:endParaRPr lang="en-IN"/>
          </a:p>
        </p:txBody>
      </p:sp>
      <p:sp>
        <p:nvSpPr>
          <p:cNvPr id="13" name="Text 11"/>
          <p:cNvSpPr/>
          <p:nvPr/>
        </p:nvSpPr>
        <p:spPr>
          <a:xfrm>
            <a:off x="3941064" y="3547872"/>
            <a:ext cx="1600200" cy="310896"/>
          </a:xfrm>
          <a:prstGeom prst="rect">
            <a:avLst/>
          </a:prstGeom>
          <a:noFill/>
          <a:ln/>
        </p:spPr>
        <p:txBody>
          <a:bodyPr wrap="square" rtlCol="0" anchor="ctr"/>
          <a:lstStyle/>
          <a:p>
            <a:pPr marL="0" indent="0" algn="ctr">
              <a:buNone/>
            </a:pPr>
            <a:r>
              <a:rPr lang="en-US" sz="1000" dirty="0">
                <a:solidFill>
                  <a:srgbClr val="A5B4FC"/>
                </a:solidFill>
                <a:latin typeface="Segoe UI" panose="020B0502040204020203" pitchFamily="34" charset="0"/>
                <a:ea typeface="Calibri" pitchFamily="34" charset="-122"/>
                <a:cs typeface="Segoe UI" panose="020B0502040204020203" pitchFamily="34" charset="0"/>
              </a:rPr>
              <a:t>Feature Extraction</a:t>
            </a:r>
            <a:endParaRPr lang="en-US" sz="1000" dirty="0">
              <a:latin typeface="Segoe UI" panose="020B0502040204020203" pitchFamily="34" charset="0"/>
              <a:cs typeface="Segoe UI" panose="020B0502040204020203" pitchFamily="34" charset="0"/>
            </a:endParaRPr>
          </a:p>
        </p:txBody>
      </p:sp>
      <p:sp>
        <p:nvSpPr>
          <p:cNvPr id="14" name="Shape 12"/>
          <p:cNvSpPr/>
          <p:nvPr/>
        </p:nvSpPr>
        <p:spPr>
          <a:xfrm>
            <a:off x="5660136" y="3547872"/>
            <a:ext cx="1600200" cy="310896"/>
          </a:xfrm>
          <a:prstGeom prst="roundRect">
            <a:avLst>
              <a:gd name="adj" fmla="val 17647"/>
            </a:avLst>
          </a:prstGeom>
          <a:solidFill>
            <a:srgbClr val="2D2B6B"/>
          </a:solidFill>
          <a:ln w="6350">
            <a:solidFill>
              <a:srgbClr val="818CF8"/>
            </a:solidFill>
            <a:prstDash val="solid"/>
          </a:ln>
        </p:spPr>
        <p:txBody>
          <a:bodyPr/>
          <a:lstStyle/>
          <a:p>
            <a:endParaRPr lang="en-IN"/>
          </a:p>
        </p:txBody>
      </p:sp>
      <p:sp>
        <p:nvSpPr>
          <p:cNvPr id="15" name="Text 13"/>
          <p:cNvSpPr/>
          <p:nvPr/>
        </p:nvSpPr>
        <p:spPr>
          <a:xfrm>
            <a:off x="5660136" y="3547872"/>
            <a:ext cx="1600200" cy="310896"/>
          </a:xfrm>
          <a:prstGeom prst="rect">
            <a:avLst/>
          </a:prstGeom>
          <a:noFill/>
          <a:ln/>
        </p:spPr>
        <p:txBody>
          <a:bodyPr wrap="square" rtlCol="0" anchor="ctr"/>
          <a:lstStyle/>
          <a:p>
            <a:pPr marL="0" indent="0" algn="ctr">
              <a:buNone/>
            </a:pPr>
            <a:r>
              <a:rPr lang="en-US" sz="1000" dirty="0">
                <a:solidFill>
                  <a:srgbClr val="A5B4FC"/>
                </a:solidFill>
                <a:latin typeface="Segoe UI" panose="020B0502040204020203" pitchFamily="34" charset="0"/>
                <a:ea typeface="Calibri" pitchFamily="34" charset="-122"/>
                <a:cs typeface="Segoe UI" panose="020B0502040204020203" pitchFamily="34" charset="0"/>
              </a:rPr>
              <a:t>Model Building</a:t>
            </a:r>
            <a:endParaRPr lang="en-US" sz="1000" dirty="0">
              <a:latin typeface="Segoe UI" panose="020B0502040204020203" pitchFamily="34" charset="0"/>
              <a:cs typeface="Segoe UI" panose="020B0502040204020203" pitchFamily="34" charset="0"/>
            </a:endParaRPr>
          </a:p>
        </p:txBody>
      </p:sp>
      <p:sp>
        <p:nvSpPr>
          <p:cNvPr id="16" name="Shape 14"/>
          <p:cNvSpPr/>
          <p:nvPr/>
        </p:nvSpPr>
        <p:spPr>
          <a:xfrm>
            <a:off x="7379208" y="3547872"/>
            <a:ext cx="1600200" cy="310896"/>
          </a:xfrm>
          <a:prstGeom prst="roundRect">
            <a:avLst>
              <a:gd name="adj" fmla="val 17647"/>
            </a:avLst>
          </a:prstGeom>
          <a:solidFill>
            <a:srgbClr val="2D2B6B"/>
          </a:solidFill>
          <a:ln w="6350">
            <a:solidFill>
              <a:srgbClr val="818CF8"/>
            </a:solidFill>
            <a:prstDash val="solid"/>
          </a:ln>
        </p:spPr>
        <p:txBody>
          <a:bodyPr/>
          <a:lstStyle/>
          <a:p>
            <a:endParaRPr lang="en-IN"/>
          </a:p>
        </p:txBody>
      </p:sp>
      <p:sp>
        <p:nvSpPr>
          <p:cNvPr id="17" name="Text 15"/>
          <p:cNvSpPr/>
          <p:nvPr/>
        </p:nvSpPr>
        <p:spPr>
          <a:xfrm>
            <a:off x="7379208" y="3547872"/>
            <a:ext cx="1600200" cy="310896"/>
          </a:xfrm>
          <a:prstGeom prst="rect">
            <a:avLst/>
          </a:prstGeom>
          <a:noFill/>
          <a:ln/>
        </p:spPr>
        <p:txBody>
          <a:bodyPr wrap="square" rtlCol="0" anchor="ctr"/>
          <a:lstStyle/>
          <a:p>
            <a:pPr marL="0" indent="0" algn="ctr">
              <a:buNone/>
            </a:pPr>
            <a:r>
              <a:rPr lang="en-US" sz="1000" dirty="0">
                <a:solidFill>
                  <a:srgbClr val="A5B4FC"/>
                </a:solidFill>
                <a:latin typeface="Segoe UI" panose="020B0502040204020203" pitchFamily="34" charset="0"/>
                <a:ea typeface="Calibri" pitchFamily="34" charset="-122"/>
                <a:cs typeface="Segoe UI" panose="020B0502040204020203" pitchFamily="34" charset="0"/>
              </a:rPr>
              <a:t>Recommendations</a:t>
            </a:r>
            <a:endParaRPr lang="en-US" sz="1000" dirty="0">
              <a:latin typeface="Segoe UI" panose="020B0502040204020203" pitchFamily="34" charset="0"/>
              <a:cs typeface="Segoe UI" panose="020B0502040204020203" pitchFamily="34" charset="0"/>
            </a:endParaRPr>
          </a:p>
        </p:txBody>
      </p:sp>
      <p:sp>
        <p:nvSpPr>
          <p:cNvPr id="18" name="Text 16"/>
          <p:cNvSpPr/>
          <p:nvPr/>
        </p:nvSpPr>
        <p:spPr>
          <a:xfrm>
            <a:off x="6789907" y="4631339"/>
            <a:ext cx="1988464" cy="502920"/>
          </a:xfrm>
          <a:prstGeom prst="rect">
            <a:avLst/>
          </a:prstGeom>
          <a:noFill/>
          <a:ln/>
        </p:spPr>
        <p:txBody>
          <a:bodyPr wrap="square" rtlCol="0" anchor="ctr"/>
          <a:lstStyle/>
          <a:p>
            <a:pPr marL="0" indent="0" algn="r">
              <a:buNone/>
            </a:pPr>
            <a:r>
              <a:rPr lang="en-US" sz="1400" b="1" dirty="0">
                <a:solidFill>
                  <a:srgbClr val="FFFFFF"/>
                </a:solidFill>
                <a:latin typeface="Bahnschrift" panose="020B0502040204020203" pitchFamily="34" charset="0"/>
                <a:ea typeface="Calibri" pitchFamily="34" charset="-122"/>
                <a:cs typeface="Calibri" pitchFamily="34" charset="-120"/>
              </a:rPr>
              <a:t>Yousuf S. R. Sakkaf</a:t>
            </a:r>
            <a:endParaRPr lang="en-US" sz="1400" b="1" dirty="0">
              <a:latin typeface="Bahnschrift"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268517" y="77284"/>
            <a:ext cx="8617166" cy="443308"/>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Business Understanding &amp; Dataset Overview</a:t>
            </a:r>
            <a:endParaRPr lang="en-US" sz="2800" dirty="0">
              <a:latin typeface="Bahnschrift" panose="020B0502040204020203" pitchFamily="34" charset="0"/>
            </a:endParaRPr>
          </a:p>
        </p:txBody>
      </p:sp>
      <p:sp>
        <p:nvSpPr>
          <p:cNvPr id="5" name="Shape 3"/>
          <p:cNvSpPr/>
          <p:nvPr/>
        </p:nvSpPr>
        <p:spPr>
          <a:xfrm>
            <a:off x="274320" y="713232"/>
            <a:ext cx="8595360" cy="498348"/>
          </a:xfrm>
          <a:prstGeom prst="roundRect">
            <a:avLst>
              <a:gd name="adj" fmla="val 11429"/>
            </a:avLst>
          </a:prstGeom>
          <a:solidFill>
            <a:srgbClr val="EDE9FC"/>
          </a:solidFill>
          <a:ln w="254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6" name="Text 4"/>
          <p:cNvSpPr/>
          <p:nvPr/>
        </p:nvSpPr>
        <p:spPr>
          <a:xfrm>
            <a:off x="384048" y="758952"/>
            <a:ext cx="8375904" cy="388620"/>
          </a:xfrm>
          <a:prstGeom prst="rect">
            <a:avLst/>
          </a:prstGeom>
          <a:noFill/>
          <a:ln/>
        </p:spPr>
        <p:txBody>
          <a:bodyPr wrap="square" rtlCol="0" anchor="ctr"/>
          <a:lstStyle/>
          <a:p>
            <a:pPr marL="0" indent="0" algn="ctr">
              <a:buNone/>
            </a:pPr>
            <a:r>
              <a:rPr lang="en-US" sz="1100" b="1" i="1" dirty="0">
                <a:solidFill>
                  <a:srgbClr val="3B1E8E"/>
                </a:solidFill>
                <a:latin typeface="Segoe UI" panose="020B0502040204020203" pitchFamily="34" charset="0"/>
                <a:ea typeface="Calibri" pitchFamily="34" charset="-122"/>
                <a:cs typeface="Segoe UI" panose="020B0502040204020203" pitchFamily="34" charset="0"/>
              </a:rPr>
              <a:t>" Which hardware specifications drive mobile phone prices — and can we build a model that accurately predicts price from specs alone? "</a:t>
            </a:r>
            <a:endParaRPr lang="en-US" sz="1100" dirty="0">
              <a:latin typeface="Segoe UI" panose="020B0502040204020203" pitchFamily="34" charset="0"/>
              <a:cs typeface="Segoe UI" panose="020B0502040204020203" pitchFamily="34" charset="0"/>
            </a:endParaRPr>
          </a:p>
        </p:txBody>
      </p:sp>
      <p:sp>
        <p:nvSpPr>
          <p:cNvPr id="7" name="Shape 5"/>
          <p:cNvSpPr/>
          <p:nvPr/>
        </p:nvSpPr>
        <p:spPr>
          <a:xfrm>
            <a:off x="278014" y="1308119"/>
            <a:ext cx="1707290" cy="640080"/>
          </a:xfrm>
          <a:prstGeom prst="roundRect">
            <a:avLst>
              <a:gd name="adj" fmla="val 9091"/>
            </a:avLst>
          </a:prstGeom>
          <a:solidFill>
            <a:srgbClr val="EDE9FC"/>
          </a:solidFill>
          <a:ln w="19050">
            <a:solidFill>
              <a:srgbClr val="5C33BE"/>
            </a:solidFill>
            <a:prstDash val="solid"/>
          </a:ln>
          <a:effectLst>
            <a:outerShdw blurRad="76200" dist="25400" dir="2700000" algn="bl" rotWithShape="0">
              <a:srgbClr val="000000">
                <a:alpha val="8000"/>
              </a:srgbClr>
            </a:outerShdw>
          </a:effectLst>
        </p:spPr>
        <p:txBody>
          <a:bodyPr/>
          <a:lstStyle/>
          <a:p>
            <a:endParaRPr lang="en-IN" sz="3000" dirty="0">
              <a:latin typeface="Bahnschrift" panose="020B0502040204020203" pitchFamily="34" charset="0"/>
            </a:endParaRPr>
          </a:p>
        </p:txBody>
      </p:sp>
      <p:sp>
        <p:nvSpPr>
          <p:cNvPr id="8" name="Text 6"/>
          <p:cNvSpPr/>
          <p:nvPr/>
        </p:nvSpPr>
        <p:spPr>
          <a:xfrm>
            <a:off x="703297" y="1297335"/>
            <a:ext cx="831401" cy="338328"/>
          </a:xfrm>
          <a:prstGeom prst="rect">
            <a:avLst/>
          </a:prstGeom>
          <a:noFill/>
          <a:ln/>
        </p:spPr>
        <p:txBody>
          <a:bodyPr wrap="square" rtlCol="0" anchor="ctr"/>
          <a:lstStyle/>
          <a:p>
            <a:pPr marL="0" indent="0" algn="ctr">
              <a:buNone/>
            </a:pPr>
            <a:r>
              <a:rPr lang="en-US" sz="1600" b="1" dirty="0">
                <a:solidFill>
                  <a:srgbClr val="5C33BE"/>
                </a:solidFill>
                <a:ea typeface="Calibri" pitchFamily="34" charset="-122"/>
                <a:cs typeface="Arial" panose="020B0604020202020204" pitchFamily="34" charset="0"/>
              </a:rPr>
              <a:t>541</a:t>
            </a:r>
            <a:endParaRPr lang="en-US" sz="1600" dirty="0">
              <a:cs typeface="Arial" panose="020B0604020202020204" pitchFamily="34" charset="0"/>
            </a:endParaRPr>
          </a:p>
        </p:txBody>
      </p:sp>
      <p:sp>
        <p:nvSpPr>
          <p:cNvPr id="9" name="Text 7"/>
          <p:cNvSpPr/>
          <p:nvPr/>
        </p:nvSpPr>
        <p:spPr>
          <a:xfrm>
            <a:off x="366640" y="1641436"/>
            <a:ext cx="1516322" cy="228600"/>
          </a:xfrm>
          <a:prstGeom prst="rect">
            <a:avLst/>
          </a:prstGeom>
          <a:noFill/>
          <a:ln/>
        </p:spPr>
        <p:txBody>
          <a:bodyPr wrap="square" rtlCol="0" anchor="ctr"/>
          <a:lstStyle/>
          <a:p>
            <a:pPr marL="0" indent="0" algn="ctr">
              <a:buNone/>
            </a:pPr>
            <a:r>
              <a:rPr lang="en-US" sz="1000" dirty="0">
                <a:solidFill>
                  <a:srgbClr val="4B5563"/>
                </a:solidFill>
                <a:latin typeface="Segoe UI" panose="020B0502040204020203" pitchFamily="34" charset="0"/>
                <a:ea typeface="Calibri" pitchFamily="34" charset="-122"/>
                <a:cs typeface="Segoe UI" panose="020B0502040204020203" pitchFamily="34" charset="0"/>
              </a:rPr>
              <a:t>Row Count</a:t>
            </a:r>
            <a:endParaRPr lang="en-US" sz="1000" dirty="0">
              <a:latin typeface="Segoe UI" panose="020B0502040204020203" pitchFamily="34" charset="0"/>
              <a:cs typeface="Segoe UI" panose="020B0502040204020203" pitchFamily="34" charset="0"/>
            </a:endParaRPr>
          </a:p>
        </p:txBody>
      </p:sp>
      <p:sp>
        <p:nvSpPr>
          <p:cNvPr id="10" name="Shape 8"/>
          <p:cNvSpPr/>
          <p:nvPr/>
        </p:nvSpPr>
        <p:spPr>
          <a:xfrm>
            <a:off x="2503874" y="1317615"/>
            <a:ext cx="1694102" cy="623902"/>
          </a:xfrm>
          <a:prstGeom prst="roundRect">
            <a:avLst>
              <a:gd name="adj" fmla="val 9091"/>
            </a:avLst>
          </a:prstGeom>
          <a:solidFill>
            <a:srgbClr val="EDE9FC"/>
          </a:solidFill>
          <a:ln w="1905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1" name="Text 9"/>
          <p:cNvSpPr/>
          <p:nvPr/>
        </p:nvSpPr>
        <p:spPr>
          <a:xfrm>
            <a:off x="2902691" y="1285259"/>
            <a:ext cx="744533" cy="349231"/>
          </a:xfrm>
          <a:prstGeom prst="rect">
            <a:avLst/>
          </a:prstGeom>
          <a:noFill/>
          <a:ln/>
        </p:spPr>
        <p:txBody>
          <a:bodyPr wrap="square" rtlCol="0" anchor="ctr"/>
          <a:lstStyle/>
          <a:p>
            <a:pPr marL="0" indent="0" algn="ctr">
              <a:buNone/>
            </a:pPr>
            <a:r>
              <a:rPr lang="en-US" sz="1600" b="1" dirty="0">
                <a:solidFill>
                  <a:srgbClr val="5C33BE"/>
                </a:solidFill>
                <a:ea typeface="Calibri" pitchFamily="34" charset="-122"/>
                <a:cs typeface="Arial" panose="020B0604020202020204" pitchFamily="34" charset="0"/>
              </a:rPr>
              <a:t>12</a:t>
            </a:r>
            <a:endParaRPr lang="en-US" sz="1600" dirty="0">
              <a:cs typeface="Arial" panose="020B0604020202020204" pitchFamily="34" charset="0"/>
            </a:endParaRPr>
          </a:p>
        </p:txBody>
      </p:sp>
      <p:sp>
        <p:nvSpPr>
          <p:cNvPr id="12" name="Text 10"/>
          <p:cNvSpPr/>
          <p:nvPr/>
        </p:nvSpPr>
        <p:spPr>
          <a:xfrm>
            <a:off x="2523042" y="1668780"/>
            <a:ext cx="1631322" cy="158965"/>
          </a:xfrm>
          <a:prstGeom prst="rect">
            <a:avLst/>
          </a:prstGeom>
          <a:noFill/>
          <a:ln/>
        </p:spPr>
        <p:txBody>
          <a:bodyPr wrap="square" rtlCol="0" anchor="ctr"/>
          <a:lstStyle/>
          <a:p>
            <a:pPr marL="0" indent="0" algn="ctr">
              <a:buNone/>
            </a:pPr>
            <a:r>
              <a:rPr lang="en-US" sz="1000" dirty="0">
                <a:solidFill>
                  <a:srgbClr val="4B5563"/>
                </a:solidFill>
                <a:latin typeface="Segoe UI" panose="020B0502040204020203" pitchFamily="34" charset="0"/>
                <a:ea typeface="Calibri" pitchFamily="34" charset="-122"/>
                <a:cs typeface="Segoe UI" panose="020B0502040204020203" pitchFamily="34" charset="0"/>
              </a:rPr>
              <a:t>Column Count</a:t>
            </a:r>
            <a:endParaRPr lang="en-US" sz="1000" dirty="0">
              <a:latin typeface="Segoe UI" panose="020B0502040204020203" pitchFamily="34" charset="0"/>
              <a:cs typeface="Segoe UI" panose="020B0502040204020203" pitchFamily="34" charset="0"/>
            </a:endParaRPr>
          </a:p>
        </p:txBody>
      </p:sp>
      <p:sp>
        <p:nvSpPr>
          <p:cNvPr id="13" name="Shape 11"/>
          <p:cNvSpPr/>
          <p:nvPr/>
        </p:nvSpPr>
        <p:spPr>
          <a:xfrm>
            <a:off x="4818888" y="1320780"/>
            <a:ext cx="1773936" cy="623902"/>
          </a:xfrm>
          <a:prstGeom prst="roundRect">
            <a:avLst>
              <a:gd name="adj" fmla="val 9091"/>
            </a:avLst>
          </a:prstGeom>
          <a:solidFill>
            <a:srgbClr val="EDE9FC"/>
          </a:solidFill>
          <a:ln w="1905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4" name="Text 12"/>
          <p:cNvSpPr/>
          <p:nvPr/>
        </p:nvSpPr>
        <p:spPr>
          <a:xfrm>
            <a:off x="5315829" y="1289217"/>
            <a:ext cx="689317" cy="355209"/>
          </a:xfrm>
          <a:prstGeom prst="rect">
            <a:avLst/>
          </a:prstGeom>
          <a:noFill/>
          <a:ln/>
        </p:spPr>
        <p:txBody>
          <a:bodyPr wrap="square" rtlCol="0" anchor="ctr"/>
          <a:lstStyle/>
          <a:p>
            <a:pPr marL="0" indent="0" algn="ctr">
              <a:buNone/>
            </a:pPr>
            <a:r>
              <a:rPr lang="en-US" sz="1600" b="1" dirty="0">
                <a:solidFill>
                  <a:srgbClr val="5C33BE"/>
                </a:solidFill>
                <a:ea typeface="Calibri" pitchFamily="34" charset="-122"/>
                <a:cs typeface="Arial" panose="020B0604020202020204" pitchFamily="34" charset="0"/>
              </a:rPr>
              <a:t>0</a:t>
            </a:r>
            <a:endParaRPr lang="en-US" sz="1600" dirty="0">
              <a:cs typeface="Arial" panose="020B0604020202020204" pitchFamily="34" charset="0"/>
            </a:endParaRPr>
          </a:p>
        </p:txBody>
      </p:sp>
      <p:sp>
        <p:nvSpPr>
          <p:cNvPr id="15" name="Text 13"/>
          <p:cNvSpPr/>
          <p:nvPr/>
        </p:nvSpPr>
        <p:spPr>
          <a:xfrm>
            <a:off x="4861443" y="1658053"/>
            <a:ext cx="1598088" cy="181473"/>
          </a:xfrm>
          <a:prstGeom prst="rect">
            <a:avLst/>
          </a:prstGeom>
          <a:noFill/>
          <a:ln/>
        </p:spPr>
        <p:txBody>
          <a:bodyPr wrap="square" rtlCol="0" anchor="ctr"/>
          <a:lstStyle/>
          <a:p>
            <a:pPr marL="0" indent="0" algn="ctr">
              <a:buNone/>
            </a:pPr>
            <a:r>
              <a:rPr lang="en-US" sz="1000" dirty="0">
                <a:solidFill>
                  <a:srgbClr val="4B5563"/>
                </a:solidFill>
                <a:latin typeface="Segoe UI" panose="020B0502040204020203" pitchFamily="34" charset="0"/>
                <a:ea typeface="Calibri" pitchFamily="34" charset="-122"/>
                <a:cs typeface="Segoe UI" panose="020B0502040204020203" pitchFamily="34" charset="0"/>
              </a:rPr>
              <a:t>Missing Values</a:t>
            </a:r>
            <a:endParaRPr lang="en-US" sz="1000" dirty="0">
              <a:latin typeface="Segoe UI" panose="020B0502040204020203" pitchFamily="34" charset="0"/>
              <a:cs typeface="Segoe UI" panose="020B0502040204020203" pitchFamily="34" charset="0"/>
            </a:endParaRPr>
          </a:p>
        </p:txBody>
      </p:sp>
      <p:sp>
        <p:nvSpPr>
          <p:cNvPr id="16" name="Shape 14"/>
          <p:cNvSpPr/>
          <p:nvPr/>
        </p:nvSpPr>
        <p:spPr>
          <a:xfrm>
            <a:off x="7122999" y="1309879"/>
            <a:ext cx="1742987" cy="623902"/>
          </a:xfrm>
          <a:prstGeom prst="roundRect">
            <a:avLst>
              <a:gd name="adj" fmla="val 9091"/>
            </a:avLst>
          </a:prstGeom>
          <a:solidFill>
            <a:srgbClr val="EDE9FC"/>
          </a:solidFill>
          <a:ln w="1905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7" name="Text 15"/>
          <p:cNvSpPr/>
          <p:nvPr/>
        </p:nvSpPr>
        <p:spPr>
          <a:xfrm>
            <a:off x="7142694" y="1282096"/>
            <a:ext cx="1742987" cy="335866"/>
          </a:xfrm>
          <a:prstGeom prst="rect">
            <a:avLst/>
          </a:prstGeom>
          <a:noFill/>
          <a:ln/>
        </p:spPr>
        <p:txBody>
          <a:bodyPr wrap="square" rtlCol="0" anchor="ctr"/>
          <a:lstStyle/>
          <a:p>
            <a:pPr marL="0" indent="0" algn="ctr">
              <a:buNone/>
            </a:pPr>
            <a:r>
              <a:rPr lang="en-US" sz="1600" b="1" dirty="0">
                <a:solidFill>
                  <a:srgbClr val="5C33BE"/>
                </a:solidFill>
                <a:ea typeface="Calibri" pitchFamily="34" charset="-122"/>
                <a:cs typeface="Segoe UI" panose="020B0502040204020203" pitchFamily="34" charset="0"/>
              </a:rPr>
              <a:t>₹920 – ₹80,999</a:t>
            </a:r>
            <a:endParaRPr lang="en-US" sz="1600" dirty="0">
              <a:cs typeface="Segoe UI" panose="020B0502040204020203" pitchFamily="34" charset="0"/>
            </a:endParaRPr>
          </a:p>
        </p:txBody>
      </p:sp>
      <p:sp>
        <p:nvSpPr>
          <p:cNvPr id="18" name="Text 16"/>
          <p:cNvSpPr/>
          <p:nvPr/>
        </p:nvSpPr>
        <p:spPr>
          <a:xfrm>
            <a:off x="7142695" y="1664384"/>
            <a:ext cx="1742987" cy="161075"/>
          </a:xfrm>
          <a:prstGeom prst="rect">
            <a:avLst/>
          </a:prstGeom>
          <a:noFill/>
          <a:ln/>
        </p:spPr>
        <p:txBody>
          <a:bodyPr wrap="square" rtlCol="0" anchor="ctr"/>
          <a:lstStyle/>
          <a:p>
            <a:pPr marL="0" indent="0" algn="ctr">
              <a:buNone/>
            </a:pPr>
            <a:r>
              <a:rPr lang="en-US" sz="1000" dirty="0">
                <a:solidFill>
                  <a:srgbClr val="4B5563"/>
                </a:solidFill>
                <a:latin typeface="Segoe UI" panose="020B0502040204020203" pitchFamily="34" charset="0"/>
                <a:ea typeface="Calibri" pitchFamily="34" charset="-122"/>
                <a:cs typeface="Segoe UI" panose="020B0502040204020203" pitchFamily="34" charset="0"/>
              </a:rPr>
              <a:t>Raw Price Range</a:t>
            </a:r>
            <a:endParaRPr lang="en-US" sz="1000" dirty="0">
              <a:latin typeface="Segoe UI" panose="020B0502040204020203" pitchFamily="34" charset="0"/>
              <a:cs typeface="Segoe UI" panose="020B0502040204020203" pitchFamily="34" charset="0"/>
            </a:endParaRPr>
          </a:p>
        </p:txBody>
      </p:sp>
      <p:sp>
        <p:nvSpPr>
          <p:cNvPr id="19" name="Text 17"/>
          <p:cNvSpPr/>
          <p:nvPr/>
        </p:nvSpPr>
        <p:spPr>
          <a:xfrm>
            <a:off x="225698" y="2057927"/>
            <a:ext cx="2566124" cy="185518"/>
          </a:xfrm>
          <a:prstGeom prst="rect">
            <a:avLst/>
          </a:prstGeom>
          <a:noFill/>
          <a:ln/>
        </p:spPr>
        <p:txBody>
          <a:bodyPr wrap="square" rtlCol="0" anchor="ctr"/>
          <a:lstStyle/>
          <a:p>
            <a:pPr marL="0" indent="0">
              <a:buNone/>
            </a:pPr>
            <a:r>
              <a:rPr lang="en-US" sz="1200" b="1" dirty="0">
                <a:solidFill>
                  <a:srgbClr val="1E1B4B"/>
                </a:solidFill>
                <a:latin typeface="Segoe UI" panose="020B0502040204020203" pitchFamily="34" charset="0"/>
                <a:ea typeface="Calibri" pitchFamily="34" charset="-122"/>
                <a:cs typeface="Segoe UI" panose="020B0502040204020203" pitchFamily="34" charset="0"/>
              </a:rPr>
              <a:t>Raw Dataset Columns</a:t>
            </a:r>
            <a:endParaRPr lang="en-US" sz="1200" dirty="0">
              <a:latin typeface="Segoe UI" panose="020B0502040204020203" pitchFamily="34" charset="0"/>
              <a:cs typeface="Segoe UI" panose="020B0502040204020203" pitchFamily="34" charset="0"/>
            </a:endParaRPr>
          </a:p>
        </p:txBody>
      </p:sp>
      <p:sp>
        <p:nvSpPr>
          <p:cNvPr id="20" name="Shape 18"/>
          <p:cNvSpPr/>
          <p:nvPr/>
        </p:nvSpPr>
        <p:spPr>
          <a:xfrm>
            <a:off x="296300" y="2315718"/>
            <a:ext cx="4206241" cy="237744"/>
          </a:xfrm>
          <a:prstGeom prst="rect">
            <a:avLst/>
          </a:prstGeom>
          <a:solidFill>
            <a:srgbClr val="1E1B4B"/>
          </a:solidFill>
          <a:ln w="12700">
            <a:solidFill>
              <a:srgbClr val="1E1B4B"/>
            </a:solidFill>
            <a:prstDash val="solid"/>
          </a:ln>
        </p:spPr>
        <p:txBody>
          <a:bodyPr/>
          <a:lstStyle/>
          <a:p>
            <a:endParaRPr lang="en-IN"/>
          </a:p>
        </p:txBody>
      </p:sp>
      <p:sp>
        <p:nvSpPr>
          <p:cNvPr id="21" name="Text 19"/>
          <p:cNvSpPr/>
          <p:nvPr/>
        </p:nvSpPr>
        <p:spPr>
          <a:xfrm>
            <a:off x="351166" y="2315718"/>
            <a:ext cx="1188720" cy="237744"/>
          </a:xfrm>
          <a:prstGeom prst="rect">
            <a:avLst/>
          </a:prstGeom>
          <a:noFill/>
          <a:ln/>
        </p:spPr>
        <p:txBody>
          <a:bodyPr wrap="square" rtlCol="0" anchor="ctr"/>
          <a:lstStyle/>
          <a:p>
            <a:pPr marL="0" indent="0">
              <a:buNone/>
            </a:pPr>
            <a:r>
              <a:rPr lang="en-US" sz="900" b="1" dirty="0">
                <a:solidFill>
                  <a:srgbClr val="FFFFFF"/>
                </a:solidFill>
                <a:latin typeface="Segoe UI" panose="020B0502040204020203" pitchFamily="34" charset="0"/>
                <a:ea typeface="Calibri" pitchFamily="34" charset="-122"/>
                <a:cs typeface="Segoe UI" panose="020B0502040204020203" pitchFamily="34" charset="0"/>
              </a:rPr>
              <a:t>Column</a:t>
            </a:r>
            <a:endParaRPr lang="en-US" sz="900" dirty="0">
              <a:latin typeface="Segoe UI" panose="020B0502040204020203" pitchFamily="34" charset="0"/>
              <a:cs typeface="Segoe UI" panose="020B0502040204020203" pitchFamily="34" charset="0"/>
            </a:endParaRPr>
          </a:p>
        </p:txBody>
      </p:sp>
      <p:sp>
        <p:nvSpPr>
          <p:cNvPr id="22" name="Text 20"/>
          <p:cNvSpPr/>
          <p:nvPr/>
        </p:nvSpPr>
        <p:spPr>
          <a:xfrm>
            <a:off x="1539886" y="2315718"/>
            <a:ext cx="2834640" cy="237744"/>
          </a:xfrm>
          <a:prstGeom prst="rect">
            <a:avLst/>
          </a:prstGeom>
          <a:noFill/>
          <a:ln/>
        </p:spPr>
        <p:txBody>
          <a:bodyPr wrap="square" rtlCol="0" anchor="ctr"/>
          <a:lstStyle/>
          <a:p>
            <a:pPr marL="0" indent="0">
              <a:buNone/>
            </a:pPr>
            <a:r>
              <a:rPr lang="en-US" sz="900" b="1" dirty="0">
                <a:solidFill>
                  <a:srgbClr val="FFFFFF"/>
                </a:solidFill>
                <a:latin typeface="Segoe UI" panose="020B0502040204020203" pitchFamily="34" charset="0"/>
                <a:ea typeface="Calibri" pitchFamily="34" charset="-122"/>
                <a:cs typeface="Segoe UI" panose="020B0502040204020203" pitchFamily="34" charset="0"/>
              </a:rPr>
              <a:t>Description</a:t>
            </a:r>
            <a:endParaRPr lang="en-US" sz="900" dirty="0">
              <a:latin typeface="Segoe UI" panose="020B0502040204020203" pitchFamily="34" charset="0"/>
              <a:cs typeface="Segoe UI" panose="020B0502040204020203" pitchFamily="34" charset="0"/>
            </a:endParaRPr>
          </a:p>
        </p:txBody>
      </p:sp>
      <p:sp>
        <p:nvSpPr>
          <p:cNvPr id="23" name="Shape 21"/>
          <p:cNvSpPr/>
          <p:nvPr/>
        </p:nvSpPr>
        <p:spPr>
          <a:xfrm>
            <a:off x="296302" y="2786634"/>
            <a:ext cx="4206240" cy="201168"/>
          </a:xfrm>
          <a:prstGeom prst="rect">
            <a:avLst/>
          </a:prstGeom>
          <a:solidFill>
            <a:srgbClr val="F5F4FB"/>
          </a:solidFill>
          <a:ln w="3810">
            <a:solidFill>
              <a:srgbClr val="E5E7EB"/>
            </a:solidFill>
            <a:prstDash val="solid"/>
          </a:ln>
        </p:spPr>
        <p:txBody>
          <a:bodyPr/>
          <a:lstStyle/>
          <a:p>
            <a:endParaRPr lang="en-IN" sz="900">
              <a:cs typeface="Segoe UI" panose="020B0502040204020203" pitchFamily="34" charset="0"/>
            </a:endParaRPr>
          </a:p>
        </p:txBody>
      </p:sp>
      <p:sp>
        <p:nvSpPr>
          <p:cNvPr id="24" name="Text 22"/>
          <p:cNvSpPr/>
          <p:nvPr/>
        </p:nvSpPr>
        <p:spPr>
          <a:xfrm>
            <a:off x="369454" y="2786634"/>
            <a:ext cx="1170432" cy="201168"/>
          </a:xfrm>
          <a:prstGeom prst="rect">
            <a:avLst/>
          </a:prstGeom>
          <a:noFill/>
          <a:ln/>
        </p:spPr>
        <p:txBody>
          <a:bodyPr wrap="square" rtlCol="0" anchor="ctr"/>
          <a:lstStyle/>
          <a:p>
            <a:pPr marL="0" indent="0">
              <a:buNone/>
            </a:pPr>
            <a:r>
              <a:rPr lang="en-US" sz="900" dirty="0">
                <a:solidFill>
                  <a:srgbClr val="1E1B4B"/>
                </a:solidFill>
                <a:ea typeface="Calibri" pitchFamily="34" charset="-122"/>
                <a:cs typeface="Segoe UI" panose="020B0502040204020203" pitchFamily="34" charset="0"/>
              </a:rPr>
              <a:t>Model</a:t>
            </a:r>
            <a:endParaRPr lang="en-US" sz="900" dirty="0">
              <a:cs typeface="Segoe UI" panose="020B0502040204020203" pitchFamily="34" charset="0"/>
            </a:endParaRPr>
          </a:p>
        </p:txBody>
      </p:sp>
      <p:sp>
        <p:nvSpPr>
          <p:cNvPr id="25" name="Text 23"/>
          <p:cNvSpPr/>
          <p:nvPr/>
        </p:nvSpPr>
        <p:spPr>
          <a:xfrm>
            <a:off x="1558174" y="2786634"/>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187 unique phone names</a:t>
            </a:r>
            <a:endParaRPr lang="en-US" sz="900" dirty="0">
              <a:cs typeface="Segoe UI" panose="020B0502040204020203" pitchFamily="34" charset="0"/>
            </a:endParaRPr>
          </a:p>
        </p:txBody>
      </p:sp>
      <p:sp>
        <p:nvSpPr>
          <p:cNvPr id="26" name="Shape 24"/>
          <p:cNvSpPr/>
          <p:nvPr/>
        </p:nvSpPr>
        <p:spPr>
          <a:xfrm>
            <a:off x="296302" y="2996946"/>
            <a:ext cx="4206240" cy="201168"/>
          </a:xfrm>
          <a:prstGeom prst="rect">
            <a:avLst/>
          </a:prstGeom>
          <a:solidFill>
            <a:srgbClr val="FFFFFF"/>
          </a:solidFill>
          <a:ln w="3810">
            <a:solidFill>
              <a:srgbClr val="E5E7EB"/>
            </a:solidFill>
            <a:prstDash val="solid"/>
          </a:ln>
        </p:spPr>
        <p:txBody>
          <a:bodyPr/>
          <a:lstStyle/>
          <a:p>
            <a:endParaRPr lang="en-IN" sz="900">
              <a:cs typeface="Segoe UI" panose="020B0502040204020203" pitchFamily="34" charset="0"/>
            </a:endParaRPr>
          </a:p>
        </p:txBody>
      </p:sp>
      <p:sp>
        <p:nvSpPr>
          <p:cNvPr id="27" name="Text 25"/>
          <p:cNvSpPr/>
          <p:nvPr/>
        </p:nvSpPr>
        <p:spPr>
          <a:xfrm>
            <a:off x="369454" y="2996946"/>
            <a:ext cx="1170432" cy="201168"/>
          </a:xfrm>
          <a:prstGeom prst="rect">
            <a:avLst/>
          </a:prstGeom>
          <a:noFill/>
          <a:ln/>
        </p:spPr>
        <p:txBody>
          <a:bodyPr wrap="square" rtlCol="0" anchor="ctr"/>
          <a:lstStyle/>
          <a:p>
            <a:pPr marL="0" indent="0">
              <a:buNone/>
            </a:pPr>
            <a:r>
              <a:rPr lang="en-US" sz="900" dirty="0">
                <a:solidFill>
                  <a:srgbClr val="1E1B4B"/>
                </a:solidFill>
                <a:ea typeface="Calibri" pitchFamily="34" charset="-122"/>
                <a:cs typeface="Segoe UI" panose="020B0502040204020203" pitchFamily="34" charset="0"/>
              </a:rPr>
              <a:t>Colour</a:t>
            </a:r>
            <a:endParaRPr lang="en-US" sz="900" dirty="0">
              <a:cs typeface="Segoe UI" panose="020B0502040204020203" pitchFamily="34" charset="0"/>
            </a:endParaRPr>
          </a:p>
        </p:txBody>
      </p:sp>
      <p:sp>
        <p:nvSpPr>
          <p:cNvPr id="28" name="Text 26"/>
          <p:cNvSpPr/>
          <p:nvPr/>
        </p:nvSpPr>
        <p:spPr>
          <a:xfrm>
            <a:off x="1558174" y="2996946"/>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275 unique colour variants</a:t>
            </a:r>
            <a:endParaRPr lang="en-US" sz="900" dirty="0">
              <a:cs typeface="Segoe UI" panose="020B0502040204020203" pitchFamily="34" charset="0"/>
            </a:endParaRPr>
          </a:p>
        </p:txBody>
      </p:sp>
      <p:sp>
        <p:nvSpPr>
          <p:cNvPr id="29" name="Shape 27"/>
          <p:cNvSpPr/>
          <p:nvPr/>
        </p:nvSpPr>
        <p:spPr>
          <a:xfrm>
            <a:off x="296302" y="3207258"/>
            <a:ext cx="4206240" cy="201168"/>
          </a:xfrm>
          <a:prstGeom prst="rect">
            <a:avLst/>
          </a:prstGeom>
          <a:solidFill>
            <a:srgbClr val="F5F4FB"/>
          </a:solidFill>
          <a:ln w="3810">
            <a:solidFill>
              <a:srgbClr val="E5E7EB"/>
            </a:solidFill>
            <a:prstDash val="solid"/>
          </a:ln>
        </p:spPr>
        <p:txBody>
          <a:bodyPr/>
          <a:lstStyle/>
          <a:p>
            <a:endParaRPr lang="en-IN" sz="900">
              <a:cs typeface="Segoe UI" panose="020B0502040204020203" pitchFamily="34" charset="0"/>
            </a:endParaRPr>
          </a:p>
        </p:txBody>
      </p:sp>
      <p:sp>
        <p:nvSpPr>
          <p:cNvPr id="30" name="Text 28"/>
          <p:cNvSpPr/>
          <p:nvPr/>
        </p:nvSpPr>
        <p:spPr>
          <a:xfrm>
            <a:off x="369454" y="3207258"/>
            <a:ext cx="1170432" cy="201168"/>
          </a:xfrm>
          <a:prstGeom prst="rect">
            <a:avLst/>
          </a:prstGeom>
          <a:noFill/>
          <a:ln/>
        </p:spPr>
        <p:txBody>
          <a:bodyPr wrap="square" rtlCol="0" anchor="ctr"/>
          <a:lstStyle/>
          <a:p>
            <a:pPr marL="0" indent="0">
              <a:buNone/>
            </a:pPr>
            <a:r>
              <a:rPr lang="en-US" sz="900" dirty="0">
                <a:solidFill>
                  <a:srgbClr val="1E1B4B"/>
                </a:solidFill>
                <a:ea typeface="Calibri" pitchFamily="34" charset="-122"/>
                <a:cs typeface="Segoe UI" panose="020B0502040204020203" pitchFamily="34" charset="0"/>
              </a:rPr>
              <a:t>Memory</a:t>
            </a:r>
            <a:endParaRPr lang="en-US" sz="900" dirty="0">
              <a:cs typeface="Segoe UI" panose="020B0502040204020203" pitchFamily="34" charset="0"/>
            </a:endParaRPr>
          </a:p>
        </p:txBody>
      </p:sp>
      <p:sp>
        <p:nvSpPr>
          <p:cNvPr id="31" name="Text 29"/>
          <p:cNvSpPr/>
          <p:nvPr/>
        </p:nvSpPr>
        <p:spPr>
          <a:xfrm>
            <a:off x="1558174" y="3207258"/>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Internal storage (GB)</a:t>
            </a:r>
            <a:endParaRPr lang="en-US" sz="900" dirty="0">
              <a:cs typeface="Segoe UI" panose="020B0502040204020203" pitchFamily="34" charset="0"/>
            </a:endParaRPr>
          </a:p>
        </p:txBody>
      </p:sp>
      <p:sp>
        <p:nvSpPr>
          <p:cNvPr id="32" name="Shape 30"/>
          <p:cNvSpPr/>
          <p:nvPr/>
        </p:nvSpPr>
        <p:spPr>
          <a:xfrm>
            <a:off x="296302" y="3417570"/>
            <a:ext cx="4206240" cy="201168"/>
          </a:xfrm>
          <a:prstGeom prst="rect">
            <a:avLst/>
          </a:prstGeom>
          <a:solidFill>
            <a:srgbClr val="FFFFFF"/>
          </a:solidFill>
          <a:ln w="3810">
            <a:solidFill>
              <a:srgbClr val="E5E7EB"/>
            </a:solidFill>
            <a:prstDash val="solid"/>
          </a:ln>
        </p:spPr>
        <p:txBody>
          <a:bodyPr/>
          <a:lstStyle/>
          <a:p>
            <a:endParaRPr lang="en-IN" sz="900">
              <a:cs typeface="Segoe UI" panose="020B0502040204020203" pitchFamily="34" charset="0"/>
            </a:endParaRPr>
          </a:p>
        </p:txBody>
      </p:sp>
      <p:sp>
        <p:nvSpPr>
          <p:cNvPr id="33" name="Text 31"/>
          <p:cNvSpPr/>
          <p:nvPr/>
        </p:nvSpPr>
        <p:spPr>
          <a:xfrm>
            <a:off x="369454" y="3417570"/>
            <a:ext cx="1170432" cy="201168"/>
          </a:xfrm>
          <a:prstGeom prst="rect">
            <a:avLst/>
          </a:prstGeom>
          <a:noFill/>
          <a:ln/>
        </p:spPr>
        <p:txBody>
          <a:bodyPr wrap="square" rtlCol="0" anchor="ctr"/>
          <a:lstStyle/>
          <a:p>
            <a:pPr marL="0" indent="0">
              <a:buNone/>
            </a:pPr>
            <a:r>
              <a:rPr lang="en-US" sz="900" dirty="0">
                <a:solidFill>
                  <a:srgbClr val="1E1B4B"/>
                </a:solidFill>
                <a:ea typeface="Calibri" pitchFamily="34" charset="-122"/>
                <a:cs typeface="Segoe UI" panose="020B0502040204020203" pitchFamily="34" charset="0"/>
              </a:rPr>
              <a:t>RAM</a:t>
            </a:r>
            <a:endParaRPr lang="en-US" sz="900" dirty="0">
              <a:cs typeface="Segoe UI" panose="020B0502040204020203" pitchFamily="34" charset="0"/>
            </a:endParaRPr>
          </a:p>
        </p:txBody>
      </p:sp>
      <p:sp>
        <p:nvSpPr>
          <p:cNvPr id="34" name="Text 32"/>
          <p:cNvSpPr/>
          <p:nvPr/>
        </p:nvSpPr>
        <p:spPr>
          <a:xfrm>
            <a:off x="1558174" y="3417570"/>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RAM size (GB)</a:t>
            </a:r>
            <a:endParaRPr lang="en-US" sz="900" dirty="0">
              <a:cs typeface="Segoe UI" panose="020B0502040204020203" pitchFamily="34" charset="0"/>
            </a:endParaRPr>
          </a:p>
        </p:txBody>
      </p:sp>
      <p:sp>
        <p:nvSpPr>
          <p:cNvPr id="35" name="Shape 33"/>
          <p:cNvSpPr/>
          <p:nvPr/>
        </p:nvSpPr>
        <p:spPr>
          <a:xfrm>
            <a:off x="296302" y="3627882"/>
            <a:ext cx="4206240" cy="201168"/>
          </a:xfrm>
          <a:prstGeom prst="rect">
            <a:avLst/>
          </a:prstGeom>
          <a:solidFill>
            <a:srgbClr val="F5F4FB"/>
          </a:solidFill>
          <a:ln w="3810">
            <a:solidFill>
              <a:srgbClr val="E5E7EB"/>
            </a:solidFill>
            <a:prstDash val="solid"/>
          </a:ln>
        </p:spPr>
        <p:txBody>
          <a:bodyPr/>
          <a:lstStyle/>
          <a:p>
            <a:endParaRPr lang="en-IN" sz="900">
              <a:cs typeface="Segoe UI" panose="020B0502040204020203" pitchFamily="34" charset="0"/>
            </a:endParaRPr>
          </a:p>
        </p:txBody>
      </p:sp>
      <p:sp>
        <p:nvSpPr>
          <p:cNvPr id="36" name="Text 34"/>
          <p:cNvSpPr/>
          <p:nvPr/>
        </p:nvSpPr>
        <p:spPr>
          <a:xfrm>
            <a:off x="369454" y="3627882"/>
            <a:ext cx="1170432" cy="201168"/>
          </a:xfrm>
          <a:prstGeom prst="rect">
            <a:avLst/>
          </a:prstGeom>
          <a:noFill/>
          <a:ln/>
        </p:spPr>
        <p:txBody>
          <a:bodyPr wrap="square" rtlCol="0" anchor="ctr"/>
          <a:lstStyle/>
          <a:p>
            <a:pPr marL="0" indent="0">
              <a:buNone/>
            </a:pPr>
            <a:r>
              <a:rPr lang="en-US" sz="900" dirty="0">
                <a:solidFill>
                  <a:srgbClr val="1E1B4B"/>
                </a:solidFill>
                <a:ea typeface="Calibri" pitchFamily="34" charset="-122"/>
                <a:cs typeface="Segoe UI" panose="020B0502040204020203" pitchFamily="34" charset="0"/>
              </a:rPr>
              <a:t>Battery_</a:t>
            </a:r>
            <a:endParaRPr lang="en-US" sz="900" dirty="0">
              <a:cs typeface="Segoe UI" panose="020B0502040204020203" pitchFamily="34" charset="0"/>
            </a:endParaRPr>
          </a:p>
        </p:txBody>
      </p:sp>
      <p:sp>
        <p:nvSpPr>
          <p:cNvPr id="37" name="Text 35"/>
          <p:cNvSpPr/>
          <p:nvPr/>
        </p:nvSpPr>
        <p:spPr>
          <a:xfrm>
            <a:off x="1558174" y="3627882"/>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Battery capacity (mAh)</a:t>
            </a:r>
            <a:endParaRPr lang="en-US" sz="900" dirty="0">
              <a:cs typeface="Segoe UI" panose="020B0502040204020203" pitchFamily="34" charset="0"/>
            </a:endParaRPr>
          </a:p>
        </p:txBody>
      </p:sp>
      <p:sp>
        <p:nvSpPr>
          <p:cNvPr id="38" name="Shape 36"/>
          <p:cNvSpPr/>
          <p:nvPr/>
        </p:nvSpPr>
        <p:spPr>
          <a:xfrm>
            <a:off x="296302" y="3838194"/>
            <a:ext cx="4206240" cy="201168"/>
          </a:xfrm>
          <a:prstGeom prst="rect">
            <a:avLst/>
          </a:prstGeom>
          <a:solidFill>
            <a:srgbClr val="FFFFFF"/>
          </a:solidFill>
          <a:ln w="3810">
            <a:solidFill>
              <a:srgbClr val="E5E7EB"/>
            </a:solidFill>
            <a:prstDash val="solid"/>
          </a:ln>
        </p:spPr>
        <p:txBody>
          <a:bodyPr/>
          <a:lstStyle/>
          <a:p>
            <a:endParaRPr lang="en-IN" sz="900">
              <a:cs typeface="Segoe UI" panose="020B0502040204020203" pitchFamily="34" charset="0"/>
            </a:endParaRPr>
          </a:p>
        </p:txBody>
      </p:sp>
      <p:sp>
        <p:nvSpPr>
          <p:cNvPr id="39" name="Text 37"/>
          <p:cNvSpPr/>
          <p:nvPr/>
        </p:nvSpPr>
        <p:spPr>
          <a:xfrm>
            <a:off x="369454" y="3838194"/>
            <a:ext cx="1170432" cy="201168"/>
          </a:xfrm>
          <a:prstGeom prst="rect">
            <a:avLst/>
          </a:prstGeom>
          <a:noFill/>
          <a:ln/>
        </p:spPr>
        <p:txBody>
          <a:bodyPr wrap="square" rtlCol="0" anchor="ctr"/>
          <a:lstStyle/>
          <a:p>
            <a:pPr marL="0" indent="0">
              <a:buNone/>
            </a:pPr>
            <a:r>
              <a:rPr lang="en-US" sz="900" dirty="0">
                <a:solidFill>
                  <a:srgbClr val="1E1B4B"/>
                </a:solidFill>
                <a:ea typeface="Calibri" pitchFamily="34" charset="-122"/>
                <a:cs typeface="Segoe UI" panose="020B0502040204020203" pitchFamily="34" charset="0"/>
              </a:rPr>
              <a:t>Rear Camera</a:t>
            </a:r>
            <a:endParaRPr lang="en-US" sz="900" dirty="0">
              <a:cs typeface="Segoe UI" panose="020B0502040204020203" pitchFamily="34" charset="0"/>
            </a:endParaRPr>
          </a:p>
        </p:txBody>
      </p:sp>
      <p:sp>
        <p:nvSpPr>
          <p:cNvPr id="40" name="Text 38"/>
          <p:cNvSpPr/>
          <p:nvPr/>
        </p:nvSpPr>
        <p:spPr>
          <a:xfrm>
            <a:off x="1558174" y="3838194"/>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String format — MP extraction needed</a:t>
            </a:r>
            <a:endParaRPr lang="en-US" sz="900" dirty="0">
              <a:cs typeface="Segoe UI" panose="020B0502040204020203" pitchFamily="34" charset="0"/>
            </a:endParaRPr>
          </a:p>
        </p:txBody>
      </p:sp>
      <p:sp>
        <p:nvSpPr>
          <p:cNvPr id="41" name="Shape 39"/>
          <p:cNvSpPr/>
          <p:nvPr/>
        </p:nvSpPr>
        <p:spPr>
          <a:xfrm>
            <a:off x="296302" y="4048506"/>
            <a:ext cx="4206240" cy="201168"/>
          </a:xfrm>
          <a:prstGeom prst="rect">
            <a:avLst/>
          </a:prstGeom>
          <a:solidFill>
            <a:srgbClr val="F5F4FB"/>
          </a:solidFill>
          <a:ln w="3810">
            <a:solidFill>
              <a:srgbClr val="E5E7EB"/>
            </a:solidFill>
            <a:prstDash val="solid"/>
          </a:ln>
        </p:spPr>
        <p:txBody>
          <a:bodyPr/>
          <a:lstStyle/>
          <a:p>
            <a:endParaRPr lang="en-IN" sz="900">
              <a:cs typeface="Segoe UI" panose="020B0502040204020203" pitchFamily="34" charset="0"/>
            </a:endParaRPr>
          </a:p>
        </p:txBody>
      </p:sp>
      <p:sp>
        <p:nvSpPr>
          <p:cNvPr id="42" name="Text 40"/>
          <p:cNvSpPr/>
          <p:nvPr/>
        </p:nvSpPr>
        <p:spPr>
          <a:xfrm>
            <a:off x="369454" y="4048506"/>
            <a:ext cx="1170432" cy="201168"/>
          </a:xfrm>
          <a:prstGeom prst="rect">
            <a:avLst/>
          </a:prstGeom>
          <a:noFill/>
          <a:ln/>
        </p:spPr>
        <p:txBody>
          <a:bodyPr wrap="square" rtlCol="0" anchor="ctr"/>
          <a:lstStyle/>
          <a:p>
            <a:pPr marL="0" indent="0">
              <a:buNone/>
            </a:pPr>
            <a:endParaRPr lang="en-US" sz="900" dirty="0">
              <a:cs typeface="Segoe UI" panose="020B0502040204020203" pitchFamily="34" charset="0"/>
            </a:endParaRPr>
          </a:p>
        </p:txBody>
      </p:sp>
      <p:sp>
        <p:nvSpPr>
          <p:cNvPr id="43" name="Text 41"/>
          <p:cNvSpPr/>
          <p:nvPr/>
        </p:nvSpPr>
        <p:spPr>
          <a:xfrm>
            <a:off x="1558174" y="4048506"/>
            <a:ext cx="2834640" cy="201168"/>
          </a:xfrm>
          <a:prstGeom prst="rect">
            <a:avLst/>
          </a:prstGeom>
          <a:noFill/>
          <a:ln/>
        </p:spPr>
        <p:txBody>
          <a:bodyPr wrap="square" rtlCol="0" anchor="ctr"/>
          <a:lstStyle/>
          <a:p>
            <a:pPr marL="0" indent="0">
              <a:buNone/>
            </a:pPr>
            <a:endParaRPr lang="en-US" sz="900" dirty="0">
              <a:cs typeface="Segoe UI" panose="020B0502040204020203" pitchFamily="34" charset="0"/>
            </a:endParaRPr>
          </a:p>
        </p:txBody>
      </p:sp>
      <p:sp>
        <p:nvSpPr>
          <p:cNvPr id="44" name="Shape 42"/>
          <p:cNvSpPr/>
          <p:nvPr/>
        </p:nvSpPr>
        <p:spPr>
          <a:xfrm>
            <a:off x="296302" y="4258818"/>
            <a:ext cx="4206240" cy="201168"/>
          </a:xfrm>
          <a:prstGeom prst="rect">
            <a:avLst/>
          </a:prstGeom>
          <a:solidFill>
            <a:srgbClr val="FFFFFF"/>
          </a:solidFill>
          <a:ln w="3810">
            <a:solidFill>
              <a:srgbClr val="E5E7EB"/>
            </a:solidFill>
            <a:prstDash val="solid"/>
          </a:ln>
        </p:spPr>
        <p:txBody>
          <a:bodyPr/>
          <a:lstStyle/>
          <a:p>
            <a:endParaRPr lang="en-IN" sz="900">
              <a:cs typeface="Segoe UI" panose="020B0502040204020203" pitchFamily="34" charset="0"/>
            </a:endParaRPr>
          </a:p>
        </p:txBody>
      </p:sp>
      <p:sp>
        <p:nvSpPr>
          <p:cNvPr id="45" name="Text 43"/>
          <p:cNvSpPr/>
          <p:nvPr/>
        </p:nvSpPr>
        <p:spPr>
          <a:xfrm>
            <a:off x="369454" y="4258818"/>
            <a:ext cx="1170432" cy="201168"/>
          </a:xfrm>
          <a:prstGeom prst="rect">
            <a:avLst/>
          </a:prstGeom>
          <a:noFill/>
          <a:ln/>
        </p:spPr>
        <p:txBody>
          <a:bodyPr wrap="square" rtlCol="0" anchor="ctr"/>
          <a:lstStyle/>
          <a:p>
            <a:r>
              <a:rPr lang="en-US" sz="900" dirty="0">
                <a:solidFill>
                  <a:srgbClr val="1E1B4B"/>
                </a:solidFill>
                <a:ea typeface="Calibri" pitchFamily="34" charset="-122"/>
                <a:cs typeface="Segoe UI" panose="020B0502040204020203" pitchFamily="34" charset="0"/>
              </a:rPr>
              <a:t>AI Lens</a:t>
            </a:r>
            <a:endParaRPr lang="en-US" sz="900" dirty="0">
              <a:cs typeface="Segoe UI" panose="020B0502040204020203" pitchFamily="34" charset="0"/>
            </a:endParaRPr>
          </a:p>
        </p:txBody>
      </p:sp>
      <p:sp>
        <p:nvSpPr>
          <p:cNvPr id="46" name="Text 44"/>
          <p:cNvSpPr/>
          <p:nvPr/>
        </p:nvSpPr>
        <p:spPr>
          <a:xfrm>
            <a:off x="1558174" y="4258818"/>
            <a:ext cx="2834640" cy="201168"/>
          </a:xfrm>
          <a:prstGeom prst="rect">
            <a:avLst/>
          </a:prstGeom>
          <a:noFill/>
          <a:ln/>
        </p:spPr>
        <p:txBody>
          <a:bodyPr wrap="square" rtlCol="0" anchor="ctr"/>
          <a:lstStyle/>
          <a:p>
            <a:r>
              <a:rPr lang="en-US" sz="900" dirty="0">
                <a:solidFill>
                  <a:srgbClr val="4B5563"/>
                </a:solidFill>
                <a:ea typeface="Calibri" pitchFamily="34" charset="-122"/>
                <a:cs typeface="Segoe UI" panose="020B0502040204020203" pitchFamily="34" charset="0"/>
              </a:rPr>
              <a:t>Binary: 0 = No, 1 = Yes</a:t>
            </a:r>
            <a:endParaRPr lang="en-US" sz="900" dirty="0">
              <a:cs typeface="Segoe UI" panose="020B0502040204020203" pitchFamily="34" charset="0"/>
            </a:endParaRPr>
          </a:p>
        </p:txBody>
      </p:sp>
      <p:sp>
        <p:nvSpPr>
          <p:cNvPr id="47" name="Shape 45"/>
          <p:cNvSpPr/>
          <p:nvPr/>
        </p:nvSpPr>
        <p:spPr>
          <a:xfrm>
            <a:off x="296302" y="4469130"/>
            <a:ext cx="4206240" cy="201168"/>
          </a:xfrm>
          <a:prstGeom prst="rect">
            <a:avLst/>
          </a:prstGeom>
          <a:solidFill>
            <a:srgbClr val="F5F4FB"/>
          </a:solidFill>
          <a:ln w="3810">
            <a:solidFill>
              <a:srgbClr val="E5E7EB"/>
            </a:solidFill>
            <a:prstDash val="solid"/>
          </a:ln>
        </p:spPr>
        <p:txBody>
          <a:bodyPr/>
          <a:lstStyle/>
          <a:p>
            <a:endParaRPr lang="en-IN" sz="900" dirty="0">
              <a:cs typeface="Segoe UI" panose="020B0502040204020203" pitchFamily="34" charset="0"/>
            </a:endParaRPr>
          </a:p>
        </p:txBody>
      </p:sp>
      <p:sp>
        <p:nvSpPr>
          <p:cNvPr id="48" name="Text 46"/>
          <p:cNvSpPr/>
          <p:nvPr/>
        </p:nvSpPr>
        <p:spPr>
          <a:xfrm>
            <a:off x="369454" y="4469130"/>
            <a:ext cx="1170432" cy="201168"/>
          </a:xfrm>
          <a:prstGeom prst="rect">
            <a:avLst/>
          </a:prstGeom>
          <a:noFill/>
          <a:ln/>
        </p:spPr>
        <p:txBody>
          <a:bodyPr wrap="square" rtlCol="0" anchor="ctr"/>
          <a:lstStyle/>
          <a:p>
            <a:pPr marL="0" indent="0">
              <a:buNone/>
            </a:pPr>
            <a:endParaRPr lang="en-US" sz="900" dirty="0">
              <a:cs typeface="Segoe UI" panose="020B0502040204020203" pitchFamily="34" charset="0"/>
            </a:endParaRPr>
          </a:p>
        </p:txBody>
      </p:sp>
      <p:sp>
        <p:nvSpPr>
          <p:cNvPr id="49" name="Text 47"/>
          <p:cNvSpPr/>
          <p:nvPr/>
        </p:nvSpPr>
        <p:spPr>
          <a:xfrm>
            <a:off x="1558174" y="4469130"/>
            <a:ext cx="2834640" cy="201168"/>
          </a:xfrm>
          <a:prstGeom prst="rect">
            <a:avLst/>
          </a:prstGeom>
          <a:noFill/>
          <a:ln/>
        </p:spPr>
        <p:txBody>
          <a:bodyPr wrap="square" rtlCol="0" anchor="ctr"/>
          <a:lstStyle/>
          <a:p>
            <a:pPr marL="0" indent="0">
              <a:buNone/>
            </a:pPr>
            <a:endParaRPr lang="en-US" sz="900" dirty="0">
              <a:cs typeface="Segoe UI" panose="020B0502040204020203" pitchFamily="34" charset="0"/>
            </a:endParaRPr>
          </a:p>
        </p:txBody>
      </p:sp>
      <p:sp>
        <p:nvSpPr>
          <p:cNvPr id="50" name="Shape 48"/>
          <p:cNvSpPr/>
          <p:nvPr/>
        </p:nvSpPr>
        <p:spPr>
          <a:xfrm>
            <a:off x="296302" y="4679442"/>
            <a:ext cx="4206240" cy="201168"/>
          </a:xfrm>
          <a:prstGeom prst="rect">
            <a:avLst/>
          </a:prstGeom>
          <a:solidFill>
            <a:srgbClr val="FFFFFF"/>
          </a:solidFill>
          <a:ln w="3810">
            <a:solidFill>
              <a:srgbClr val="E5E7EB"/>
            </a:solidFill>
            <a:prstDash val="solid"/>
          </a:ln>
        </p:spPr>
        <p:txBody>
          <a:bodyPr/>
          <a:lstStyle/>
          <a:p>
            <a:endParaRPr lang="en-IN" sz="900">
              <a:cs typeface="Segoe UI" panose="020B0502040204020203" pitchFamily="34" charset="0"/>
            </a:endParaRPr>
          </a:p>
        </p:txBody>
      </p:sp>
      <p:sp>
        <p:nvSpPr>
          <p:cNvPr id="51" name="Text 49"/>
          <p:cNvSpPr/>
          <p:nvPr/>
        </p:nvSpPr>
        <p:spPr>
          <a:xfrm>
            <a:off x="369454" y="4679442"/>
            <a:ext cx="1170432" cy="201168"/>
          </a:xfrm>
          <a:prstGeom prst="rect">
            <a:avLst/>
          </a:prstGeom>
          <a:noFill/>
          <a:ln/>
        </p:spPr>
        <p:txBody>
          <a:bodyPr wrap="square" rtlCol="0" anchor="ctr"/>
          <a:lstStyle/>
          <a:p>
            <a:r>
              <a:rPr lang="en-US" sz="900" dirty="0">
                <a:solidFill>
                  <a:srgbClr val="1E1B4B"/>
                </a:solidFill>
                <a:ea typeface="Calibri" pitchFamily="34" charset="-122"/>
                <a:cs typeface="Segoe UI" panose="020B0502040204020203" pitchFamily="34" charset="0"/>
              </a:rPr>
              <a:t>Processor_</a:t>
            </a:r>
            <a:endParaRPr lang="en-US" sz="900" dirty="0">
              <a:cs typeface="Segoe UI" panose="020B0502040204020203" pitchFamily="34" charset="0"/>
            </a:endParaRPr>
          </a:p>
        </p:txBody>
      </p:sp>
      <p:sp>
        <p:nvSpPr>
          <p:cNvPr id="52" name="Text 50"/>
          <p:cNvSpPr/>
          <p:nvPr/>
        </p:nvSpPr>
        <p:spPr>
          <a:xfrm>
            <a:off x="1558174" y="4679442"/>
            <a:ext cx="2834640" cy="201168"/>
          </a:xfrm>
          <a:prstGeom prst="rect">
            <a:avLst/>
          </a:prstGeom>
          <a:noFill/>
          <a:ln/>
        </p:spPr>
        <p:txBody>
          <a:bodyPr wrap="square" rtlCol="0" anchor="ctr"/>
          <a:lstStyle/>
          <a:p>
            <a:r>
              <a:rPr lang="en-US" sz="900" dirty="0">
                <a:solidFill>
                  <a:srgbClr val="4B5563"/>
                </a:solidFill>
                <a:ea typeface="Calibri" pitchFamily="34" charset="-122"/>
                <a:cs typeface="Segoe UI" panose="020B0502040204020203" pitchFamily="34" charset="0"/>
              </a:rPr>
              <a:t>Full processor string — brand extraction needed</a:t>
            </a:r>
            <a:endParaRPr lang="en-US" sz="900" dirty="0">
              <a:cs typeface="Segoe UI" panose="020B0502040204020203" pitchFamily="34" charset="0"/>
            </a:endParaRPr>
          </a:p>
        </p:txBody>
      </p:sp>
      <p:sp>
        <p:nvSpPr>
          <p:cNvPr id="55" name="Text 53"/>
          <p:cNvSpPr/>
          <p:nvPr/>
        </p:nvSpPr>
        <p:spPr>
          <a:xfrm>
            <a:off x="4818888" y="2651760"/>
            <a:ext cx="3895344" cy="310896"/>
          </a:xfrm>
          <a:prstGeom prst="rect">
            <a:avLst/>
          </a:prstGeom>
          <a:noFill/>
          <a:ln/>
        </p:spPr>
        <p:txBody>
          <a:bodyPr wrap="square" rtlCol="0" anchor="ctr"/>
          <a:lstStyle/>
          <a:p>
            <a:pPr marL="0" indent="0">
              <a:buNone/>
            </a:pPr>
            <a:endParaRPr lang="en-US" sz="900" dirty="0"/>
          </a:p>
        </p:txBody>
      </p:sp>
      <p:sp>
        <p:nvSpPr>
          <p:cNvPr id="57" name="Text 55"/>
          <p:cNvSpPr/>
          <p:nvPr/>
        </p:nvSpPr>
        <p:spPr>
          <a:xfrm>
            <a:off x="4818888" y="2999232"/>
            <a:ext cx="3895344" cy="310896"/>
          </a:xfrm>
          <a:prstGeom prst="rect">
            <a:avLst/>
          </a:prstGeom>
          <a:noFill/>
          <a:ln/>
        </p:spPr>
        <p:txBody>
          <a:bodyPr wrap="square" rtlCol="0" anchor="ctr"/>
          <a:lstStyle/>
          <a:p>
            <a:pPr marL="0" indent="0">
              <a:buNone/>
            </a:pPr>
            <a:endParaRPr lang="en-US" sz="900" dirty="0"/>
          </a:p>
        </p:txBody>
      </p:sp>
      <p:sp>
        <p:nvSpPr>
          <p:cNvPr id="59" name="Text 57"/>
          <p:cNvSpPr/>
          <p:nvPr/>
        </p:nvSpPr>
        <p:spPr>
          <a:xfrm>
            <a:off x="4818888" y="3346704"/>
            <a:ext cx="3895344" cy="310896"/>
          </a:xfrm>
          <a:prstGeom prst="rect">
            <a:avLst/>
          </a:prstGeom>
          <a:noFill/>
          <a:ln/>
        </p:spPr>
        <p:txBody>
          <a:bodyPr wrap="square" rtlCol="0" anchor="ctr"/>
          <a:lstStyle/>
          <a:p>
            <a:pPr marL="0" indent="0">
              <a:buNone/>
            </a:pPr>
            <a:endParaRPr lang="en-US" sz="900" dirty="0"/>
          </a:p>
        </p:txBody>
      </p:sp>
      <p:sp>
        <p:nvSpPr>
          <p:cNvPr id="61" name="Text 59"/>
          <p:cNvSpPr/>
          <p:nvPr/>
        </p:nvSpPr>
        <p:spPr>
          <a:xfrm>
            <a:off x="4818888" y="3694176"/>
            <a:ext cx="3895344" cy="310896"/>
          </a:xfrm>
          <a:prstGeom prst="rect">
            <a:avLst/>
          </a:prstGeom>
          <a:noFill/>
          <a:ln/>
        </p:spPr>
        <p:txBody>
          <a:bodyPr wrap="square" rtlCol="0" anchor="ctr"/>
          <a:lstStyle/>
          <a:p>
            <a:pPr marL="0" indent="0">
              <a:buNone/>
            </a:pPr>
            <a:endParaRPr lang="en-US" sz="900" dirty="0"/>
          </a:p>
        </p:txBody>
      </p:sp>
      <p:sp>
        <p:nvSpPr>
          <p:cNvPr id="63" name="Text 61"/>
          <p:cNvSpPr/>
          <p:nvPr/>
        </p:nvSpPr>
        <p:spPr>
          <a:xfrm>
            <a:off x="4818888" y="4041648"/>
            <a:ext cx="3895344" cy="310896"/>
          </a:xfrm>
          <a:prstGeom prst="rect">
            <a:avLst/>
          </a:prstGeom>
          <a:noFill/>
          <a:ln/>
        </p:spPr>
        <p:txBody>
          <a:bodyPr wrap="square" rtlCol="0" anchor="ctr"/>
          <a:lstStyle/>
          <a:p>
            <a:pPr marL="0" indent="0">
              <a:buNone/>
            </a:pPr>
            <a:endParaRPr lang="en-US" sz="900" dirty="0"/>
          </a:p>
        </p:txBody>
      </p:sp>
      <p:sp>
        <p:nvSpPr>
          <p:cNvPr id="65" name="Text 63"/>
          <p:cNvSpPr/>
          <p:nvPr/>
        </p:nvSpPr>
        <p:spPr>
          <a:xfrm>
            <a:off x="4818888" y="4389120"/>
            <a:ext cx="3895344" cy="310896"/>
          </a:xfrm>
          <a:prstGeom prst="rect">
            <a:avLst/>
          </a:prstGeom>
          <a:noFill/>
          <a:ln/>
        </p:spPr>
        <p:txBody>
          <a:bodyPr wrap="square" rtlCol="0" anchor="ctr"/>
          <a:lstStyle/>
          <a:p>
            <a:pPr marL="0" indent="0">
              <a:buNone/>
            </a:pPr>
            <a:endParaRPr lang="en-US" sz="900" dirty="0"/>
          </a:p>
        </p:txBody>
      </p:sp>
      <p:sp>
        <p:nvSpPr>
          <p:cNvPr id="67" name="Text 65"/>
          <p:cNvSpPr/>
          <p:nvPr/>
        </p:nvSpPr>
        <p:spPr>
          <a:xfrm>
            <a:off x="4818888" y="4736592"/>
            <a:ext cx="3895344" cy="310896"/>
          </a:xfrm>
          <a:prstGeom prst="rect">
            <a:avLst/>
          </a:prstGeom>
          <a:noFill/>
          <a:ln/>
        </p:spPr>
        <p:txBody>
          <a:bodyPr wrap="square" rtlCol="0" anchor="ctr"/>
          <a:lstStyle/>
          <a:p>
            <a:pPr marL="0" indent="0">
              <a:buNone/>
            </a:pPr>
            <a:endParaRPr lang="en-US" sz="900" dirty="0"/>
          </a:p>
        </p:txBody>
      </p:sp>
      <p:sp>
        <p:nvSpPr>
          <p:cNvPr id="70" name="Shape 3">
            <a:extLst>
              <a:ext uri="{FF2B5EF4-FFF2-40B4-BE49-F238E27FC236}">
                <a16:creationId xmlns:a16="http://schemas.microsoft.com/office/drawing/2014/main" id="{46A5D001-3475-FB2D-E688-C7BE0B9C1668}"/>
              </a:ext>
            </a:extLst>
          </p:cNvPr>
          <p:cNvSpPr/>
          <p:nvPr/>
        </p:nvSpPr>
        <p:spPr>
          <a:xfrm>
            <a:off x="4700016" y="2315718"/>
            <a:ext cx="4169664" cy="2753868"/>
          </a:xfrm>
          <a:prstGeom prst="roundRect">
            <a:avLst>
              <a:gd name="adj" fmla="val 2041"/>
            </a:avLst>
          </a:prstGeom>
          <a:solidFill>
            <a:srgbClr val="E7E7F5"/>
          </a:solidFill>
          <a:ln w="19050">
            <a:solidFill>
              <a:srgbClr val="6200C4"/>
            </a:solidFill>
            <a:prstDash val="solid"/>
          </a:ln>
        </p:spPr>
        <p:txBody>
          <a:bodyPr/>
          <a:lstStyle/>
          <a:p>
            <a:r>
              <a:rPr lang="en-US" sz="1200" b="1" dirty="0">
                <a:solidFill>
                  <a:srgbClr val="1E1B4B"/>
                </a:solidFill>
                <a:latin typeface="Segoe UI" panose="020B0502040204020203" pitchFamily="34" charset="0"/>
                <a:ea typeface="Calibri" pitchFamily="34" charset="-122"/>
                <a:cs typeface="Segoe UI" panose="020B0502040204020203" pitchFamily="34" charset="0"/>
              </a:rPr>
              <a:t>Project Objectives</a:t>
            </a:r>
          </a:p>
          <a:p>
            <a:endParaRPr lang="en-US" sz="1200" dirty="0">
              <a:latin typeface="Segoe UI" panose="020B0502040204020203" pitchFamily="34" charset="0"/>
              <a:cs typeface="Segoe UI" panose="020B0502040204020203" pitchFamily="34" charset="0"/>
            </a:endParaRPr>
          </a:p>
          <a:p>
            <a:pPr marL="171450" indent="-171450">
              <a:lnSpc>
                <a:spcPct val="150000"/>
              </a:lnSpc>
              <a:spcBef>
                <a:spcPts val="120"/>
              </a:spcBef>
              <a:spcAft>
                <a:spcPts val="160"/>
              </a:spcAft>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Preprocess and clean raw smartphone specs dataset.</a:t>
            </a:r>
          </a:p>
          <a:p>
            <a:pPr marL="171450" indent="-171450">
              <a:lnSpc>
                <a:spcPct val="150000"/>
              </a:lnSpc>
              <a:spcBef>
                <a:spcPts val="120"/>
              </a:spcBef>
              <a:spcAft>
                <a:spcPts val="160"/>
              </a:spcAft>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Engineer meaningful features from raw specs strings. </a:t>
            </a:r>
          </a:p>
          <a:p>
            <a:pPr marL="171450" indent="-171450">
              <a:lnSpc>
                <a:spcPct val="150000"/>
              </a:lnSpc>
              <a:spcBef>
                <a:spcPts val="120"/>
              </a:spcBef>
              <a:spcAft>
                <a:spcPts val="160"/>
              </a:spcAft>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Identify and screen features using three complementary methods.</a:t>
            </a:r>
          </a:p>
          <a:p>
            <a:pPr marL="171450" indent="-171450">
              <a:lnSpc>
                <a:spcPct val="150000"/>
              </a:lnSpc>
              <a:spcBef>
                <a:spcPts val="120"/>
              </a:spcBef>
              <a:spcAft>
                <a:spcPts val="160"/>
              </a:spcAft>
              <a:buFont typeface="Arial" panose="020B0604020202020204" pitchFamily="34" charset="0"/>
              <a:buChar char="•"/>
            </a:pPr>
            <a:r>
              <a:rPr lang="en-US" sz="1000" dirty="0">
                <a:solidFill>
                  <a:srgbClr val="4B5563"/>
                </a:solidFill>
                <a:latin typeface="Segoe UI" panose="020B0502040204020203" pitchFamily="34" charset="0"/>
                <a:ea typeface="Calibri" pitchFamily="34" charset="-122"/>
                <a:cs typeface="Segoe UI" panose="020B0502040204020203" pitchFamily="34" charset="0"/>
              </a:rPr>
              <a:t>Resolve method conflicts through empirical experiments.</a:t>
            </a:r>
            <a:endParaRPr lang="en-US" sz="1000" dirty="0">
              <a:latin typeface="Segoe UI" panose="020B0502040204020203" pitchFamily="34" charset="0"/>
              <a:cs typeface="Segoe UI" panose="020B0502040204020203" pitchFamily="34" charset="0"/>
            </a:endParaRPr>
          </a:p>
          <a:p>
            <a:pPr marL="171450" indent="-171450">
              <a:lnSpc>
                <a:spcPct val="150000"/>
              </a:lnSpc>
              <a:spcBef>
                <a:spcPts val="120"/>
              </a:spcBef>
              <a:spcAft>
                <a:spcPts val="160"/>
              </a:spcAft>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Build and compare 4 ML models under identical conditions.</a:t>
            </a:r>
          </a:p>
          <a:p>
            <a:pPr marL="171450" indent="-171450">
              <a:lnSpc>
                <a:spcPct val="150000"/>
              </a:lnSpc>
              <a:spcBef>
                <a:spcPts val="120"/>
              </a:spcBef>
              <a:spcAft>
                <a:spcPts val="160"/>
              </a:spcAft>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Optimize the Winning Model through hyperparameter tuning.</a:t>
            </a:r>
          </a:p>
          <a:p>
            <a:pPr marL="171450" indent="-171450">
              <a:lnSpc>
                <a:spcPct val="150000"/>
              </a:lnSpc>
              <a:spcBef>
                <a:spcPts val="120"/>
              </a:spcBef>
              <a:spcAft>
                <a:spcPts val="160"/>
              </a:spcAft>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Validate model through Residual &amp; Prediction Error Analysis.</a:t>
            </a:r>
          </a:p>
          <a:p>
            <a:pPr marL="171450" indent="-171450">
              <a:lnSpc>
                <a:spcPct val="150000"/>
              </a:lnSpc>
              <a:spcBef>
                <a:spcPts val="120"/>
              </a:spcBef>
              <a:spcAft>
                <a:spcPts val="160"/>
              </a:spcAft>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Provide business insights.</a:t>
            </a:r>
          </a:p>
          <a:p>
            <a:pPr marL="171450" indent="-171450">
              <a:buFont typeface="Arial" panose="020B0604020202020204" pitchFamily="34" charset="0"/>
              <a:buChar char="•"/>
            </a:pPr>
            <a:endParaRPr lang="en-IN" sz="1000" dirty="0">
              <a:solidFill>
                <a:srgbClr val="4B5563"/>
              </a:solidFill>
              <a:latin typeface="Segoe UI" panose="020B0502040204020203" pitchFamily="34" charset="0"/>
              <a:ea typeface="Calibri" pitchFamily="34" charset="-122"/>
              <a:cs typeface="Segoe UI" panose="020B0502040204020203" pitchFamily="34" charset="0"/>
            </a:endParaRPr>
          </a:p>
          <a:p>
            <a:endParaRPr lang="en-IN" sz="1200" dirty="0"/>
          </a:p>
        </p:txBody>
      </p:sp>
      <p:sp>
        <p:nvSpPr>
          <p:cNvPr id="68" name="Shape 66"/>
          <p:cNvSpPr/>
          <p:nvPr/>
        </p:nvSpPr>
        <p:spPr>
          <a:xfrm>
            <a:off x="914400" y="914400"/>
            <a:ext cx="914400" cy="914400"/>
          </a:xfrm>
          <a:prstGeom prst="line">
            <a:avLst/>
          </a:prstGeom>
          <a:noFill/>
          <a:ln/>
        </p:spPr>
        <p:txBody>
          <a:bodyPr/>
          <a:lstStyle/>
          <a:p>
            <a:endParaRPr lang="en-IN"/>
          </a:p>
        </p:txBody>
      </p:sp>
      <p:sp>
        <p:nvSpPr>
          <p:cNvPr id="71" name="Shape 24">
            <a:extLst>
              <a:ext uri="{FF2B5EF4-FFF2-40B4-BE49-F238E27FC236}">
                <a16:creationId xmlns:a16="http://schemas.microsoft.com/office/drawing/2014/main" id="{2F265E40-50F9-5C0A-8394-3032D0B0F878}"/>
              </a:ext>
            </a:extLst>
          </p:cNvPr>
          <p:cNvSpPr/>
          <p:nvPr/>
        </p:nvSpPr>
        <p:spPr>
          <a:xfrm>
            <a:off x="296301" y="2587752"/>
            <a:ext cx="4206240" cy="201168"/>
          </a:xfrm>
          <a:prstGeom prst="rect">
            <a:avLst/>
          </a:prstGeom>
          <a:solidFill>
            <a:srgbClr val="FFFFFF"/>
          </a:solidFill>
          <a:ln w="3810">
            <a:solidFill>
              <a:srgbClr val="E5E7EB"/>
            </a:solidFill>
            <a:prstDash val="solid"/>
          </a:ln>
        </p:spPr>
        <p:txBody>
          <a:bodyPr/>
          <a:lstStyle/>
          <a:p>
            <a:r>
              <a:rPr lang="en-US" sz="900" dirty="0">
                <a:solidFill>
                  <a:srgbClr val="1E1B4B"/>
                </a:solidFill>
                <a:ea typeface="Calibri" pitchFamily="34" charset="-122"/>
                <a:cs typeface="Segoe UI" panose="020B0502040204020203" pitchFamily="34" charset="0"/>
              </a:rPr>
              <a:t>[Unnamed Column]</a:t>
            </a:r>
            <a:endParaRPr lang="en-IN" sz="900" dirty="0">
              <a:cs typeface="Segoe UI" panose="020B0502040204020203" pitchFamily="34" charset="0"/>
            </a:endParaRPr>
          </a:p>
        </p:txBody>
      </p:sp>
      <p:sp>
        <p:nvSpPr>
          <p:cNvPr id="72" name="Shape 21">
            <a:extLst>
              <a:ext uri="{FF2B5EF4-FFF2-40B4-BE49-F238E27FC236}">
                <a16:creationId xmlns:a16="http://schemas.microsoft.com/office/drawing/2014/main" id="{D821077C-2A6E-381B-54AC-C7F557AB3429}"/>
              </a:ext>
            </a:extLst>
          </p:cNvPr>
          <p:cNvSpPr/>
          <p:nvPr/>
        </p:nvSpPr>
        <p:spPr>
          <a:xfrm>
            <a:off x="296300" y="4880610"/>
            <a:ext cx="4187954" cy="188976"/>
          </a:xfrm>
          <a:prstGeom prst="rect">
            <a:avLst/>
          </a:prstGeom>
          <a:solidFill>
            <a:srgbClr val="F5F4FB"/>
          </a:solidFill>
          <a:ln w="3810">
            <a:solidFill>
              <a:srgbClr val="E5E7EB"/>
            </a:solidFill>
            <a:prstDash val="solid"/>
          </a:ln>
        </p:spPr>
        <p:txBody>
          <a:bodyPr/>
          <a:lstStyle/>
          <a:p>
            <a:endParaRPr lang="en-IN" sz="900" dirty="0">
              <a:cs typeface="Segoe UI" panose="020B0502040204020203" pitchFamily="34" charset="0"/>
            </a:endParaRPr>
          </a:p>
        </p:txBody>
      </p:sp>
      <p:sp>
        <p:nvSpPr>
          <p:cNvPr id="73" name="Text 23">
            <a:extLst>
              <a:ext uri="{FF2B5EF4-FFF2-40B4-BE49-F238E27FC236}">
                <a16:creationId xmlns:a16="http://schemas.microsoft.com/office/drawing/2014/main" id="{7DCD98A6-6D26-46D8-CB05-7C77ED4D2945}"/>
              </a:ext>
            </a:extLst>
          </p:cNvPr>
          <p:cNvSpPr/>
          <p:nvPr/>
        </p:nvSpPr>
        <p:spPr>
          <a:xfrm>
            <a:off x="1558174" y="2594610"/>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No analytical value (Will be dropped)</a:t>
            </a:r>
            <a:endParaRPr lang="en-US" sz="900" dirty="0">
              <a:cs typeface="Segoe UI" panose="020B0502040204020203" pitchFamily="34" charset="0"/>
            </a:endParaRPr>
          </a:p>
        </p:txBody>
      </p:sp>
      <p:sp>
        <p:nvSpPr>
          <p:cNvPr id="74" name="Text 50">
            <a:extLst>
              <a:ext uri="{FF2B5EF4-FFF2-40B4-BE49-F238E27FC236}">
                <a16:creationId xmlns:a16="http://schemas.microsoft.com/office/drawing/2014/main" id="{42849233-8C7D-DCC8-9536-9103DDDC0D2E}"/>
              </a:ext>
            </a:extLst>
          </p:cNvPr>
          <p:cNvSpPr/>
          <p:nvPr/>
        </p:nvSpPr>
        <p:spPr>
          <a:xfrm>
            <a:off x="1558174" y="4900774"/>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Selling price ₹ — TARGET</a:t>
            </a:r>
            <a:endParaRPr lang="en-US" sz="900" dirty="0">
              <a:cs typeface="Segoe UI" panose="020B0502040204020203" pitchFamily="34" charset="0"/>
            </a:endParaRPr>
          </a:p>
        </p:txBody>
      </p:sp>
      <p:sp>
        <p:nvSpPr>
          <p:cNvPr id="75" name="Text 49">
            <a:extLst>
              <a:ext uri="{FF2B5EF4-FFF2-40B4-BE49-F238E27FC236}">
                <a16:creationId xmlns:a16="http://schemas.microsoft.com/office/drawing/2014/main" id="{8E33E2E4-E0AD-32A3-8380-10E0647DBE66}"/>
              </a:ext>
            </a:extLst>
          </p:cNvPr>
          <p:cNvSpPr/>
          <p:nvPr/>
        </p:nvSpPr>
        <p:spPr>
          <a:xfrm>
            <a:off x="360310" y="4868418"/>
            <a:ext cx="1170432" cy="201168"/>
          </a:xfrm>
          <a:prstGeom prst="rect">
            <a:avLst/>
          </a:prstGeom>
          <a:noFill/>
          <a:ln/>
        </p:spPr>
        <p:txBody>
          <a:bodyPr wrap="square" rtlCol="0" anchor="ctr"/>
          <a:lstStyle/>
          <a:p>
            <a:pPr marL="0" indent="0">
              <a:buNone/>
            </a:pPr>
            <a:r>
              <a:rPr lang="en-US" sz="900" b="1" dirty="0">
                <a:solidFill>
                  <a:srgbClr val="3B1E8E"/>
                </a:solidFill>
                <a:ea typeface="Calibri" pitchFamily="34" charset="-122"/>
                <a:cs typeface="Segoe UI" panose="020B0502040204020203" pitchFamily="34" charset="0"/>
              </a:rPr>
              <a:t>Prize ⭐</a:t>
            </a:r>
            <a:endParaRPr lang="en-US" sz="900" dirty="0">
              <a:cs typeface="Segoe UI" panose="020B0502040204020203" pitchFamily="34" charset="0"/>
            </a:endParaRPr>
          </a:p>
        </p:txBody>
      </p:sp>
      <p:sp>
        <p:nvSpPr>
          <p:cNvPr id="76" name="Text 44">
            <a:extLst>
              <a:ext uri="{FF2B5EF4-FFF2-40B4-BE49-F238E27FC236}">
                <a16:creationId xmlns:a16="http://schemas.microsoft.com/office/drawing/2014/main" id="{96C7B2FC-CC19-72DC-7429-20A7CF28D6E9}"/>
              </a:ext>
            </a:extLst>
          </p:cNvPr>
          <p:cNvSpPr/>
          <p:nvPr/>
        </p:nvSpPr>
        <p:spPr>
          <a:xfrm>
            <a:off x="1558174" y="4459986"/>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Physical height (cm) + few anomalies</a:t>
            </a:r>
            <a:endParaRPr lang="en-US" sz="900" dirty="0">
              <a:cs typeface="Segoe UI" panose="020B0502040204020203" pitchFamily="34" charset="0"/>
            </a:endParaRPr>
          </a:p>
        </p:txBody>
      </p:sp>
      <p:sp>
        <p:nvSpPr>
          <p:cNvPr id="77" name="Text 38">
            <a:extLst>
              <a:ext uri="{FF2B5EF4-FFF2-40B4-BE49-F238E27FC236}">
                <a16:creationId xmlns:a16="http://schemas.microsoft.com/office/drawing/2014/main" id="{1C15B9CE-B591-8660-BD4A-C297D3181AF1}"/>
              </a:ext>
            </a:extLst>
          </p:cNvPr>
          <p:cNvSpPr/>
          <p:nvPr/>
        </p:nvSpPr>
        <p:spPr>
          <a:xfrm>
            <a:off x="1545689" y="4054309"/>
            <a:ext cx="2834640" cy="201168"/>
          </a:xfrm>
          <a:prstGeom prst="rect">
            <a:avLst/>
          </a:prstGeom>
          <a:noFill/>
          <a:ln/>
        </p:spPr>
        <p:txBody>
          <a:bodyPr wrap="square" rtlCol="0" anchor="ctr"/>
          <a:lstStyle/>
          <a:p>
            <a:pPr marL="0" indent="0">
              <a:buNone/>
            </a:pPr>
            <a:r>
              <a:rPr lang="en-US" sz="900" dirty="0">
                <a:solidFill>
                  <a:srgbClr val="4B5563"/>
                </a:solidFill>
                <a:ea typeface="Calibri" pitchFamily="34" charset="-122"/>
                <a:cs typeface="Segoe UI" panose="020B0502040204020203" pitchFamily="34" charset="0"/>
              </a:rPr>
              <a:t>String format — MP extraction needed</a:t>
            </a:r>
            <a:endParaRPr lang="en-US" sz="900" dirty="0">
              <a:cs typeface="Segoe UI" panose="020B0502040204020203" pitchFamily="34" charset="0"/>
            </a:endParaRPr>
          </a:p>
        </p:txBody>
      </p:sp>
      <p:sp>
        <p:nvSpPr>
          <p:cNvPr id="78" name="Text 43">
            <a:extLst>
              <a:ext uri="{FF2B5EF4-FFF2-40B4-BE49-F238E27FC236}">
                <a16:creationId xmlns:a16="http://schemas.microsoft.com/office/drawing/2014/main" id="{A09BF70E-5BD1-54A1-304D-CBCF6C5BF82A}"/>
              </a:ext>
            </a:extLst>
          </p:cNvPr>
          <p:cNvSpPr/>
          <p:nvPr/>
        </p:nvSpPr>
        <p:spPr>
          <a:xfrm>
            <a:off x="351166" y="4469130"/>
            <a:ext cx="1170432" cy="201168"/>
          </a:xfrm>
          <a:prstGeom prst="rect">
            <a:avLst/>
          </a:prstGeom>
          <a:noFill/>
          <a:ln/>
        </p:spPr>
        <p:txBody>
          <a:bodyPr wrap="square" rtlCol="0" anchor="ctr"/>
          <a:lstStyle/>
          <a:p>
            <a:pPr marL="0" indent="0">
              <a:buNone/>
            </a:pPr>
            <a:r>
              <a:rPr lang="en-US" sz="900" dirty="0">
                <a:solidFill>
                  <a:srgbClr val="1E1B4B"/>
                </a:solidFill>
                <a:ea typeface="Calibri" pitchFamily="34" charset="-122"/>
                <a:cs typeface="Segoe UI" panose="020B0502040204020203" pitchFamily="34" charset="0"/>
              </a:rPr>
              <a:t>Mobile Height</a:t>
            </a:r>
            <a:endParaRPr lang="en-US" sz="900" dirty="0">
              <a:cs typeface="Segoe UI" panose="020B0502040204020203" pitchFamily="34" charset="0"/>
            </a:endParaRPr>
          </a:p>
        </p:txBody>
      </p:sp>
      <p:sp>
        <p:nvSpPr>
          <p:cNvPr id="79" name="Text 37">
            <a:extLst>
              <a:ext uri="{FF2B5EF4-FFF2-40B4-BE49-F238E27FC236}">
                <a16:creationId xmlns:a16="http://schemas.microsoft.com/office/drawing/2014/main" id="{F2C06924-BE22-FD94-1377-1F8CA2BBBF8D}"/>
              </a:ext>
            </a:extLst>
          </p:cNvPr>
          <p:cNvSpPr/>
          <p:nvPr/>
        </p:nvSpPr>
        <p:spPr>
          <a:xfrm>
            <a:off x="345275" y="4060053"/>
            <a:ext cx="1170432" cy="201168"/>
          </a:xfrm>
          <a:prstGeom prst="rect">
            <a:avLst/>
          </a:prstGeom>
          <a:noFill/>
          <a:ln/>
        </p:spPr>
        <p:txBody>
          <a:bodyPr wrap="square" rtlCol="0" anchor="ctr"/>
          <a:lstStyle/>
          <a:p>
            <a:pPr marL="0" indent="0">
              <a:buNone/>
            </a:pPr>
            <a:r>
              <a:rPr lang="en-US" sz="900" dirty="0">
                <a:solidFill>
                  <a:srgbClr val="1E1B4B"/>
                </a:solidFill>
                <a:ea typeface="Calibri" pitchFamily="34" charset="-122"/>
                <a:cs typeface="Segoe UI" panose="020B0502040204020203" pitchFamily="34" charset="0"/>
              </a:rPr>
              <a:t> Front Camera</a:t>
            </a:r>
            <a:endParaRPr lang="en-US" sz="900" dirty="0">
              <a:cs typeface="Segoe UI" panose="020B05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540496"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Data Preprocessing</a:t>
            </a:r>
            <a:endParaRPr lang="en-US" sz="2800" dirty="0">
              <a:latin typeface="Bahnschrift" panose="020B0502040204020203" pitchFamily="34" charset="0"/>
            </a:endParaRPr>
          </a:p>
        </p:txBody>
      </p:sp>
      <p:sp>
        <p:nvSpPr>
          <p:cNvPr id="5" name="Shape 3"/>
          <p:cNvSpPr/>
          <p:nvPr/>
        </p:nvSpPr>
        <p:spPr>
          <a:xfrm>
            <a:off x="274320" y="713232"/>
            <a:ext cx="8595360" cy="502920"/>
          </a:xfrm>
          <a:prstGeom prst="roundRect">
            <a:avLst>
              <a:gd name="adj" fmla="val 14545"/>
            </a:avLst>
          </a:prstGeom>
          <a:solidFill>
            <a:srgbClr val="DCFCE7"/>
          </a:solidFill>
          <a:ln w="19050">
            <a:solidFill>
              <a:srgbClr val="16A34A"/>
            </a:solidFill>
            <a:prstDash val="solid"/>
          </a:ln>
          <a:effectLst>
            <a:outerShdw blurRad="76200" dist="25400" dir="2700000" algn="bl" rotWithShape="0">
              <a:srgbClr val="000000">
                <a:alpha val="8000"/>
              </a:srgbClr>
            </a:outerShdw>
          </a:effectLst>
        </p:spPr>
        <p:txBody>
          <a:bodyPr/>
          <a:lstStyle/>
          <a:p>
            <a:endParaRPr lang="en-IN"/>
          </a:p>
        </p:txBody>
      </p:sp>
      <p:sp>
        <p:nvSpPr>
          <p:cNvPr id="6" name="Text 4"/>
          <p:cNvSpPr/>
          <p:nvPr/>
        </p:nvSpPr>
        <p:spPr>
          <a:xfrm>
            <a:off x="384048" y="713232"/>
            <a:ext cx="8375904" cy="502920"/>
          </a:xfrm>
          <a:prstGeom prst="rect">
            <a:avLst/>
          </a:prstGeom>
          <a:noFill/>
          <a:ln/>
        </p:spPr>
        <p:txBody>
          <a:bodyPr wrap="square" rtlCol="0" anchor="ctr"/>
          <a:lstStyle/>
          <a:p>
            <a:pPr algn="ctr"/>
            <a:r>
              <a:rPr lang="en-US" sz="1050" b="1" dirty="0">
                <a:solidFill>
                  <a:srgbClr val="16A34A"/>
                </a:solidFill>
                <a:latin typeface="Segoe UI" panose="020B0502040204020203" pitchFamily="34" charset="0"/>
                <a:ea typeface="Calibri" pitchFamily="34" charset="-122"/>
                <a:cs typeface="Segoe UI" panose="020B0502040204020203" pitchFamily="34" charset="0"/>
              </a:rPr>
              <a:t>✅  Missing Values: 0   ·   ✅  </a:t>
            </a:r>
            <a:r>
              <a:rPr lang="en-IN" sz="1050" b="1" dirty="0">
                <a:solidFill>
                  <a:srgbClr val="16A34A"/>
                </a:solidFill>
                <a:latin typeface="Segoe UI" panose="020B0502040204020203" pitchFamily="34" charset="0"/>
                <a:ea typeface="Calibri" pitchFamily="34" charset="-122"/>
                <a:cs typeface="Segoe UI" panose="020B0502040204020203" pitchFamily="34" charset="0"/>
              </a:rPr>
              <a:t>10 Duplicate Rows identified and removed</a:t>
            </a:r>
            <a:r>
              <a:rPr lang="en-US" sz="1050" b="1" dirty="0">
                <a:solidFill>
                  <a:srgbClr val="16A34A"/>
                </a:solidFill>
                <a:latin typeface="Segoe UI" panose="020B0502040204020203" pitchFamily="34" charset="0"/>
                <a:ea typeface="Calibri" pitchFamily="34" charset="-122"/>
                <a:cs typeface="Segoe UI" panose="020B0502040204020203" pitchFamily="34" charset="0"/>
              </a:rPr>
              <a:t>   ·   ✅  </a:t>
            </a:r>
            <a:r>
              <a:rPr lang="en-IN" sz="1050" b="1" dirty="0">
                <a:solidFill>
                  <a:srgbClr val="16A34A"/>
                </a:solidFill>
                <a:latin typeface="Segoe UI" panose="020B0502040204020203" pitchFamily="34" charset="0"/>
                <a:ea typeface="Calibri" pitchFamily="34" charset="-122"/>
                <a:cs typeface="Segoe UI" panose="020B0502040204020203" pitchFamily="34" charset="0"/>
              </a:rPr>
              <a:t>Dataset ready for EDA</a:t>
            </a:r>
            <a:endParaRPr lang="en-US" sz="1050" b="1" dirty="0">
              <a:solidFill>
                <a:srgbClr val="16A34A"/>
              </a:solidFill>
              <a:latin typeface="Segoe UI" panose="020B0502040204020203" pitchFamily="34" charset="0"/>
              <a:ea typeface="Calibri" pitchFamily="34" charset="-122"/>
              <a:cs typeface="Segoe UI" panose="020B0502040204020203" pitchFamily="34" charset="0"/>
            </a:endParaRPr>
          </a:p>
        </p:txBody>
      </p:sp>
      <p:sp>
        <p:nvSpPr>
          <p:cNvPr id="7" name="Shape 5"/>
          <p:cNvSpPr/>
          <p:nvPr/>
        </p:nvSpPr>
        <p:spPr>
          <a:xfrm>
            <a:off x="274320" y="1751779"/>
            <a:ext cx="4224528" cy="1497858"/>
          </a:xfrm>
          <a:prstGeom prst="roundRect">
            <a:avLst>
              <a:gd name="adj" fmla="val 6557"/>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8" name="Shape 6"/>
          <p:cNvSpPr/>
          <p:nvPr/>
        </p:nvSpPr>
        <p:spPr>
          <a:xfrm>
            <a:off x="377366" y="1843219"/>
            <a:ext cx="320040" cy="320040"/>
          </a:xfrm>
          <a:prstGeom prst="ellipse">
            <a:avLst/>
          </a:prstGeom>
          <a:solidFill>
            <a:srgbClr val="5C33BE"/>
          </a:solidFill>
          <a:ln w="12700">
            <a:solidFill>
              <a:srgbClr val="5C33BE"/>
            </a:solidFill>
            <a:prstDash val="solid"/>
          </a:ln>
        </p:spPr>
        <p:txBody>
          <a:bodyPr/>
          <a:lstStyle/>
          <a:p>
            <a:endParaRPr lang="en-IN"/>
          </a:p>
        </p:txBody>
      </p:sp>
      <p:sp>
        <p:nvSpPr>
          <p:cNvPr id="9" name="Text 7"/>
          <p:cNvSpPr/>
          <p:nvPr/>
        </p:nvSpPr>
        <p:spPr>
          <a:xfrm>
            <a:off x="365760" y="1843219"/>
            <a:ext cx="320040" cy="320040"/>
          </a:xfrm>
          <a:prstGeom prst="rect">
            <a:avLst/>
          </a:prstGeom>
          <a:noFill/>
          <a:ln/>
        </p:spPr>
        <p:txBody>
          <a:bodyPr wrap="square" rtlCol="0" anchor="ctr"/>
          <a:lstStyle/>
          <a:p>
            <a:pPr marL="0" indent="0" algn="ctr">
              <a:buNone/>
            </a:pPr>
            <a:r>
              <a:rPr lang="en-US" sz="900" b="1" dirty="0">
                <a:solidFill>
                  <a:srgbClr val="FFFFFF"/>
                </a:solidFill>
                <a:latin typeface="Segoe UI" panose="020B0502040204020203" pitchFamily="34" charset="0"/>
                <a:ea typeface="Calibri" pitchFamily="34" charset="-122"/>
                <a:cs typeface="Segoe UI" panose="020B0502040204020203" pitchFamily="34" charset="0"/>
              </a:rPr>
              <a:t>01</a:t>
            </a:r>
            <a:endParaRPr lang="en-US" sz="900" dirty="0">
              <a:latin typeface="Segoe UI" panose="020B0502040204020203" pitchFamily="34" charset="0"/>
              <a:cs typeface="Segoe UI" panose="020B0502040204020203" pitchFamily="34" charset="0"/>
            </a:endParaRPr>
          </a:p>
        </p:txBody>
      </p:sp>
      <p:sp>
        <p:nvSpPr>
          <p:cNvPr id="10" name="Text 8"/>
          <p:cNvSpPr/>
          <p:nvPr/>
        </p:nvSpPr>
        <p:spPr>
          <a:xfrm>
            <a:off x="758952" y="1843219"/>
            <a:ext cx="3630168" cy="256032"/>
          </a:xfrm>
          <a:prstGeom prst="rect">
            <a:avLst/>
          </a:prstGeom>
          <a:noFill/>
          <a:ln/>
        </p:spPr>
        <p:txBody>
          <a:bodyPr wrap="square" rtlCol="0" anchor="ctr"/>
          <a:lstStyle/>
          <a:p>
            <a:r>
              <a:rPr lang="en-IN" sz="1200" b="1" dirty="0">
                <a:solidFill>
                  <a:srgbClr val="1E1B4B"/>
                </a:solidFill>
                <a:latin typeface="Segoe UI" panose="020B0502040204020203" pitchFamily="34" charset="0"/>
                <a:ea typeface="Calibri" pitchFamily="34" charset="-122"/>
                <a:cs typeface="Segoe UI" panose="020B0502040204020203" pitchFamily="34" charset="0"/>
              </a:rPr>
              <a:t>Column Cleaning &amp; Type Casting</a:t>
            </a:r>
            <a:endParaRPr lang="en-US" sz="12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11" name="Text 9"/>
          <p:cNvSpPr/>
          <p:nvPr/>
        </p:nvSpPr>
        <p:spPr>
          <a:xfrm>
            <a:off x="377366" y="2287757"/>
            <a:ext cx="3968496" cy="640080"/>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Removed formatting artifacts from the target price string and cast to integer.</a:t>
            </a:r>
          </a:p>
          <a:p>
            <a:pPr marL="171450" indent="-171450">
              <a:lnSpc>
                <a:spcPct val="200000"/>
              </a:lnSpc>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Dropped non-analytical index column (</a:t>
            </a:r>
            <a:r>
              <a:rPr lang="en-IN" sz="1000" b="1" dirty="0">
                <a:solidFill>
                  <a:srgbClr val="4B5563"/>
                </a:solidFill>
                <a:latin typeface="Segoe UI" panose="020B0502040204020203" pitchFamily="34" charset="0"/>
                <a:ea typeface="Calibri" pitchFamily="34" charset="-122"/>
                <a:cs typeface="Segoe UI" panose="020B0502040204020203" pitchFamily="34" charset="0"/>
              </a:rPr>
              <a:t>Unnamed: 0</a:t>
            </a:r>
            <a:r>
              <a:rPr lang="en-IN" sz="1000" dirty="0">
                <a:solidFill>
                  <a:srgbClr val="4B5563"/>
                </a:solidFill>
                <a:latin typeface="Segoe UI" panose="020B0502040204020203" pitchFamily="34" charset="0"/>
                <a:ea typeface="Calibri" pitchFamily="34" charset="-122"/>
                <a:cs typeface="Segoe UI" panose="020B0502040204020203" pitchFamily="34" charset="0"/>
              </a:rPr>
              <a:t>).</a:t>
            </a:r>
            <a:endParaRPr lang="en-US" sz="1000" dirty="0">
              <a:solidFill>
                <a:srgbClr val="4B5563"/>
              </a:solidFill>
              <a:latin typeface="Segoe UI" panose="020B0502040204020203" pitchFamily="34" charset="0"/>
              <a:ea typeface="Calibri" pitchFamily="34" charset="-122"/>
              <a:cs typeface="Segoe UI" panose="020B0502040204020203" pitchFamily="34" charset="0"/>
            </a:endParaRPr>
          </a:p>
        </p:txBody>
      </p:sp>
      <p:sp>
        <p:nvSpPr>
          <p:cNvPr id="12" name="Shape 10"/>
          <p:cNvSpPr/>
          <p:nvPr/>
        </p:nvSpPr>
        <p:spPr>
          <a:xfrm>
            <a:off x="274320" y="3635091"/>
            <a:ext cx="4224528" cy="1115568"/>
          </a:xfrm>
          <a:prstGeom prst="roundRect">
            <a:avLst>
              <a:gd name="adj" fmla="val 6557"/>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3" name="Shape 11"/>
          <p:cNvSpPr/>
          <p:nvPr/>
        </p:nvSpPr>
        <p:spPr>
          <a:xfrm>
            <a:off x="365760" y="3726531"/>
            <a:ext cx="320040" cy="320040"/>
          </a:xfrm>
          <a:prstGeom prst="ellipse">
            <a:avLst/>
          </a:prstGeom>
          <a:solidFill>
            <a:srgbClr val="5C33BE"/>
          </a:solidFill>
          <a:ln w="12700">
            <a:solidFill>
              <a:srgbClr val="5C33BE"/>
            </a:solidFill>
            <a:prstDash val="solid"/>
          </a:ln>
        </p:spPr>
        <p:txBody>
          <a:bodyPr/>
          <a:lstStyle/>
          <a:p>
            <a:endParaRPr lang="en-IN"/>
          </a:p>
        </p:txBody>
      </p:sp>
      <p:sp>
        <p:nvSpPr>
          <p:cNvPr id="14" name="Text 12"/>
          <p:cNvSpPr/>
          <p:nvPr/>
        </p:nvSpPr>
        <p:spPr>
          <a:xfrm>
            <a:off x="365760" y="3726531"/>
            <a:ext cx="320040" cy="320040"/>
          </a:xfrm>
          <a:prstGeom prst="rect">
            <a:avLst/>
          </a:prstGeom>
          <a:noFill/>
          <a:ln/>
        </p:spPr>
        <p:txBody>
          <a:bodyPr wrap="square" rtlCol="0" anchor="ctr"/>
          <a:lstStyle/>
          <a:p>
            <a:pPr marL="0" indent="0" algn="ctr">
              <a:buNone/>
            </a:pPr>
            <a:r>
              <a:rPr lang="en-US" sz="900" b="1" dirty="0">
                <a:solidFill>
                  <a:srgbClr val="FFFFFF"/>
                </a:solidFill>
                <a:latin typeface="Segoe UI" panose="020B0502040204020203" pitchFamily="34" charset="0"/>
                <a:ea typeface="Calibri" pitchFamily="34" charset="-122"/>
                <a:cs typeface="Segoe UI" panose="020B0502040204020203" pitchFamily="34" charset="0"/>
              </a:rPr>
              <a:t>02</a:t>
            </a:r>
            <a:endParaRPr lang="en-US" sz="900" dirty="0">
              <a:latin typeface="Segoe UI" panose="020B0502040204020203" pitchFamily="34" charset="0"/>
              <a:cs typeface="Segoe UI" panose="020B0502040204020203" pitchFamily="34" charset="0"/>
            </a:endParaRPr>
          </a:p>
        </p:txBody>
      </p:sp>
      <p:sp>
        <p:nvSpPr>
          <p:cNvPr id="15" name="Text 13"/>
          <p:cNvSpPr/>
          <p:nvPr/>
        </p:nvSpPr>
        <p:spPr>
          <a:xfrm>
            <a:off x="758952" y="3726531"/>
            <a:ext cx="3630168" cy="256032"/>
          </a:xfrm>
          <a:prstGeom prst="rect">
            <a:avLst/>
          </a:prstGeom>
          <a:noFill/>
          <a:ln/>
        </p:spPr>
        <p:txBody>
          <a:bodyPr wrap="square" rtlCol="0" anchor="ctr"/>
          <a:lstStyle/>
          <a:p>
            <a:r>
              <a:rPr lang="en-IN" sz="1200" b="1" dirty="0">
                <a:solidFill>
                  <a:srgbClr val="1E1B4B"/>
                </a:solidFill>
                <a:latin typeface="Segoe UI" panose="020B0502040204020203" pitchFamily="34" charset="0"/>
                <a:ea typeface="Calibri" pitchFamily="34" charset="-122"/>
                <a:cs typeface="Segoe UI" panose="020B0502040204020203" pitchFamily="34" charset="0"/>
              </a:rPr>
              <a:t>Regex Numeric Extraction</a:t>
            </a:r>
            <a:endParaRPr lang="en-US" sz="12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16" name="Text 14"/>
          <p:cNvSpPr/>
          <p:nvPr/>
        </p:nvSpPr>
        <p:spPr>
          <a:xfrm>
            <a:off x="402336" y="4037427"/>
            <a:ext cx="3968496" cy="640080"/>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Parsed integer megapixel (MP) values from unstructured </a:t>
            </a:r>
            <a:r>
              <a:rPr lang="en-IN" sz="1000" b="1" dirty="0">
                <a:solidFill>
                  <a:srgbClr val="4B5563"/>
                </a:solidFill>
                <a:latin typeface="Segoe UI" panose="020B0502040204020203" pitchFamily="34" charset="0"/>
                <a:ea typeface="Calibri" pitchFamily="34" charset="-122"/>
                <a:cs typeface="Segoe UI" panose="020B0502040204020203" pitchFamily="34" charset="0"/>
              </a:rPr>
              <a:t>Rear Camera</a:t>
            </a:r>
            <a:r>
              <a:rPr lang="en-IN" sz="1000" dirty="0">
                <a:solidFill>
                  <a:srgbClr val="4B5563"/>
                </a:solidFill>
                <a:latin typeface="Segoe UI" panose="020B0502040204020203" pitchFamily="34" charset="0"/>
                <a:ea typeface="Calibri" pitchFamily="34" charset="-122"/>
                <a:cs typeface="Segoe UI" panose="020B0502040204020203" pitchFamily="34" charset="0"/>
              </a:rPr>
              <a:t> and </a:t>
            </a:r>
            <a:r>
              <a:rPr lang="en-IN" sz="1000" b="1" dirty="0">
                <a:solidFill>
                  <a:srgbClr val="4B5563"/>
                </a:solidFill>
                <a:latin typeface="Segoe UI" panose="020B0502040204020203" pitchFamily="34" charset="0"/>
                <a:ea typeface="Calibri" pitchFamily="34" charset="-122"/>
                <a:cs typeface="Segoe UI" panose="020B0502040204020203" pitchFamily="34" charset="0"/>
              </a:rPr>
              <a:t>Front Camera</a:t>
            </a:r>
            <a:r>
              <a:rPr lang="en-IN" sz="1000" dirty="0">
                <a:solidFill>
                  <a:srgbClr val="4B5563"/>
                </a:solidFill>
                <a:latin typeface="Segoe UI" panose="020B0502040204020203" pitchFamily="34" charset="0"/>
                <a:ea typeface="Calibri" pitchFamily="34" charset="-122"/>
                <a:cs typeface="Segoe UI" panose="020B0502040204020203" pitchFamily="34" charset="0"/>
              </a:rPr>
              <a:t> strings.</a:t>
            </a:r>
            <a:endParaRPr lang="en-US" sz="1000" dirty="0">
              <a:solidFill>
                <a:srgbClr val="4B5563"/>
              </a:solidFill>
              <a:latin typeface="Segoe UI" panose="020B0502040204020203" pitchFamily="34" charset="0"/>
              <a:ea typeface="Calibri" pitchFamily="34" charset="-122"/>
              <a:cs typeface="Segoe UI" panose="020B0502040204020203" pitchFamily="34" charset="0"/>
            </a:endParaRPr>
          </a:p>
        </p:txBody>
      </p:sp>
      <p:sp>
        <p:nvSpPr>
          <p:cNvPr id="17" name="Shape 15"/>
          <p:cNvSpPr/>
          <p:nvPr/>
        </p:nvSpPr>
        <p:spPr>
          <a:xfrm>
            <a:off x="4727448" y="1745801"/>
            <a:ext cx="4224528" cy="1503836"/>
          </a:xfrm>
          <a:prstGeom prst="roundRect">
            <a:avLst>
              <a:gd name="adj" fmla="val 6557"/>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8" name="Shape 16"/>
          <p:cNvSpPr/>
          <p:nvPr/>
        </p:nvSpPr>
        <p:spPr>
          <a:xfrm>
            <a:off x="4828032" y="1860101"/>
            <a:ext cx="320040" cy="320040"/>
          </a:xfrm>
          <a:prstGeom prst="ellipse">
            <a:avLst/>
          </a:prstGeom>
          <a:solidFill>
            <a:srgbClr val="5C33BE"/>
          </a:solidFill>
          <a:ln w="12700">
            <a:solidFill>
              <a:srgbClr val="5C33BE"/>
            </a:solidFill>
            <a:prstDash val="solid"/>
          </a:ln>
        </p:spPr>
        <p:txBody>
          <a:bodyPr/>
          <a:lstStyle/>
          <a:p>
            <a:endParaRPr lang="en-IN"/>
          </a:p>
        </p:txBody>
      </p:sp>
      <p:sp>
        <p:nvSpPr>
          <p:cNvPr id="19" name="Text 17"/>
          <p:cNvSpPr/>
          <p:nvPr/>
        </p:nvSpPr>
        <p:spPr>
          <a:xfrm>
            <a:off x="4818888" y="1837241"/>
            <a:ext cx="320040" cy="320040"/>
          </a:xfrm>
          <a:prstGeom prst="rect">
            <a:avLst/>
          </a:prstGeom>
          <a:noFill/>
          <a:ln/>
        </p:spPr>
        <p:txBody>
          <a:bodyPr wrap="square" rtlCol="0" anchor="ctr"/>
          <a:lstStyle/>
          <a:p>
            <a:pPr marL="0" indent="0" algn="ctr">
              <a:buNone/>
            </a:pPr>
            <a:r>
              <a:rPr lang="en-US" sz="900" b="1" dirty="0">
                <a:solidFill>
                  <a:srgbClr val="FFFFFF"/>
                </a:solidFill>
                <a:latin typeface="Segoe UI" panose="020B0502040204020203" pitchFamily="34" charset="0"/>
                <a:ea typeface="Calibri" pitchFamily="34" charset="-122"/>
                <a:cs typeface="Segoe UI" panose="020B0502040204020203" pitchFamily="34" charset="0"/>
              </a:rPr>
              <a:t>03</a:t>
            </a:r>
            <a:endParaRPr lang="en-US" sz="900" dirty="0">
              <a:latin typeface="Segoe UI" panose="020B0502040204020203" pitchFamily="34" charset="0"/>
              <a:cs typeface="Segoe UI" panose="020B0502040204020203" pitchFamily="34" charset="0"/>
            </a:endParaRPr>
          </a:p>
        </p:txBody>
      </p:sp>
      <p:sp>
        <p:nvSpPr>
          <p:cNvPr id="20" name="Text 18"/>
          <p:cNvSpPr/>
          <p:nvPr/>
        </p:nvSpPr>
        <p:spPr>
          <a:xfrm>
            <a:off x="5212080" y="1837241"/>
            <a:ext cx="3630168" cy="256032"/>
          </a:xfrm>
          <a:prstGeom prst="rect">
            <a:avLst/>
          </a:prstGeom>
          <a:noFill/>
          <a:ln/>
        </p:spPr>
        <p:txBody>
          <a:bodyPr wrap="square" rtlCol="0" anchor="ctr"/>
          <a:lstStyle/>
          <a:p>
            <a:pPr indent="0">
              <a:buNone/>
            </a:pPr>
            <a:r>
              <a:rPr lang="en-IN" sz="1200" b="1" dirty="0">
                <a:solidFill>
                  <a:srgbClr val="1E1B4B"/>
                </a:solidFill>
                <a:latin typeface="Segoe UI" panose="020B0502040204020203" pitchFamily="34" charset="0"/>
                <a:ea typeface="Calibri" pitchFamily="34" charset="-122"/>
                <a:cs typeface="Segoe UI" panose="020B0502040204020203" pitchFamily="34" charset="0"/>
              </a:rPr>
              <a:t>Categorical Feature Engineering</a:t>
            </a:r>
            <a:endParaRPr lang="en-US" sz="12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21" name="Text 19"/>
          <p:cNvSpPr/>
          <p:nvPr/>
        </p:nvSpPr>
        <p:spPr>
          <a:xfrm>
            <a:off x="4855464" y="2148137"/>
            <a:ext cx="3968496" cy="1045230"/>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Extracted and grouped high-cardinality string columns into distinct categories: </a:t>
            </a:r>
          </a:p>
          <a:p>
            <a:pPr marL="171450" indent="-171450">
              <a:buFont typeface="Wingdings" panose="05000000000000000000" pitchFamily="2" charset="2"/>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     </a:t>
            </a:r>
            <a:r>
              <a:rPr lang="en-IN" sz="1000" b="1" dirty="0">
                <a:solidFill>
                  <a:srgbClr val="4B5563"/>
                </a:solidFill>
                <a:latin typeface="Segoe UI" panose="020B0502040204020203" pitchFamily="34" charset="0"/>
                <a:ea typeface="Calibri" pitchFamily="34" charset="-122"/>
                <a:cs typeface="Segoe UI" panose="020B0502040204020203" pitchFamily="34" charset="0"/>
              </a:rPr>
              <a:t>Processor_Brand </a:t>
            </a:r>
          </a:p>
          <a:p>
            <a:pPr marL="171450" indent="-171450">
              <a:buFont typeface="Wingdings" panose="05000000000000000000" pitchFamily="2" charset="2"/>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     </a:t>
            </a:r>
            <a:r>
              <a:rPr lang="en-IN" sz="1000" b="1" dirty="0">
                <a:solidFill>
                  <a:srgbClr val="4B5563"/>
                </a:solidFill>
                <a:latin typeface="Segoe UI" panose="020B0502040204020203" pitchFamily="34" charset="0"/>
                <a:ea typeface="Calibri" pitchFamily="34" charset="-122"/>
                <a:cs typeface="Segoe UI" panose="020B0502040204020203" pitchFamily="34" charset="0"/>
              </a:rPr>
              <a:t>Model_Category </a:t>
            </a:r>
          </a:p>
          <a:p>
            <a:pPr marL="171450" indent="-171450">
              <a:buFont typeface="Wingdings" panose="05000000000000000000" pitchFamily="2" charset="2"/>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     </a:t>
            </a:r>
            <a:r>
              <a:rPr lang="en-IN" sz="1000" b="1" dirty="0">
                <a:solidFill>
                  <a:srgbClr val="4B5563"/>
                </a:solidFill>
                <a:latin typeface="Segoe UI" panose="020B0502040204020203" pitchFamily="34" charset="0"/>
                <a:ea typeface="Calibri" pitchFamily="34" charset="-122"/>
                <a:cs typeface="Segoe UI" panose="020B0502040204020203" pitchFamily="34" charset="0"/>
              </a:rPr>
              <a:t>Colour_Category</a:t>
            </a:r>
            <a:endParaRPr lang="en-US" sz="1000" b="1" dirty="0">
              <a:solidFill>
                <a:srgbClr val="4B5563"/>
              </a:solidFill>
              <a:latin typeface="Segoe UI" panose="020B0502040204020203" pitchFamily="34" charset="0"/>
              <a:ea typeface="Calibri" pitchFamily="34" charset="-122"/>
              <a:cs typeface="Segoe UI" panose="020B0502040204020203" pitchFamily="34" charset="0"/>
            </a:endParaRPr>
          </a:p>
        </p:txBody>
      </p:sp>
      <p:sp>
        <p:nvSpPr>
          <p:cNvPr id="22" name="Shape 20"/>
          <p:cNvSpPr/>
          <p:nvPr/>
        </p:nvSpPr>
        <p:spPr>
          <a:xfrm>
            <a:off x="4727448" y="3620320"/>
            <a:ext cx="4224528" cy="1115568"/>
          </a:xfrm>
          <a:prstGeom prst="roundRect">
            <a:avLst>
              <a:gd name="adj" fmla="val 6557"/>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23" name="Shape 21"/>
          <p:cNvSpPr/>
          <p:nvPr/>
        </p:nvSpPr>
        <p:spPr>
          <a:xfrm>
            <a:off x="4828032" y="3734620"/>
            <a:ext cx="320040" cy="320040"/>
          </a:xfrm>
          <a:prstGeom prst="ellipse">
            <a:avLst/>
          </a:prstGeom>
          <a:solidFill>
            <a:srgbClr val="5C33BE"/>
          </a:solidFill>
          <a:ln w="12700">
            <a:solidFill>
              <a:srgbClr val="5C33BE"/>
            </a:solidFill>
            <a:prstDash val="solid"/>
          </a:ln>
        </p:spPr>
        <p:txBody>
          <a:bodyPr/>
          <a:lstStyle/>
          <a:p>
            <a:endParaRPr lang="en-IN"/>
          </a:p>
        </p:txBody>
      </p:sp>
      <p:sp>
        <p:nvSpPr>
          <p:cNvPr id="24" name="Text 22"/>
          <p:cNvSpPr/>
          <p:nvPr/>
        </p:nvSpPr>
        <p:spPr>
          <a:xfrm>
            <a:off x="4818888" y="3739192"/>
            <a:ext cx="320040" cy="320040"/>
          </a:xfrm>
          <a:prstGeom prst="rect">
            <a:avLst/>
          </a:prstGeom>
          <a:noFill/>
          <a:ln/>
        </p:spPr>
        <p:txBody>
          <a:bodyPr wrap="square" rtlCol="0" anchor="ctr"/>
          <a:lstStyle/>
          <a:p>
            <a:pPr marL="0" indent="0" algn="ctr">
              <a:buNone/>
            </a:pPr>
            <a:r>
              <a:rPr lang="en-US" sz="900" b="1" dirty="0">
                <a:solidFill>
                  <a:srgbClr val="FFFFFF"/>
                </a:solidFill>
                <a:latin typeface="Segoe UI" panose="020B0502040204020203" pitchFamily="34" charset="0"/>
                <a:ea typeface="Calibri" pitchFamily="34" charset="-122"/>
                <a:cs typeface="Segoe UI" panose="020B0502040204020203" pitchFamily="34" charset="0"/>
              </a:rPr>
              <a:t>04</a:t>
            </a:r>
            <a:endParaRPr lang="en-US" sz="900" dirty="0">
              <a:latin typeface="Segoe UI" panose="020B0502040204020203" pitchFamily="34" charset="0"/>
              <a:cs typeface="Segoe UI" panose="020B0502040204020203" pitchFamily="34" charset="0"/>
            </a:endParaRPr>
          </a:p>
        </p:txBody>
      </p:sp>
      <p:sp>
        <p:nvSpPr>
          <p:cNvPr id="25" name="Text 23"/>
          <p:cNvSpPr/>
          <p:nvPr/>
        </p:nvSpPr>
        <p:spPr>
          <a:xfrm>
            <a:off x="5212080" y="3739192"/>
            <a:ext cx="3630168" cy="256032"/>
          </a:xfrm>
          <a:prstGeom prst="rect">
            <a:avLst/>
          </a:prstGeom>
          <a:noFill/>
          <a:ln/>
        </p:spPr>
        <p:txBody>
          <a:bodyPr wrap="square" rtlCol="0" anchor="ctr"/>
          <a:lstStyle/>
          <a:p>
            <a:r>
              <a:rPr lang="en-IN" sz="1200" b="1" dirty="0">
                <a:solidFill>
                  <a:srgbClr val="1E1B4B"/>
                </a:solidFill>
                <a:latin typeface="Segoe UI" panose="020B0502040204020203" pitchFamily="34" charset="0"/>
                <a:ea typeface="Calibri" pitchFamily="34" charset="-122"/>
                <a:cs typeface="Segoe UI" panose="020B0502040204020203" pitchFamily="34" charset="0"/>
              </a:rPr>
              <a:t>Preprocessing Summary</a:t>
            </a:r>
            <a:endParaRPr lang="en-US" sz="12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26" name="Text 24"/>
          <p:cNvSpPr/>
          <p:nvPr/>
        </p:nvSpPr>
        <p:spPr>
          <a:xfrm>
            <a:off x="4855464" y="4050088"/>
            <a:ext cx="3968496" cy="640080"/>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4B5563"/>
                </a:solidFill>
                <a:latin typeface="Segoe UI" panose="020B0502040204020203" pitchFamily="34" charset="0"/>
                <a:ea typeface="Calibri" pitchFamily="34" charset="-122"/>
                <a:cs typeface="Segoe UI" panose="020B0502040204020203" pitchFamily="34" charset="0"/>
              </a:rPr>
              <a:t>Dataset transitioned from raw </a:t>
            </a:r>
            <a:r>
              <a:rPr lang="en-IN" sz="1000" b="1" dirty="0">
                <a:solidFill>
                  <a:srgbClr val="4B5563"/>
                </a:solidFill>
                <a:latin typeface="Segoe UI" panose="020B0502040204020203" pitchFamily="34" charset="0"/>
                <a:ea typeface="Calibri" pitchFamily="34" charset="-122"/>
                <a:cs typeface="Segoe UI" panose="020B0502040204020203" pitchFamily="34" charset="0"/>
              </a:rPr>
              <a:t>541 x 12 </a:t>
            </a:r>
            <a:r>
              <a:rPr lang="en-IN" sz="1000" dirty="0">
                <a:solidFill>
                  <a:srgbClr val="4B5563"/>
                </a:solidFill>
                <a:latin typeface="Segoe UI" panose="020B0502040204020203" pitchFamily="34" charset="0"/>
                <a:ea typeface="Calibri" pitchFamily="34" charset="-122"/>
                <a:cs typeface="Segoe UI" panose="020B0502040204020203" pitchFamily="34" charset="0"/>
              </a:rPr>
              <a:t>to a cleaned </a:t>
            </a:r>
            <a:r>
              <a:rPr lang="en-IN" sz="1000" b="1" dirty="0">
                <a:solidFill>
                  <a:srgbClr val="4B5563"/>
                </a:solidFill>
                <a:latin typeface="Segoe UI" panose="020B0502040204020203" pitchFamily="34" charset="0"/>
                <a:ea typeface="Calibri" pitchFamily="34" charset="-122"/>
                <a:cs typeface="Segoe UI" panose="020B0502040204020203" pitchFamily="34" charset="0"/>
              </a:rPr>
              <a:t>531 x 13 </a:t>
            </a:r>
            <a:r>
              <a:rPr lang="en-IN" sz="1000" dirty="0">
                <a:solidFill>
                  <a:srgbClr val="4B5563"/>
                </a:solidFill>
                <a:latin typeface="Segoe UI" panose="020B0502040204020203" pitchFamily="34" charset="0"/>
                <a:ea typeface="Calibri" pitchFamily="34" charset="-122"/>
                <a:cs typeface="Segoe UI" panose="020B0502040204020203" pitchFamily="34" charset="0"/>
              </a:rPr>
              <a:t>structure ready for EDA. </a:t>
            </a:r>
            <a:endParaRPr lang="en-US" sz="1000" dirty="0">
              <a:solidFill>
                <a:srgbClr val="4B5563"/>
              </a:solidFill>
              <a:latin typeface="Segoe UI" panose="020B0502040204020203" pitchFamily="34" charset="0"/>
              <a:ea typeface="Calibri" pitchFamily="34" charset="-122"/>
              <a:cs typeface="Segoe UI" panose="020B05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540496" cy="594360"/>
          </a:xfrm>
          <a:prstGeom prst="rect">
            <a:avLst/>
          </a:prstGeom>
          <a:noFill/>
          <a:ln/>
        </p:spPr>
        <p:txBody>
          <a:bodyPr wrap="square" rtlCol="0" anchor="ctr"/>
          <a:lstStyle/>
          <a:p>
            <a:pPr algn="ctr"/>
            <a:r>
              <a:rPr lang="en-US" sz="2800" b="1" dirty="0">
                <a:solidFill>
                  <a:srgbClr val="FFFFFF"/>
                </a:solidFill>
                <a:latin typeface="Bahnschrift" panose="020B0502040204020203" pitchFamily="34" charset="0"/>
                <a:ea typeface="Calibri" pitchFamily="34" charset="-122"/>
                <a:cs typeface="Calibri" pitchFamily="34" charset="-120"/>
              </a:rPr>
              <a:t>Feature Engineering</a:t>
            </a:r>
          </a:p>
        </p:txBody>
      </p:sp>
      <p:sp>
        <p:nvSpPr>
          <p:cNvPr id="5" name="Text 3"/>
          <p:cNvSpPr/>
          <p:nvPr/>
        </p:nvSpPr>
        <p:spPr>
          <a:xfrm>
            <a:off x="274320" y="649927"/>
            <a:ext cx="8595360" cy="237744"/>
          </a:xfrm>
          <a:prstGeom prst="rect">
            <a:avLst/>
          </a:prstGeom>
          <a:noFill/>
          <a:ln/>
        </p:spPr>
        <p:txBody>
          <a:bodyPr wrap="square" rtlCol="0" anchor="ctr"/>
          <a:lstStyle/>
          <a:p>
            <a:r>
              <a:rPr lang="en-IN" sz="1000" i="1" dirty="0">
                <a:solidFill>
                  <a:srgbClr val="4B5563"/>
                </a:solidFill>
                <a:latin typeface="Segoe UI" panose="020B0502040204020203" pitchFamily="34" charset="0"/>
                <a:ea typeface="Calibri" pitchFamily="34" charset="-122"/>
                <a:cs typeface="Segoe UI" panose="020B0502040204020203" pitchFamily="34" charset="0"/>
              </a:rPr>
              <a:t>Three helper features engineered from categorical attributes to support exploratory analysis and subsequent preprocessing</a:t>
            </a:r>
            <a:endParaRPr lang="en-US" sz="1000" i="1" dirty="0">
              <a:solidFill>
                <a:srgbClr val="4B5563"/>
              </a:solidFill>
              <a:latin typeface="Segoe UI" panose="020B0502040204020203" pitchFamily="34" charset="0"/>
              <a:ea typeface="Calibri" pitchFamily="34" charset="-122"/>
              <a:cs typeface="Segoe UI" panose="020B0502040204020203" pitchFamily="34" charset="0"/>
            </a:endParaRPr>
          </a:p>
        </p:txBody>
      </p:sp>
      <p:sp>
        <p:nvSpPr>
          <p:cNvPr id="6" name="Shape 4"/>
          <p:cNvSpPr/>
          <p:nvPr/>
        </p:nvSpPr>
        <p:spPr>
          <a:xfrm>
            <a:off x="274320" y="987552"/>
            <a:ext cx="859536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7" name="Text 5"/>
          <p:cNvSpPr/>
          <p:nvPr/>
        </p:nvSpPr>
        <p:spPr>
          <a:xfrm>
            <a:off x="384048" y="1060704"/>
            <a:ext cx="2286000" cy="256032"/>
          </a:xfrm>
          <a:prstGeom prst="rect">
            <a:avLst/>
          </a:prstGeom>
          <a:noFill/>
          <a:ln/>
        </p:spPr>
        <p:txBody>
          <a:bodyPr wrap="square" rtlCol="0" anchor="ctr"/>
          <a:lstStyle/>
          <a:p>
            <a:pPr indent="0">
              <a:buNone/>
            </a:pPr>
            <a:r>
              <a:rPr lang="en-US" sz="1200" b="1" dirty="0">
                <a:solidFill>
                  <a:srgbClr val="1E1B4B"/>
                </a:solidFill>
                <a:latin typeface="Segoe UI" panose="020B0502040204020203" pitchFamily="34" charset="0"/>
                <a:ea typeface="Calibri" pitchFamily="34" charset="-122"/>
                <a:cs typeface="Segoe UI" panose="020B0502040204020203" pitchFamily="34" charset="0"/>
              </a:rPr>
              <a:t>Processor_Brand</a:t>
            </a:r>
          </a:p>
        </p:txBody>
      </p:sp>
      <p:sp>
        <p:nvSpPr>
          <p:cNvPr id="8" name="Text 6"/>
          <p:cNvSpPr/>
          <p:nvPr/>
        </p:nvSpPr>
        <p:spPr>
          <a:xfrm>
            <a:off x="384048" y="1316736"/>
            <a:ext cx="5029200" cy="182880"/>
          </a:xfrm>
          <a:prstGeom prst="rect">
            <a:avLst/>
          </a:prstGeom>
          <a:noFill/>
          <a:ln/>
        </p:spPr>
        <p:txBody>
          <a:bodyPr wrap="square" rtlCol="0" anchor="ctr"/>
          <a:lstStyle/>
          <a:p>
            <a:pPr indent="0">
              <a:buNone/>
            </a:pPr>
            <a:r>
              <a:rPr lang="en-US" sz="900" i="1" dirty="0">
                <a:solidFill>
                  <a:srgbClr val="4B5563"/>
                </a:solidFill>
                <a:ea typeface="Calibri" pitchFamily="34" charset="-122"/>
                <a:cs typeface="Segoe UI" panose="020B0502040204020203" pitchFamily="34" charset="0"/>
              </a:rPr>
              <a:t>From: Processor_  (e.g. 'Qualcomm Snapdragon 680', 'Unisoc Spreadtrum SC9863A1')</a:t>
            </a:r>
          </a:p>
        </p:txBody>
      </p:sp>
      <p:sp>
        <p:nvSpPr>
          <p:cNvPr id="9" name="Text 7"/>
          <p:cNvSpPr/>
          <p:nvPr/>
        </p:nvSpPr>
        <p:spPr>
          <a:xfrm>
            <a:off x="384048" y="1499616"/>
            <a:ext cx="5029200" cy="182880"/>
          </a:xfrm>
          <a:prstGeom prst="rect">
            <a:avLst/>
          </a:prstGeom>
          <a:noFill/>
          <a:ln/>
        </p:spPr>
        <p:txBody>
          <a:bodyPr wrap="square" rtlCol="0" anchor="ctr"/>
          <a:lstStyle/>
          <a:p>
            <a:r>
              <a:rPr lang="en-US" sz="900" i="1" dirty="0">
                <a:solidFill>
                  <a:srgbClr val="4B5563"/>
                </a:solidFill>
                <a:ea typeface="Calibri" pitchFamily="34" charset="-122"/>
                <a:cs typeface="Segoe UI" panose="020B0502040204020203" pitchFamily="34" charset="0"/>
              </a:rPr>
              <a:t>Method: Keyword matching on processor strings → 6 brand categories</a:t>
            </a:r>
          </a:p>
        </p:txBody>
      </p:sp>
      <p:sp>
        <p:nvSpPr>
          <p:cNvPr id="10" name="Text 8"/>
          <p:cNvSpPr/>
          <p:nvPr/>
        </p:nvSpPr>
        <p:spPr>
          <a:xfrm>
            <a:off x="384048" y="1700784"/>
            <a:ext cx="5029200" cy="475488"/>
          </a:xfrm>
          <a:prstGeom prst="rect">
            <a:avLst/>
          </a:prstGeom>
          <a:noFill/>
          <a:ln/>
        </p:spPr>
        <p:txBody>
          <a:bodyPr wrap="square" rtlCol="0" anchor="ctr"/>
          <a:lstStyle/>
          <a:p>
            <a:pPr marL="0" indent="0">
              <a:buNone/>
            </a:pPr>
            <a:r>
              <a:rPr lang="en-US" sz="1000" dirty="0">
                <a:solidFill>
                  <a:srgbClr val="4B5563"/>
                </a:solidFill>
                <a:latin typeface="Segoe UI" panose="020B0502040204020203" pitchFamily="34" charset="0"/>
                <a:ea typeface="Calibri" pitchFamily="34" charset="-122"/>
                <a:cs typeface="Segoe UI" panose="020B0502040204020203" pitchFamily="34" charset="0"/>
              </a:rPr>
              <a:t>Mediatek 280 · Qualcomm 129 · Unisoc 69 · Exynos 28 · Google 8 · Unknown 17</a:t>
            </a:r>
            <a:endParaRPr lang="en-US" sz="1000" dirty="0">
              <a:latin typeface="Segoe UI" panose="020B0502040204020203" pitchFamily="34" charset="0"/>
              <a:cs typeface="Segoe UI" panose="020B0502040204020203" pitchFamily="34" charset="0"/>
            </a:endParaRPr>
          </a:p>
        </p:txBody>
      </p:sp>
      <p:sp>
        <p:nvSpPr>
          <p:cNvPr id="11" name="Shape 9"/>
          <p:cNvSpPr/>
          <p:nvPr/>
        </p:nvSpPr>
        <p:spPr>
          <a:xfrm>
            <a:off x="5440680" y="1060704"/>
            <a:ext cx="3310128" cy="1115568"/>
          </a:xfrm>
          <a:prstGeom prst="roundRect">
            <a:avLst>
              <a:gd name="adj" fmla="val 6557"/>
            </a:avLst>
          </a:prstGeom>
          <a:solidFill>
            <a:srgbClr val="FEF3C7"/>
          </a:solidFill>
          <a:ln w="12700">
            <a:solidFill>
              <a:srgbClr val="D97706"/>
            </a:solidFill>
            <a:prstDash val="solid"/>
          </a:ln>
          <a:effectLst>
            <a:outerShdw blurRad="76200" dist="25400" dir="2700000" algn="bl" rotWithShape="0">
              <a:srgbClr val="000000">
                <a:alpha val="8000"/>
              </a:srgbClr>
            </a:outerShdw>
          </a:effectLst>
        </p:spPr>
        <p:txBody>
          <a:bodyPr/>
          <a:lstStyle/>
          <a:p>
            <a:endParaRPr lang="en-IN"/>
          </a:p>
        </p:txBody>
      </p:sp>
      <p:sp>
        <p:nvSpPr>
          <p:cNvPr id="12" name="Text 10"/>
          <p:cNvSpPr/>
          <p:nvPr/>
        </p:nvSpPr>
        <p:spPr>
          <a:xfrm>
            <a:off x="5532120" y="1078992"/>
            <a:ext cx="3127248" cy="1078992"/>
          </a:xfrm>
          <a:prstGeom prst="rect">
            <a:avLst/>
          </a:prstGeom>
          <a:noFill/>
          <a:ln/>
        </p:spPr>
        <p:txBody>
          <a:bodyPr wrap="square" rtlCol="0" anchor="ctr"/>
          <a:lstStyle/>
          <a:p>
            <a:pPr marL="0" indent="0">
              <a:buNone/>
            </a:pPr>
            <a:r>
              <a:rPr lang="en-US" sz="1000" dirty="0">
                <a:solidFill>
                  <a:srgbClr val="92400E"/>
                </a:solidFill>
                <a:latin typeface="Segoe UI" panose="020B0502040204020203" pitchFamily="34" charset="0"/>
                <a:ea typeface="Calibri" pitchFamily="34" charset="-122"/>
                <a:cs typeface="Segoe UI" panose="020B0502040204020203" pitchFamily="34" charset="0"/>
              </a:rPr>
              <a:t>💡 Mediatek dominates (52.73%). 17 'Unknown' entries (Android, Octa Core strings) are a small fraction.</a:t>
            </a:r>
            <a:endParaRPr lang="en-US" sz="1000" dirty="0">
              <a:latin typeface="Segoe UI" panose="020B0502040204020203" pitchFamily="34" charset="0"/>
              <a:cs typeface="Segoe UI" panose="020B0502040204020203" pitchFamily="34" charset="0"/>
            </a:endParaRPr>
          </a:p>
        </p:txBody>
      </p:sp>
      <p:sp>
        <p:nvSpPr>
          <p:cNvPr id="13" name="Shape 11"/>
          <p:cNvSpPr/>
          <p:nvPr/>
        </p:nvSpPr>
        <p:spPr>
          <a:xfrm>
            <a:off x="274320" y="2377440"/>
            <a:ext cx="859536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4" name="Text 12"/>
          <p:cNvSpPr/>
          <p:nvPr/>
        </p:nvSpPr>
        <p:spPr>
          <a:xfrm>
            <a:off x="384048" y="2450592"/>
            <a:ext cx="2286000" cy="256032"/>
          </a:xfrm>
          <a:prstGeom prst="rect">
            <a:avLst/>
          </a:prstGeom>
          <a:noFill/>
          <a:ln/>
        </p:spPr>
        <p:txBody>
          <a:bodyPr wrap="square" rtlCol="0" anchor="ctr"/>
          <a:lstStyle/>
          <a:p>
            <a:r>
              <a:rPr lang="en-US" sz="1200" b="1" dirty="0">
                <a:solidFill>
                  <a:srgbClr val="1E1B4B"/>
                </a:solidFill>
                <a:latin typeface="Segoe UI" panose="020B0502040204020203" pitchFamily="34" charset="0"/>
                <a:ea typeface="Calibri" pitchFamily="34" charset="-122"/>
                <a:cs typeface="Segoe UI" panose="020B0502040204020203" pitchFamily="34" charset="0"/>
              </a:rPr>
              <a:t>Model_Category</a:t>
            </a:r>
          </a:p>
        </p:txBody>
      </p:sp>
      <p:sp>
        <p:nvSpPr>
          <p:cNvPr id="15" name="Text 13"/>
          <p:cNvSpPr/>
          <p:nvPr/>
        </p:nvSpPr>
        <p:spPr>
          <a:xfrm>
            <a:off x="384048" y="2706624"/>
            <a:ext cx="5029200" cy="182880"/>
          </a:xfrm>
          <a:prstGeom prst="rect">
            <a:avLst/>
          </a:prstGeom>
          <a:noFill/>
          <a:ln/>
        </p:spPr>
        <p:txBody>
          <a:bodyPr wrap="square" rtlCol="0" anchor="ctr"/>
          <a:lstStyle/>
          <a:p>
            <a:pPr indent="0">
              <a:buNone/>
            </a:pPr>
            <a:r>
              <a:rPr lang="en-US" sz="900" i="1" dirty="0">
                <a:solidFill>
                  <a:srgbClr val="4B5563"/>
                </a:solidFill>
                <a:ea typeface="Calibri" pitchFamily="34" charset="-122"/>
                <a:cs typeface="Segoe UI" panose="020B0502040204020203" pitchFamily="34" charset="0"/>
              </a:rPr>
              <a:t>From: Model  (187 unique names)</a:t>
            </a:r>
          </a:p>
        </p:txBody>
      </p:sp>
      <p:sp>
        <p:nvSpPr>
          <p:cNvPr id="16" name="Text 14"/>
          <p:cNvSpPr/>
          <p:nvPr/>
        </p:nvSpPr>
        <p:spPr>
          <a:xfrm>
            <a:off x="384048" y="2889504"/>
            <a:ext cx="5029200" cy="182880"/>
          </a:xfrm>
          <a:prstGeom prst="rect">
            <a:avLst/>
          </a:prstGeom>
          <a:noFill/>
          <a:ln/>
        </p:spPr>
        <p:txBody>
          <a:bodyPr wrap="square" rtlCol="0" anchor="ctr"/>
          <a:lstStyle/>
          <a:p>
            <a:r>
              <a:rPr lang="en-US" sz="900" i="1" dirty="0">
                <a:solidFill>
                  <a:srgbClr val="4B5563"/>
                </a:solidFill>
                <a:ea typeface="Calibri" pitchFamily="34" charset="-122"/>
                <a:cs typeface="Segoe UI" panose="020B0502040204020203" pitchFamily="34" charset="0"/>
              </a:rPr>
              <a:t>Method: Brand family keyword extraction → 13 brand families</a:t>
            </a:r>
          </a:p>
        </p:txBody>
      </p:sp>
      <p:sp>
        <p:nvSpPr>
          <p:cNvPr id="17" name="Text 15"/>
          <p:cNvSpPr/>
          <p:nvPr/>
        </p:nvSpPr>
        <p:spPr>
          <a:xfrm>
            <a:off x="384048" y="3090672"/>
            <a:ext cx="5029200" cy="475488"/>
          </a:xfrm>
          <a:prstGeom prst="rect">
            <a:avLst/>
          </a:prstGeom>
          <a:noFill/>
          <a:ln/>
        </p:spPr>
        <p:txBody>
          <a:bodyPr wrap="square" rtlCol="0" anchor="ctr"/>
          <a:lstStyle/>
          <a:p>
            <a:r>
              <a:rPr lang="en-US" sz="1000" dirty="0">
                <a:solidFill>
                  <a:srgbClr val="4B5563"/>
                </a:solidFill>
                <a:latin typeface="Segoe UI" panose="020B0502040204020203" pitchFamily="34" charset="0"/>
                <a:ea typeface="Calibri" pitchFamily="34" charset="-122"/>
                <a:cs typeface="Segoe UI" panose="020B0502040204020203" pitchFamily="34" charset="0"/>
              </a:rPr>
              <a:t>Xiaomi 132 · Realme 97 · Infinix 65 · Vivo 60  · Samsung 53 · Motorola 45 · Others…</a:t>
            </a:r>
          </a:p>
        </p:txBody>
      </p:sp>
      <p:sp>
        <p:nvSpPr>
          <p:cNvPr id="18" name="Shape 16"/>
          <p:cNvSpPr/>
          <p:nvPr/>
        </p:nvSpPr>
        <p:spPr>
          <a:xfrm>
            <a:off x="5440680" y="2457626"/>
            <a:ext cx="3310128" cy="1115568"/>
          </a:xfrm>
          <a:prstGeom prst="roundRect">
            <a:avLst>
              <a:gd name="adj" fmla="val 6557"/>
            </a:avLst>
          </a:prstGeom>
          <a:solidFill>
            <a:srgbClr val="FEF3C7"/>
          </a:solidFill>
          <a:ln w="12700">
            <a:solidFill>
              <a:srgbClr val="D97706"/>
            </a:solidFill>
            <a:prstDash val="solid"/>
          </a:ln>
          <a:effectLst>
            <a:outerShdw blurRad="76200" dist="25400" dir="2700000" algn="bl" rotWithShape="0">
              <a:srgbClr val="000000">
                <a:alpha val="8000"/>
              </a:srgbClr>
            </a:outerShdw>
          </a:effectLst>
        </p:spPr>
        <p:txBody>
          <a:bodyPr/>
          <a:lstStyle/>
          <a:p>
            <a:endParaRPr lang="en-IN"/>
          </a:p>
        </p:txBody>
      </p:sp>
      <p:sp>
        <p:nvSpPr>
          <p:cNvPr id="19" name="Text 17"/>
          <p:cNvSpPr/>
          <p:nvPr/>
        </p:nvSpPr>
        <p:spPr>
          <a:xfrm>
            <a:off x="5532120" y="2468880"/>
            <a:ext cx="3127248" cy="1078992"/>
          </a:xfrm>
          <a:prstGeom prst="rect">
            <a:avLst/>
          </a:prstGeom>
          <a:noFill/>
          <a:ln/>
        </p:spPr>
        <p:txBody>
          <a:bodyPr wrap="square" rtlCol="0" anchor="ctr"/>
          <a:lstStyle/>
          <a:p>
            <a:pPr marL="0" indent="0">
              <a:buNone/>
            </a:pPr>
            <a:r>
              <a:rPr lang="en-US" sz="1000" dirty="0">
                <a:solidFill>
                  <a:srgbClr val="92400E"/>
                </a:solidFill>
                <a:latin typeface="Segoe UI" panose="020B0502040204020203" pitchFamily="34" charset="0"/>
                <a:ea typeface="Calibri" pitchFamily="34" charset="-122"/>
                <a:cs typeface="Segoe UI" panose="020B0502040204020203" pitchFamily="34" charset="0"/>
              </a:rPr>
              <a:t>💡 Xiaomi + Realme + Infinix = 55.4% of dataset</a:t>
            </a:r>
            <a:endParaRPr lang="en-US" sz="1000" dirty="0">
              <a:latin typeface="Segoe UI" panose="020B0502040204020203" pitchFamily="34" charset="0"/>
              <a:cs typeface="Segoe UI" panose="020B0502040204020203" pitchFamily="34" charset="0"/>
            </a:endParaRPr>
          </a:p>
        </p:txBody>
      </p:sp>
      <p:sp>
        <p:nvSpPr>
          <p:cNvPr id="20" name="Shape 18"/>
          <p:cNvSpPr/>
          <p:nvPr/>
        </p:nvSpPr>
        <p:spPr>
          <a:xfrm>
            <a:off x="274320" y="3767328"/>
            <a:ext cx="859536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21" name="Text 19"/>
          <p:cNvSpPr/>
          <p:nvPr/>
        </p:nvSpPr>
        <p:spPr>
          <a:xfrm>
            <a:off x="384048" y="3840480"/>
            <a:ext cx="2286000" cy="256032"/>
          </a:xfrm>
          <a:prstGeom prst="rect">
            <a:avLst/>
          </a:prstGeom>
          <a:noFill/>
          <a:ln/>
        </p:spPr>
        <p:txBody>
          <a:bodyPr wrap="square" rtlCol="0" anchor="ctr"/>
          <a:lstStyle/>
          <a:p>
            <a:pPr indent="0">
              <a:buNone/>
            </a:pPr>
            <a:r>
              <a:rPr lang="en-US" sz="1200" b="1" dirty="0">
                <a:solidFill>
                  <a:srgbClr val="1E1B4B"/>
                </a:solidFill>
                <a:latin typeface="Segoe UI" panose="020B0502040204020203" pitchFamily="34" charset="0"/>
                <a:ea typeface="Calibri" pitchFamily="34" charset="-122"/>
                <a:cs typeface="Segoe UI" panose="020B0502040204020203" pitchFamily="34" charset="0"/>
              </a:rPr>
              <a:t>Colour_Category</a:t>
            </a:r>
          </a:p>
        </p:txBody>
      </p:sp>
      <p:sp>
        <p:nvSpPr>
          <p:cNvPr id="22" name="Text 20"/>
          <p:cNvSpPr/>
          <p:nvPr/>
        </p:nvSpPr>
        <p:spPr>
          <a:xfrm>
            <a:off x="384048" y="4096512"/>
            <a:ext cx="5029200" cy="182880"/>
          </a:xfrm>
          <a:prstGeom prst="rect">
            <a:avLst/>
          </a:prstGeom>
          <a:noFill/>
          <a:ln/>
        </p:spPr>
        <p:txBody>
          <a:bodyPr wrap="square" rtlCol="0" anchor="ctr"/>
          <a:lstStyle/>
          <a:p>
            <a:pPr indent="0">
              <a:buNone/>
            </a:pPr>
            <a:r>
              <a:rPr lang="en-US" sz="900" i="1" dirty="0">
                <a:solidFill>
                  <a:srgbClr val="4B5563"/>
                </a:solidFill>
                <a:ea typeface="Calibri" pitchFamily="34" charset="-122"/>
                <a:cs typeface="Segoe UI" panose="020B0502040204020203" pitchFamily="34" charset="0"/>
              </a:rPr>
              <a:t>From: Colour  (275 unique shade names — 'Midnight Black', 'Starry Blue' etc.)</a:t>
            </a:r>
          </a:p>
        </p:txBody>
      </p:sp>
      <p:sp>
        <p:nvSpPr>
          <p:cNvPr id="23" name="Text 21"/>
          <p:cNvSpPr/>
          <p:nvPr/>
        </p:nvSpPr>
        <p:spPr>
          <a:xfrm>
            <a:off x="384048" y="4279392"/>
            <a:ext cx="5029200" cy="182880"/>
          </a:xfrm>
          <a:prstGeom prst="rect">
            <a:avLst/>
          </a:prstGeom>
          <a:noFill/>
          <a:ln/>
        </p:spPr>
        <p:txBody>
          <a:bodyPr wrap="square" rtlCol="0" anchor="ctr"/>
          <a:lstStyle/>
          <a:p>
            <a:r>
              <a:rPr lang="en-US" sz="900" i="1" dirty="0">
                <a:solidFill>
                  <a:srgbClr val="4B5563"/>
                </a:solidFill>
                <a:ea typeface="Calibri" pitchFamily="34" charset="-122"/>
                <a:cs typeface="Segoe UI" panose="020B0502040204020203" pitchFamily="34" charset="0"/>
              </a:rPr>
              <a:t>Method: Base colour family grouping → 12 colour families</a:t>
            </a:r>
          </a:p>
        </p:txBody>
      </p:sp>
      <p:sp>
        <p:nvSpPr>
          <p:cNvPr id="24" name="Text 22"/>
          <p:cNvSpPr/>
          <p:nvPr/>
        </p:nvSpPr>
        <p:spPr>
          <a:xfrm>
            <a:off x="384048" y="4480560"/>
            <a:ext cx="5029200" cy="475488"/>
          </a:xfrm>
          <a:prstGeom prst="rect">
            <a:avLst/>
          </a:prstGeom>
          <a:noFill/>
          <a:ln/>
        </p:spPr>
        <p:txBody>
          <a:bodyPr wrap="square" rtlCol="0" anchor="ctr"/>
          <a:lstStyle/>
          <a:p>
            <a:pPr indent="0">
              <a:buNone/>
            </a:pPr>
            <a:r>
              <a:rPr lang="en-US" sz="1000" dirty="0">
                <a:solidFill>
                  <a:srgbClr val="4B5563"/>
                </a:solidFill>
                <a:latin typeface="Segoe UI" panose="020B0502040204020203" pitchFamily="34" charset="0"/>
                <a:ea typeface="Calibri" pitchFamily="34" charset="-122"/>
                <a:cs typeface="Segoe UI" panose="020B0502040204020203" pitchFamily="34" charset="0"/>
              </a:rPr>
              <a:t>Black 157 · Blue 139 · Green 59 · Silver/Grey 39 · White 35 · Others…</a:t>
            </a:r>
          </a:p>
        </p:txBody>
      </p:sp>
      <p:sp>
        <p:nvSpPr>
          <p:cNvPr id="25" name="Shape 23"/>
          <p:cNvSpPr/>
          <p:nvPr/>
        </p:nvSpPr>
        <p:spPr>
          <a:xfrm>
            <a:off x="5440680" y="3840480"/>
            <a:ext cx="3310128" cy="1115568"/>
          </a:xfrm>
          <a:prstGeom prst="roundRect">
            <a:avLst>
              <a:gd name="adj" fmla="val 6557"/>
            </a:avLst>
          </a:prstGeom>
          <a:solidFill>
            <a:srgbClr val="FEF3C7"/>
          </a:solidFill>
          <a:ln w="12700">
            <a:solidFill>
              <a:srgbClr val="D97706"/>
            </a:solidFill>
            <a:prstDash val="solid"/>
          </a:ln>
          <a:effectLst>
            <a:outerShdw blurRad="76200" dist="25400" dir="2700000" algn="bl" rotWithShape="0">
              <a:srgbClr val="000000">
                <a:alpha val="8000"/>
              </a:srgbClr>
            </a:outerShdw>
          </a:effectLst>
        </p:spPr>
        <p:txBody>
          <a:bodyPr/>
          <a:lstStyle/>
          <a:p>
            <a:endParaRPr lang="en-IN"/>
          </a:p>
        </p:txBody>
      </p:sp>
      <p:sp>
        <p:nvSpPr>
          <p:cNvPr id="26" name="Text 24"/>
          <p:cNvSpPr/>
          <p:nvPr/>
        </p:nvSpPr>
        <p:spPr>
          <a:xfrm>
            <a:off x="5532120" y="3858768"/>
            <a:ext cx="3127248" cy="1078992"/>
          </a:xfrm>
          <a:prstGeom prst="rect">
            <a:avLst/>
          </a:prstGeom>
          <a:noFill/>
          <a:ln/>
        </p:spPr>
        <p:txBody>
          <a:bodyPr wrap="square" rtlCol="0" anchor="ctr"/>
          <a:lstStyle/>
          <a:p>
            <a:pPr marL="0" indent="0">
              <a:buNone/>
            </a:pPr>
            <a:r>
              <a:rPr lang="en-US" sz="1000" dirty="0">
                <a:solidFill>
                  <a:srgbClr val="92400E"/>
                </a:solidFill>
                <a:latin typeface="Segoe UI" panose="020B0502040204020203" pitchFamily="34" charset="0"/>
                <a:ea typeface="Calibri" pitchFamily="34" charset="-122"/>
                <a:cs typeface="Segoe UI" panose="020B0502040204020203" pitchFamily="34" charset="0"/>
              </a:rPr>
              <a:t>💡 Black + Blue = 55.74% of devices. Colour family used for EDA only — dropped before modelling.</a:t>
            </a:r>
            <a:endParaRPr lang="en-US" sz="1000" dirty="0">
              <a:latin typeface="Segoe UI" panose="020B0502040204020203" pitchFamily="34" charset="0"/>
              <a:cs typeface="Segoe UI" panose="020B05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274320" y="0"/>
            <a:ext cx="8650224" cy="594360"/>
          </a:xfrm>
          <a:prstGeom prst="rect">
            <a:avLst/>
          </a:prstGeom>
          <a:noFill/>
          <a:ln/>
        </p:spPr>
        <p:txBody>
          <a:bodyPr wrap="square" rtlCol="0" anchor="ctr"/>
          <a:lstStyle/>
          <a:p>
            <a:pPr algn="ctr"/>
            <a:r>
              <a:rPr lang="en-US" sz="2800" b="1" dirty="0">
                <a:solidFill>
                  <a:srgbClr val="FFFFFF"/>
                </a:solidFill>
                <a:latin typeface="Bahnschrift" panose="020B0502040204020203" pitchFamily="34" charset="0"/>
                <a:ea typeface="Calibri" pitchFamily="34" charset="-122"/>
                <a:cs typeface="Calibri" pitchFamily="34" charset="-120"/>
              </a:rPr>
              <a:t>EDA — Outlier Assessment &amp; Treatment</a:t>
            </a:r>
            <a:endParaRPr lang="en-US" sz="2800" dirty="0">
              <a:latin typeface="Bahnschrift" panose="020B0502040204020203" pitchFamily="34" charset="0"/>
            </a:endParaRPr>
          </a:p>
        </p:txBody>
      </p:sp>
      <p:pic>
        <p:nvPicPr>
          <p:cNvPr id="44" name="Picture 43">
            <a:extLst>
              <a:ext uri="{FF2B5EF4-FFF2-40B4-BE49-F238E27FC236}">
                <a16:creationId xmlns:a16="http://schemas.microsoft.com/office/drawing/2014/main" id="{68565F09-805F-FBD2-7761-614C4F46C69C}"/>
              </a:ext>
            </a:extLst>
          </p:cNvPr>
          <p:cNvPicPr>
            <a:picLocks noChangeAspect="1"/>
          </p:cNvPicPr>
          <p:nvPr/>
        </p:nvPicPr>
        <p:blipFill>
          <a:blip r:embed="rId3"/>
          <a:stretch>
            <a:fillRect/>
          </a:stretch>
        </p:blipFill>
        <p:spPr>
          <a:xfrm>
            <a:off x="5535638" y="667152"/>
            <a:ext cx="3479116" cy="4476347"/>
          </a:xfrm>
          <a:prstGeom prst="rect">
            <a:avLst/>
          </a:prstGeom>
        </p:spPr>
      </p:pic>
      <p:graphicFrame>
        <p:nvGraphicFramePr>
          <p:cNvPr id="45" name="Table 44">
            <a:extLst>
              <a:ext uri="{FF2B5EF4-FFF2-40B4-BE49-F238E27FC236}">
                <a16:creationId xmlns:a16="http://schemas.microsoft.com/office/drawing/2014/main" id="{C2166B8B-26FC-D985-84E6-E59262009795}"/>
              </a:ext>
            </a:extLst>
          </p:cNvPr>
          <p:cNvGraphicFramePr>
            <a:graphicFrameLocks noGrp="1"/>
          </p:cNvGraphicFramePr>
          <p:nvPr>
            <p:extLst>
              <p:ext uri="{D42A27DB-BD31-4B8C-83A1-F6EECF244321}">
                <p14:modId xmlns:p14="http://schemas.microsoft.com/office/powerpoint/2010/main" val="2017520125"/>
              </p:ext>
            </p:extLst>
          </p:nvPr>
        </p:nvGraphicFramePr>
        <p:xfrm>
          <a:off x="274321" y="872198"/>
          <a:ext cx="5064370" cy="2419642"/>
        </p:xfrm>
        <a:graphic>
          <a:graphicData uri="http://schemas.openxmlformats.org/drawingml/2006/table">
            <a:tbl>
              <a:tblPr>
                <a:tableStyleId>{5C22544A-7EE6-4342-B048-85BDC9FD1C3A}</a:tableStyleId>
              </a:tblPr>
              <a:tblGrid>
                <a:gridCol w="817520">
                  <a:extLst>
                    <a:ext uri="{9D8B030D-6E8A-4147-A177-3AD203B41FA5}">
                      <a16:colId xmlns:a16="http://schemas.microsoft.com/office/drawing/2014/main" val="672088095"/>
                    </a:ext>
                  </a:extLst>
                </a:gridCol>
                <a:gridCol w="509623">
                  <a:extLst>
                    <a:ext uri="{9D8B030D-6E8A-4147-A177-3AD203B41FA5}">
                      <a16:colId xmlns:a16="http://schemas.microsoft.com/office/drawing/2014/main" val="2651938586"/>
                    </a:ext>
                  </a:extLst>
                </a:gridCol>
                <a:gridCol w="509623">
                  <a:extLst>
                    <a:ext uri="{9D8B030D-6E8A-4147-A177-3AD203B41FA5}">
                      <a16:colId xmlns:a16="http://schemas.microsoft.com/office/drawing/2014/main" val="42684138"/>
                    </a:ext>
                  </a:extLst>
                </a:gridCol>
                <a:gridCol w="775050">
                  <a:extLst>
                    <a:ext uri="{9D8B030D-6E8A-4147-A177-3AD203B41FA5}">
                      <a16:colId xmlns:a16="http://schemas.microsoft.com/office/drawing/2014/main" val="2951831635"/>
                    </a:ext>
                  </a:extLst>
                </a:gridCol>
                <a:gridCol w="806900">
                  <a:extLst>
                    <a:ext uri="{9D8B030D-6E8A-4147-A177-3AD203B41FA5}">
                      <a16:colId xmlns:a16="http://schemas.microsoft.com/office/drawing/2014/main" val="301468714"/>
                    </a:ext>
                  </a:extLst>
                </a:gridCol>
                <a:gridCol w="1645654">
                  <a:extLst>
                    <a:ext uri="{9D8B030D-6E8A-4147-A177-3AD203B41FA5}">
                      <a16:colId xmlns:a16="http://schemas.microsoft.com/office/drawing/2014/main" val="3100566284"/>
                    </a:ext>
                  </a:extLst>
                </a:gridCol>
              </a:tblGrid>
              <a:tr h="450527">
                <a:tc>
                  <a:txBody>
                    <a:bodyPr/>
                    <a:lstStyle/>
                    <a:p>
                      <a:pPr algn="ctr" fontAlgn="ctr">
                        <a:buNone/>
                      </a:pPr>
                      <a:r>
                        <a:rPr lang="en-IN" sz="1000" b="1" u="none" strike="noStrike" dirty="0">
                          <a:solidFill>
                            <a:srgbClr val="E7E7F5"/>
                          </a:solidFill>
                          <a:effectLst/>
                          <a:latin typeface="Segoe UI" panose="020B0502040204020203" pitchFamily="34" charset="0"/>
                          <a:cs typeface="Segoe UI" panose="020B0502040204020203" pitchFamily="34" charset="0"/>
                        </a:rPr>
                        <a:t>Feature</a:t>
                      </a:r>
                      <a:endParaRPr lang="en-IN" sz="1000" b="1" i="0" u="none" strike="noStrike" dirty="0">
                        <a:solidFill>
                          <a:srgbClr val="E7E7F5"/>
                        </a:solidFill>
                        <a:effectLst/>
                        <a:latin typeface="Segoe UI" panose="020B0502040204020203" pitchFamily="34" charset="0"/>
                        <a:cs typeface="Segoe UI" panose="020B0502040204020203" pitchFamily="34" charset="0"/>
                      </a:endParaRPr>
                    </a:p>
                  </a:txBody>
                  <a:tcPr marL="7620" marR="7620" marT="7620" marB="0" anchor="ctr">
                    <a:solidFill>
                      <a:srgbClr val="1E1B4B"/>
                    </a:solidFill>
                  </a:tcPr>
                </a:tc>
                <a:tc>
                  <a:txBody>
                    <a:bodyPr/>
                    <a:lstStyle/>
                    <a:p>
                      <a:pPr algn="ctr" fontAlgn="ctr">
                        <a:buNone/>
                      </a:pPr>
                      <a:r>
                        <a:rPr lang="en-IN" sz="1000" b="1" u="none" strike="noStrike" dirty="0">
                          <a:solidFill>
                            <a:srgbClr val="E7E7F5"/>
                          </a:solidFill>
                          <a:effectLst/>
                          <a:latin typeface="Segoe UI" panose="020B0502040204020203" pitchFamily="34" charset="0"/>
                          <a:cs typeface="Segoe UI" panose="020B0502040204020203" pitchFamily="34" charset="0"/>
                        </a:rPr>
                        <a:t>IQR Flags</a:t>
                      </a:r>
                      <a:endParaRPr lang="en-IN" sz="1000" b="1" i="0" u="none" strike="noStrike" dirty="0">
                        <a:solidFill>
                          <a:srgbClr val="E7E7F5"/>
                        </a:solidFill>
                        <a:effectLst/>
                        <a:latin typeface="Segoe UI" panose="020B0502040204020203" pitchFamily="34" charset="0"/>
                        <a:cs typeface="Segoe UI" panose="020B0502040204020203" pitchFamily="34" charset="0"/>
                      </a:endParaRPr>
                    </a:p>
                  </a:txBody>
                  <a:tcPr marL="7620" marR="7620" marT="7620" marB="0" anchor="ctr">
                    <a:solidFill>
                      <a:srgbClr val="1E1B4B"/>
                    </a:solidFill>
                  </a:tcPr>
                </a:tc>
                <a:tc>
                  <a:txBody>
                    <a:bodyPr/>
                    <a:lstStyle/>
                    <a:p>
                      <a:pPr algn="ctr" fontAlgn="ctr">
                        <a:buNone/>
                      </a:pPr>
                      <a:r>
                        <a:rPr lang="en-IN" sz="1000" b="1" u="none" strike="noStrike" dirty="0">
                          <a:solidFill>
                            <a:srgbClr val="E7E7F5"/>
                          </a:solidFill>
                          <a:effectLst/>
                          <a:latin typeface="Segoe UI" panose="020B0502040204020203" pitchFamily="34" charset="0"/>
                          <a:cs typeface="Segoe UI" panose="020B0502040204020203" pitchFamily="34" charset="0"/>
                        </a:rPr>
                        <a:t>Z-Score Flags</a:t>
                      </a:r>
                      <a:endParaRPr lang="en-IN" sz="1000" b="1" i="0" u="none" strike="noStrike" dirty="0">
                        <a:solidFill>
                          <a:srgbClr val="E7E7F5"/>
                        </a:solidFill>
                        <a:effectLst/>
                        <a:latin typeface="Segoe UI" panose="020B0502040204020203" pitchFamily="34" charset="0"/>
                        <a:cs typeface="Segoe UI" panose="020B0502040204020203" pitchFamily="34" charset="0"/>
                      </a:endParaRPr>
                    </a:p>
                  </a:txBody>
                  <a:tcPr marL="7620" marR="7620" marT="7620" marB="0" anchor="ctr">
                    <a:solidFill>
                      <a:srgbClr val="1E1B4B"/>
                    </a:solidFill>
                  </a:tcPr>
                </a:tc>
                <a:tc>
                  <a:txBody>
                    <a:bodyPr/>
                    <a:lstStyle/>
                    <a:p>
                      <a:pPr algn="ctr" fontAlgn="ctr">
                        <a:buNone/>
                      </a:pPr>
                      <a:r>
                        <a:rPr lang="en-IN" sz="1000" b="1" u="none" strike="noStrike" dirty="0">
                          <a:solidFill>
                            <a:srgbClr val="E7E7F5"/>
                          </a:solidFill>
                          <a:effectLst/>
                          <a:latin typeface="Segoe UI" panose="020B0502040204020203" pitchFamily="34" charset="0"/>
                          <a:cs typeface="Segoe UI" panose="020B0502040204020203" pitchFamily="34" charset="0"/>
                        </a:rPr>
                        <a:t>Remaining  Flags</a:t>
                      </a:r>
                      <a:endParaRPr lang="en-IN" sz="1000" b="1" i="0" u="none" strike="noStrike" dirty="0">
                        <a:solidFill>
                          <a:srgbClr val="E7E7F5"/>
                        </a:solidFill>
                        <a:effectLst/>
                        <a:latin typeface="Segoe UI" panose="020B0502040204020203" pitchFamily="34" charset="0"/>
                        <a:cs typeface="Segoe UI" panose="020B0502040204020203" pitchFamily="34" charset="0"/>
                      </a:endParaRPr>
                    </a:p>
                  </a:txBody>
                  <a:tcPr marL="7620" marR="7620" marT="7620" marB="0" anchor="ctr">
                    <a:solidFill>
                      <a:srgbClr val="1E1B4B"/>
                    </a:solidFill>
                  </a:tcPr>
                </a:tc>
                <a:tc>
                  <a:txBody>
                    <a:bodyPr/>
                    <a:lstStyle/>
                    <a:p>
                      <a:pPr algn="ctr" fontAlgn="ctr">
                        <a:buNone/>
                      </a:pPr>
                      <a:r>
                        <a:rPr lang="en-IN" sz="1000" b="1" u="none" strike="noStrike" dirty="0">
                          <a:solidFill>
                            <a:srgbClr val="E7E7F5"/>
                          </a:solidFill>
                          <a:effectLst/>
                          <a:latin typeface="Segoe UI" panose="020B0502040204020203" pitchFamily="34" charset="0"/>
                          <a:cs typeface="Segoe UI" panose="020B0502040204020203" pitchFamily="34" charset="0"/>
                        </a:rPr>
                        <a:t>Decision</a:t>
                      </a:r>
                      <a:endParaRPr lang="en-IN" sz="1000" b="1" i="0" u="none" strike="noStrike" dirty="0">
                        <a:solidFill>
                          <a:srgbClr val="E7E7F5"/>
                        </a:solidFill>
                        <a:effectLst/>
                        <a:latin typeface="Segoe UI" panose="020B0502040204020203" pitchFamily="34" charset="0"/>
                        <a:cs typeface="Segoe UI" panose="020B0502040204020203" pitchFamily="34" charset="0"/>
                      </a:endParaRPr>
                    </a:p>
                  </a:txBody>
                  <a:tcPr marL="7620" marR="7620" marT="7620" marB="0" anchor="ctr">
                    <a:solidFill>
                      <a:srgbClr val="1E1B4B"/>
                    </a:solidFill>
                  </a:tcPr>
                </a:tc>
                <a:tc>
                  <a:txBody>
                    <a:bodyPr/>
                    <a:lstStyle/>
                    <a:p>
                      <a:pPr algn="ctr" fontAlgn="ctr">
                        <a:buNone/>
                      </a:pPr>
                      <a:r>
                        <a:rPr lang="en-IN" sz="1000" b="1" u="none" strike="noStrike" dirty="0">
                          <a:solidFill>
                            <a:srgbClr val="E7E7F5"/>
                          </a:solidFill>
                          <a:effectLst/>
                          <a:latin typeface="Segoe UI" panose="020B0502040204020203" pitchFamily="34" charset="0"/>
                          <a:cs typeface="Segoe UI" panose="020B0502040204020203" pitchFamily="34" charset="0"/>
                        </a:rPr>
                        <a:t>Justification</a:t>
                      </a:r>
                      <a:endParaRPr lang="en-IN" sz="1000" b="1" i="0" u="none" strike="noStrike" dirty="0">
                        <a:solidFill>
                          <a:srgbClr val="E7E7F5"/>
                        </a:solidFill>
                        <a:effectLst/>
                        <a:latin typeface="Segoe UI" panose="020B0502040204020203" pitchFamily="34" charset="0"/>
                        <a:cs typeface="Segoe UI" panose="020B0502040204020203" pitchFamily="34" charset="0"/>
                      </a:endParaRPr>
                    </a:p>
                  </a:txBody>
                  <a:tcPr marL="7620" marR="7620" marT="7620" marB="0" anchor="ctr">
                    <a:solidFill>
                      <a:srgbClr val="1E1B4B"/>
                    </a:solidFill>
                  </a:tcPr>
                </a:tc>
                <a:extLst>
                  <a:ext uri="{0D108BD9-81ED-4DB2-BD59-A6C34878D82A}">
                    <a16:rowId xmlns:a16="http://schemas.microsoft.com/office/drawing/2014/main" val="1651762307"/>
                  </a:ext>
                </a:extLst>
              </a:tr>
              <a:tr h="279765">
                <a:tc>
                  <a:txBody>
                    <a:bodyPr/>
                    <a:lstStyle/>
                    <a:p>
                      <a:pPr algn="ctr" fontAlgn="ctr">
                        <a:buNone/>
                      </a:pPr>
                      <a:r>
                        <a:rPr lang="en-IN" sz="950" u="none" strike="noStrike">
                          <a:effectLst/>
                        </a:rPr>
                        <a:t>Memory</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55</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0</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solidFill>
                            <a:srgbClr val="6200C4"/>
                          </a:solidFill>
                          <a:effectLst/>
                        </a:rPr>
                        <a:t>☑️ Retained</a:t>
                      </a:r>
                      <a:endParaRPr lang="en-IN" sz="950" b="1" i="0" u="none" strike="noStrike">
                        <a:solidFill>
                          <a:srgbClr val="6200C4"/>
                        </a:solidFill>
                        <a:effectLst/>
                        <a:latin typeface="Segoe UI" panose="020B0502040204020203" pitchFamily="34" charset="0"/>
                      </a:endParaRPr>
                    </a:p>
                  </a:txBody>
                  <a:tcPr marL="7620" marR="7620" marT="7620" marB="0" anchor="ctr"/>
                </a:tc>
                <a:tc>
                  <a:txBody>
                    <a:bodyPr/>
                    <a:lstStyle/>
                    <a:p>
                      <a:pPr algn="ctr" fontAlgn="ctr">
                        <a:buNone/>
                      </a:pPr>
                      <a:r>
                        <a:rPr lang="en-IN" sz="950" i="1" u="none" strike="noStrike" dirty="0">
                          <a:effectLst/>
                        </a:rPr>
                        <a:t>Valid Storage Configurations</a:t>
                      </a:r>
                      <a:endParaRPr lang="en-IN" sz="950" b="0" i="1" u="none" strike="noStrike" dirty="0">
                        <a:solidFill>
                          <a:srgbClr val="4B5563"/>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2884615279"/>
                  </a:ext>
                </a:extLst>
              </a:tr>
              <a:tr h="279765">
                <a:tc>
                  <a:txBody>
                    <a:bodyPr/>
                    <a:lstStyle/>
                    <a:p>
                      <a:pPr algn="ctr" fontAlgn="ctr">
                        <a:buNone/>
                      </a:pPr>
                      <a:r>
                        <a:rPr lang="en-IN" sz="950" u="none" strike="noStrike" dirty="0">
                          <a:effectLst/>
                        </a:rPr>
                        <a:t>RAM</a:t>
                      </a:r>
                      <a:endParaRPr lang="en-IN" sz="950" b="0" i="0" u="none" strike="noStrike" dirty="0">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dirty="0">
                          <a:effectLst/>
                        </a:rPr>
                        <a:t>0</a:t>
                      </a:r>
                      <a:endParaRPr lang="en-IN" sz="950" b="0" i="0" u="none" strike="noStrike" dirty="0">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0</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solidFill>
                            <a:srgbClr val="6200C4"/>
                          </a:solidFill>
                          <a:effectLst/>
                        </a:rPr>
                        <a:t>☑️ Retained</a:t>
                      </a:r>
                      <a:endParaRPr lang="en-IN" sz="950" b="1" i="0" u="none" strike="noStrike">
                        <a:solidFill>
                          <a:srgbClr val="6200C4"/>
                        </a:solidFill>
                        <a:effectLst/>
                        <a:latin typeface="Segoe UI" panose="020B0502040204020203" pitchFamily="34" charset="0"/>
                      </a:endParaRPr>
                    </a:p>
                  </a:txBody>
                  <a:tcPr marL="7620" marR="7620" marT="7620" marB="0" anchor="ctr"/>
                </a:tc>
                <a:tc>
                  <a:txBody>
                    <a:bodyPr/>
                    <a:lstStyle/>
                    <a:p>
                      <a:pPr algn="ctr" fontAlgn="ctr">
                        <a:buNone/>
                      </a:pPr>
                      <a:r>
                        <a:rPr lang="en-IN" sz="950" i="1" u="none" strike="noStrike" dirty="0">
                          <a:effectLst/>
                        </a:rPr>
                        <a:t>Valid Hardware Specifications</a:t>
                      </a:r>
                      <a:endParaRPr lang="en-IN" sz="950" b="0" i="1" u="none" strike="noStrike" dirty="0">
                        <a:solidFill>
                          <a:srgbClr val="4B5563"/>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4139773314"/>
                  </a:ext>
                </a:extLst>
              </a:tr>
              <a:tr h="279765">
                <a:tc>
                  <a:txBody>
                    <a:bodyPr/>
                    <a:lstStyle/>
                    <a:p>
                      <a:pPr algn="ctr" fontAlgn="ctr">
                        <a:buNone/>
                      </a:pPr>
                      <a:r>
                        <a:rPr lang="en-IN" sz="950" u="none" strike="noStrike">
                          <a:effectLst/>
                        </a:rPr>
                        <a:t>Battery</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148</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15</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dirty="0">
                          <a:effectLst/>
                        </a:rPr>
                        <a:t>—</a:t>
                      </a:r>
                      <a:endParaRPr lang="en-IN" sz="950" b="0" i="0" u="none" strike="noStrike" dirty="0">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solidFill>
                            <a:srgbClr val="6200C4"/>
                          </a:solidFill>
                          <a:effectLst/>
                        </a:rPr>
                        <a:t>☑️ Retained</a:t>
                      </a:r>
                      <a:endParaRPr lang="en-IN" sz="950" b="1" i="0" u="none" strike="noStrike">
                        <a:solidFill>
                          <a:srgbClr val="6200C4"/>
                        </a:solidFill>
                        <a:effectLst/>
                        <a:latin typeface="Segoe UI" panose="020B0502040204020203" pitchFamily="34" charset="0"/>
                      </a:endParaRPr>
                    </a:p>
                  </a:txBody>
                  <a:tcPr marL="7620" marR="7620" marT="7620" marB="0" anchor="ctr"/>
                </a:tc>
                <a:tc>
                  <a:txBody>
                    <a:bodyPr/>
                    <a:lstStyle/>
                    <a:p>
                      <a:pPr algn="ctr" fontAlgn="ctr">
                        <a:buNone/>
                      </a:pPr>
                      <a:r>
                        <a:rPr lang="en-IN" sz="950" i="1" u="none" strike="noStrike" dirty="0">
                          <a:effectLst/>
                        </a:rPr>
                        <a:t>Valid Battery Capacities</a:t>
                      </a:r>
                      <a:endParaRPr lang="en-IN" sz="950" b="0" i="1" u="none" strike="noStrike" dirty="0">
                        <a:solidFill>
                          <a:srgbClr val="4B5563"/>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1936777215"/>
                  </a:ext>
                </a:extLst>
              </a:tr>
              <a:tr h="279765">
                <a:tc>
                  <a:txBody>
                    <a:bodyPr/>
                    <a:lstStyle/>
                    <a:p>
                      <a:pPr algn="ctr" fontAlgn="ctr">
                        <a:buNone/>
                      </a:pPr>
                      <a:r>
                        <a:rPr lang="en-IN" sz="950" u="none" strike="noStrike">
                          <a:effectLst/>
                        </a:rPr>
                        <a:t>Rear Camera</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dirty="0">
                          <a:effectLst/>
                        </a:rPr>
                        <a:t>39</a:t>
                      </a:r>
                      <a:endParaRPr lang="en-IN" sz="950" b="0" i="0" u="none" strike="noStrike" dirty="0">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8</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solidFill>
                            <a:srgbClr val="6200C4"/>
                          </a:solidFill>
                          <a:effectLst/>
                        </a:rPr>
                        <a:t>☑️ Retained</a:t>
                      </a:r>
                      <a:endParaRPr lang="en-IN" sz="950" b="1" i="0" u="none" strike="noStrike">
                        <a:solidFill>
                          <a:srgbClr val="6200C4"/>
                        </a:solidFill>
                        <a:effectLst/>
                        <a:latin typeface="Segoe UI" panose="020B0502040204020203" pitchFamily="34" charset="0"/>
                      </a:endParaRPr>
                    </a:p>
                  </a:txBody>
                  <a:tcPr marL="7620" marR="7620" marT="7620" marB="0" anchor="ctr"/>
                </a:tc>
                <a:tc>
                  <a:txBody>
                    <a:bodyPr/>
                    <a:lstStyle/>
                    <a:p>
                      <a:pPr algn="ctr" fontAlgn="ctr">
                        <a:buNone/>
                      </a:pPr>
                      <a:r>
                        <a:rPr lang="en-IN" sz="950" i="1" u="none" strike="noStrike" dirty="0">
                          <a:effectLst/>
                        </a:rPr>
                        <a:t>Premium Camera Specifications</a:t>
                      </a:r>
                      <a:endParaRPr lang="en-IN" sz="950" b="0" i="1" u="none" strike="noStrike" dirty="0">
                        <a:solidFill>
                          <a:srgbClr val="4B5563"/>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653513145"/>
                  </a:ext>
                </a:extLst>
              </a:tr>
              <a:tr h="279765">
                <a:tc>
                  <a:txBody>
                    <a:bodyPr/>
                    <a:lstStyle/>
                    <a:p>
                      <a:pPr algn="ctr" fontAlgn="ctr">
                        <a:buNone/>
                      </a:pPr>
                      <a:r>
                        <a:rPr lang="en-IN" sz="950" u="none" strike="noStrike" dirty="0">
                          <a:effectLst/>
                        </a:rPr>
                        <a:t>Front Camera</a:t>
                      </a:r>
                      <a:endParaRPr lang="en-IN" sz="950" b="0" i="0" u="none" strike="noStrike" dirty="0">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13</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13</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dirty="0">
                          <a:effectLst/>
                        </a:rPr>
                        <a:t>—</a:t>
                      </a:r>
                      <a:endParaRPr lang="en-IN" sz="950" b="0" i="0" u="none" strike="noStrike" dirty="0">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dirty="0">
                          <a:solidFill>
                            <a:srgbClr val="6200C4"/>
                          </a:solidFill>
                          <a:effectLst/>
                        </a:rPr>
                        <a:t>☑️ Retained</a:t>
                      </a:r>
                      <a:endParaRPr lang="en-IN" sz="950" b="1" i="0" u="none" strike="noStrike" dirty="0">
                        <a:solidFill>
                          <a:srgbClr val="6200C4"/>
                        </a:solidFill>
                        <a:effectLst/>
                        <a:latin typeface="Segoe UI" panose="020B0502040204020203" pitchFamily="34" charset="0"/>
                      </a:endParaRPr>
                    </a:p>
                  </a:txBody>
                  <a:tcPr marL="7620" marR="7620" marT="7620" marB="0" anchor="ctr"/>
                </a:tc>
                <a:tc>
                  <a:txBody>
                    <a:bodyPr/>
                    <a:lstStyle/>
                    <a:p>
                      <a:pPr algn="ctr" fontAlgn="ctr">
                        <a:buNone/>
                      </a:pPr>
                      <a:r>
                        <a:rPr lang="en-IN" sz="950" i="1" u="none" strike="noStrike" dirty="0">
                          <a:effectLst/>
                        </a:rPr>
                        <a:t>Premium Camera Specifications</a:t>
                      </a:r>
                      <a:endParaRPr lang="en-IN" sz="950" b="0" i="1" u="none" strike="noStrike" dirty="0">
                        <a:solidFill>
                          <a:srgbClr val="4B5563"/>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4185881571"/>
                  </a:ext>
                </a:extLst>
              </a:tr>
              <a:tr h="279765">
                <a:tc>
                  <a:txBody>
                    <a:bodyPr/>
                    <a:lstStyle/>
                    <a:p>
                      <a:pPr algn="ctr" fontAlgn="ctr">
                        <a:buNone/>
                      </a:pPr>
                      <a:r>
                        <a:rPr lang="en-IN" sz="950" u="none" strike="noStrike">
                          <a:effectLst/>
                        </a:rPr>
                        <a:t>Mobile Height</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17</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solidFill>
                            <a:srgbClr val="00B050"/>
                          </a:solidFill>
                          <a:effectLst/>
                        </a:rPr>
                        <a:t>✅ Treated</a:t>
                      </a:r>
                      <a:endParaRPr lang="en-IN" sz="950" b="1" i="0" u="none" strike="noStrike">
                        <a:solidFill>
                          <a:srgbClr val="00B050"/>
                        </a:solidFill>
                        <a:effectLst/>
                        <a:latin typeface="Segoe UI" panose="020B0502040204020203" pitchFamily="34" charset="0"/>
                      </a:endParaRPr>
                    </a:p>
                  </a:txBody>
                  <a:tcPr marL="7620" marR="7620" marT="7620" marB="0" anchor="ctr"/>
                </a:tc>
                <a:tc>
                  <a:txBody>
                    <a:bodyPr/>
                    <a:lstStyle/>
                    <a:p>
                      <a:pPr algn="ctr" fontAlgn="ctr">
                        <a:buNone/>
                      </a:pPr>
                      <a:r>
                        <a:rPr lang="en-IN" sz="950" i="1" u="none" strike="noStrike" dirty="0">
                          <a:effectLst/>
                        </a:rPr>
                        <a:t>Median Imputation</a:t>
                      </a:r>
                      <a:endParaRPr lang="en-IN" sz="950" b="0" i="1" u="none" strike="noStrike" dirty="0">
                        <a:solidFill>
                          <a:srgbClr val="4B5563"/>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3083332013"/>
                  </a:ext>
                </a:extLst>
              </a:tr>
              <a:tr h="290525">
                <a:tc>
                  <a:txBody>
                    <a:bodyPr/>
                    <a:lstStyle/>
                    <a:p>
                      <a:pPr algn="ctr" fontAlgn="ctr">
                        <a:buNone/>
                      </a:pPr>
                      <a:r>
                        <a:rPr lang="en-IN" sz="950" u="none" strike="noStrike">
                          <a:effectLst/>
                        </a:rPr>
                        <a:t>Price (₹)</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25</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11</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a:effectLst/>
                        </a:rPr>
                        <a:t>7</a:t>
                      </a:r>
                      <a:endParaRPr lang="en-IN" sz="950" b="0" i="0" u="none" strike="noStrike">
                        <a:solidFill>
                          <a:srgbClr val="4B5563"/>
                        </a:solidFill>
                        <a:effectLst/>
                        <a:latin typeface="Segoe UI" panose="020B0502040204020203" pitchFamily="34" charset="0"/>
                      </a:endParaRPr>
                    </a:p>
                  </a:txBody>
                  <a:tcPr marL="7620" marR="7620" marT="7620" marB="0" anchor="ctr"/>
                </a:tc>
                <a:tc>
                  <a:txBody>
                    <a:bodyPr/>
                    <a:lstStyle/>
                    <a:p>
                      <a:pPr algn="ctr" fontAlgn="ctr">
                        <a:buNone/>
                      </a:pPr>
                      <a:r>
                        <a:rPr lang="en-IN" sz="950" u="none" strike="noStrike" dirty="0">
                          <a:solidFill>
                            <a:srgbClr val="00B050"/>
                          </a:solidFill>
                          <a:effectLst/>
                        </a:rPr>
                        <a:t>✅ Treated</a:t>
                      </a:r>
                      <a:endParaRPr lang="en-IN" sz="950" b="1" i="0" u="none" strike="noStrike" dirty="0">
                        <a:solidFill>
                          <a:srgbClr val="00B050"/>
                        </a:solidFill>
                        <a:effectLst/>
                        <a:latin typeface="Segoe UI" panose="020B0502040204020203" pitchFamily="34" charset="0"/>
                      </a:endParaRPr>
                    </a:p>
                  </a:txBody>
                  <a:tcPr marL="7620" marR="7620" marT="7620" marB="0" anchor="ctr"/>
                </a:tc>
                <a:tc>
                  <a:txBody>
                    <a:bodyPr/>
                    <a:lstStyle/>
                    <a:p>
                      <a:pPr algn="ctr" fontAlgn="ctr">
                        <a:buNone/>
                      </a:pPr>
                      <a:r>
                        <a:rPr lang="en-IN" sz="950" i="1" u="none" strike="noStrike" dirty="0">
                          <a:effectLst/>
                        </a:rPr>
                        <a:t>99th Percentile Capping</a:t>
                      </a:r>
                      <a:endParaRPr lang="en-IN" sz="950" b="0" i="1" u="none" strike="noStrike" dirty="0">
                        <a:solidFill>
                          <a:srgbClr val="4B5563"/>
                        </a:solidFill>
                        <a:effectLst/>
                        <a:latin typeface="Segoe UI" panose="020B0502040204020203" pitchFamily="34" charset="0"/>
                      </a:endParaRPr>
                    </a:p>
                  </a:txBody>
                  <a:tcPr marL="7620" marR="7620" marT="7620" marB="0" anchor="ctr"/>
                </a:tc>
                <a:extLst>
                  <a:ext uri="{0D108BD9-81ED-4DB2-BD59-A6C34878D82A}">
                    <a16:rowId xmlns:a16="http://schemas.microsoft.com/office/drawing/2014/main" val="1314125169"/>
                  </a:ext>
                </a:extLst>
              </a:tr>
            </a:tbl>
          </a:graphicData>
        </a:graphic>
      </p:graphicFrame>
      <p:sp>
        <p:nvSpPr>
          <p:cNvPr id="47" name="Shape 12">
            <a:extLst>
              <a:ext uri="{FF2B5EF4-FFF2-40B4-BE49-F238E27FC236}">
                <a16:creationId xmlns:a16="http://schemas.microsoft.com/office/drawing/2014/main" id="{A2B49B34-D3EB-4FF2-89EB-51A576DD9046}"/>
              </a:ext>
            </a:extLst>
          </p:cNvPr>
          <p:cNvSpPr/>
          <p:nvPr/>
        </p:nvSpPr>
        <p:spPr>
          <a:xfrm>
            <a:off x="750139" y="3645289"/>
            <a:ext cx="4297680" cy="1252025"/>
          </a:xfrm>
          <a:prstGeom prst="roundRect">
            <a:avLst>
              <a:gd name="adj" fmla="val 5263"/>
            </a:avLst>
          </a:prstGeom>
          <a:solidFill>
            <a:srgbClr val="E7E7F5"/>
          </a:solidFill>
          <a:ln w="19050">
            <a:solidFill>
              <a:srgbClr val="6200C4"/>
            </a:solidFill>
            <a:prstDash val="solid"/>
          </a:ln>
          <a:effectLst>
            <a:outerShdw blurRad="76200" dist="25400" dir="2700000" algn="bl" rotWithShape="0">
              <a:srgbClr val="000000">
                <a:alpha val="8000"/>
              </a:srgbClr>
            </a:outerShdw>
          </a:effectLst>
        </p:spPr>
        <p:txBody>
          <a:bodyPr/>
          <a:lstStyle/>
          <a:p>
            <a:endParaRPr lang="en-IN"/>
          </a:p>
        </p:txBody>
      </p:sp>
      <p:sp>
        <p:nvSpPr>
          <p:cNvPr id="48" name="TextBox 47">
            <a:extLst>
              <a:ext uri="{FF2B5EF4-FFF2-40B4-BE49-F238E27FC236}">
                <a16:creationId xmlns:a16="http://schemas.microsoft.com/office/drawing/2014/main" id="{1BE16D49-0E40-C88F-29E4-C929809177AE}"/>
              </a:ext>
            </a:extLst>
          </p:cNvPr>
          <p:cNvSpPr txBox="1"/>
          <p:nvPr/>
        </p:nvSpPr>
        <p:spPr>
          <a:xfrm>
            <a:off x="893299" y="3755454"/>
            <a:ext cx="4001429" cy="1031693"/>
          </a:xfrm>
          <a:prstGeom prst="rect">
            <a:avLst/>
          </a:prstGeom>
          <a:noFill/>
        </p:spPr>
        <p:txBody>
          <a:bodyPr wrap="square" rtlCol="0">
            <a:spAutoFit/>
          </a:bodyPr>
          <a:lstStyle/>
          <a:p>
            <a:pPr marL="171450" indent="-171450">
              <a:lnSpc>
                <a:spcPct val="150000"/>
              </a:lnSpc>
              <a:buFont typeface="Wingdings" panose="05000000000000000000" pitchFamily="2" charset="2"/>
              <a:buChar char="§"/>
            </a:pPr>
            <a:r>
              <a:rPr lang="en-IN" sz="1050" dirty="0">
                <a:solidFill>
                  <a:srgbClr val="4B5563"/>
                </a:solidFill>
                <a:latin typeface="Segoe UI" panose="020B0502040204020203" pitchFamily="34" charset="0"/>
                <a:ea typeface="Calibri" pitchFamily="34" charset="-122"/>
                <a:cs typeface="Segoe UI" panose="020B0502040204020203" pitchFamily="34" charset="0"/>
              </a:rPr>
              <a:t>IQR and Z-score methods jointly assessed potential outliers.</a:t>
            </a:r>
          </a:p>
          <a:p>
            <a:pPr marL="171450" indent="-171450">
              <a:lnSpc>
                <a:spcPct val="150000"/>
              </a:lnSpc>
              <a:buFont typeface="Wingdings" panose="05000000000000000000" pitchFamily="2" charset="2"/>
              <a:buChar char="§"/>
            </a:pPr>
            <a:r>
              <a:rPr lang="en-IN" sz="1050" dirty="0">
                <a:solidFill>
                  <a:srgbClr val="4B5563"/>
                </a:solidFill>
                <a:latin typeface="Segoe UI" panose="020B0502040204020203" pitchFamily="34" charset="0"/>
                <a:ea typeface="Calibri" pitchFamily="34" charset="-122"/>
                <a:cs typeface="Segoe UI" panose="020B0502040204020203" pitchFamily="34" charset="0"/>
              </a:rPr>
              <a:t>Only justified treatments were applied; valid hardware values were retained.</a:t>
            </a:r>
          </a:p>
          <a:p>
            <a:pPr marL="171450" indent="-171450">
              <a:lnSpc>
                <a:spcPct val="150000"/>
              </a:lnSpc>
              <a:buFont typeface="Wingdings" panose="05000000000000000000" pitchFamily="2" charset="2"/>
              <a:buChar char="§"/>
            </a:pPr>
            <a:r>
              <a:rPr lang="en-IN" sz="1050" dirty="0">
                <a:solidFill>
                  <a:srgbClr val="4B5563"/>
                </a:solidFill>
                <a:latin typeface="Segoe UI" panose="020B0502040204020203" pitchFamily="34" charset="0"/>
                <a:ea typeface="Calibri" pitchFamily="34" charset="-122"/>
                <a:cs typeface="Segoe UI" panose="020B0502040204020203" pitchFamily="34" charset="0"/>
              </a:rPr>
              <a:t>The cleaned dataset was used for all subsequent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442022"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EDA — Univariate Analysis</a:t>
            </a:r>
            <a:endParaRPr lang="en-US" sz="2800" dirty="0">
              <a:latin typeface="Bahnschrift" panose="020B0502040204020203" pitchFamily="34" charset="0"/>
            </a:endParaRPr>
          </a:p>
        </p:txBody>
      </p:sp>
      <p:pic>
        <p:nvPicPr>
          <p:cNvPr id="58" name="Picture 57">
            <a:extLst>
              <a:ext uri="{FF2B5EF4-FFF2-40B4-BE49-F238E27FC236}">
                <a16:creationId xmlns:a16="http://schemas.microsoft.com/office/drawing/2014/main" id="{197D6638-9B38-520F-0F55-77C50DC9523F}"/>
              </a:ext>
            </a:extLst>
          </p:cNvPr>
          <p:cNvPicPr>
            <a:picLocks noChangeAspect="1"/>
          </p:cNvPicPr>
          <p:nvPr/>
        </p:nvPicPr>
        <p:blipFill>
          <a:blip r:embed="rId3"/>
          <a:stretch>
            <a:fillRect/>
          </a:stretch>
        </p:blipFill>
        <p:spPr>
          <a:xfrm>
            <a:off x="122868" y="710418"/>
            <a:ext cx="3302615" cy="2504050"/>
          </a:xfrm>
          <a:prstGeom prst="rect">
            <a:avLst/>
          </a:prstGeom>
        </p:spPr>
      </p:pic>
      <p:pic>
        <p:nvPicPr>
          <p:cNvPr id="60" name="Picture 59">
            <a:extLst>
              <a:ext uri="{FF2B5EF4-FFF2-40B4-BE49-F238E27FC236}">
                <a16:creationId xmlns:a16="http://schemas.microsoft.com/office/drawing/2014/main" id="{9C7C4F7D-5DB2-60D9-210E-25A3600909D6}"/>
              </a:ext>
            </a:extLst>
          </p:cNvPr>
          <p:cNvPicPr>
            <a:picLocks noChangeAspect="1"/>
          </p:cNvPicPr>
          <p:nvPr/>
        </p:nvPicPr>
        <p:blipFill>
          <a:blip r:embed="rId4"/>
          <a:stretch>
            <a:fillRect/>
          </a:stretch>
        </p:blipFill>
        <p:spPr>
          <a:xfrm>
            <a:off x="3754667" y="650632"/>
            <a:ext cx="5389333" cy="2614974"/>
          </a:xfrm>
          <a:prstGeom prst="rect">
            <a:avLst/>
          </a:prstGeom>
        </p:spPr>
      </p:pic>
      <p:sp>
        <p:nvSpPr>
          <p:cNvPr id="61" name="Shape 12">
            <a:extLst>
              <a:ext uri="{FF2B5EF4-FFF2-40B4-BE49-F238E27FC236}">
                <a16:creationId xmlns:a16="http://schemas.microsoft.com/office/drawing/2014/main" id="{9AD4901D-3DC4-9E69-9E3F-C5C8BF3E9C11}"/>
              </a:ext>
            </a:extLst>
          </p:cNvPr>
          <p:cNvSpPr/>
          <p:nvPr/>
        </p:nvSpPr>
        <p:spPr>
          <a:xfrm>
            <a:off x="1378634" y="3381664"/>
            <a:ext cx="6126480" cy="1603576"/>
          </a:xfrm>
          <a:prstGeom prst="roundRect">
            <a:avLst>
              <a:gd name="adj" fmla="val 5263"/>
            </a:avLst>
          </a:prstGeom>
          <a:solidFill>
            <a:srgbClr val="E7E7F5"/>
          </a:solidFill>
          <a:ln w="19050">
            <a:solidFill>
              <a:srgbClr val="6200C4"/>
            </a:solidFill>
            <a:prstDash val="solid"/>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IN" sz="1050" dirty="0">
                <a:solidFill>
                  <a:srgbClr val="4B5563"/>
                </a:solidFill>
                <a:latin typeface="Segoe UI" panose="020B0502040204020203" pitchFamily="34" charset="0"/>
                <a:cs typeface="Segoe UI" panose="020B0502040204020203" pitchFamily="34" charset="0"/>
              </a:rPr>
              <a:t>Price remains moderately right-skewed after treatment, indicating that premium smartphones still form a relatively small segment of the dataset.</a:t>
            </a:r>
          </a:p>
          <a:p>
            <a:endParaRPr lang="en-IN" sz="1050" dirty="0">
              <a:solidFill>
                <a:srgbClr val="4B5563"/>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IN" sz="1050" dirty="0">
                <a:solidFill>
                  <a:srgbClr val="4B5563"/>
                </a:solidFill>
                <a:latin typeface="Segoe UI" panose="020B0502040204020203" pitchFamily="34" charset="0"/>
                <a:cs typeface="Segoe UI" panose="020B0502040204020203" pitchFamily="34" charset="0"/>
              </a:rPr>
              <a:t>Budget and mid-range smartphones account for over three-quarters of all devices, making this the dominant market segment represented in the dataset.</a:t>
            </a:r>
          </a:p>
          <a:p>
            <a:endParaRPr lang="en-IN" sz="1050" dirty="0">
              <a:solidFill>
                <a:srgbClr val="4B5563"/>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IN" sz="1050" dirty="0">
                <a:solidFill>
                  <a:srgbClr val="4B5563"/>
                </a:solidFill>
                <a:latin typeface="Segoe UI" panose="020B0502040204020203" pitchFamily="34" charset="0"/>
                <a:cs typeface="Segoe UI" panose="020B0502040204020203" pitchFamily="34" charset="0"/>
              </a:rPr>
              <a:t>The dataset is sufficiently diverse across brands and price levels to support robust downstream modelling.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pPr algn="ctr"/>
            <a:endParaRPr lang="en-IN" dirty="0"/>
          </a:p>
        </p:txBody>
      </p:sp>
      <p:sp>
        <p:nvSpPr>
          <p:cNvPr id="3" name="Text 1"/>
          <p:cNvSpPr/>
          <p:nvPr/>
        </p:nvSpPr>
        <p:spPr>
          <a:xfrm>
            <a:off x="329184" y="0"/>
            <a:ext cx="8586216"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EDA — Feature Relationships with Price</a:t>
            </a:r>
            <a:endParaRPr lang="en-US" sz="2800" dirty="0">
              <a:latin typeface="Bahnschrift" panose="020B0502040204020203" pitchFamily="34" charset="0"/>
            </a:endParaRPr>
          </a:p>
        </p:txBody>
      </p:sp>
      <p:pic>
        <p:nvPicPr>
          <p:cNvPr id="28" name="Picture 27">
            <a:extLst>
              <a:ext uri="{FF2B5EF4-FFF2-40B4-BE49-F238E27FC236}">
                <a16:creationId xmlns:a16="http://schemas.microsoft.com/office/drawing/2014/main" id="{2F8232E3-D752-CAEE-3285-4DA46B3B40F5}"/>
              </a:ext>
            </a:extLst>
          </p:cNvPr>
          <p:cNvPicPr>
            <a:picLocks noChangeAspect="1"/>
          </p:cNvPicPr>
          <p:nvPr/>
        </p:nvPicPr>
        <p:blipFill>
          <a:blip r:embed="rId3"/>
          <a:stretch>
            <a:fillRect/>
          </a:stretch>
        </p:blipFill>
        <p:spPr>
          <a:xfrm>
            <a:off x="0" y="618252"/>
            <a:ext cx="4808275" cy="2364059"/>
          </a:xfrm>
          <a:prstGeom prst="rect">
            <a:avLst/>
          </a:prstGeom>
        </p:spPr>
      </p:pic>
      <p:pic>
        <p:nvPicPr>
          <p:cNvPr id="30" name="Picture 29">
            <a:extLst>
              <a:ext uri="{FF2B5EF4-FFF2-40B4-BE49-F238E27FC236}">
                <a16:creationId xmlns:a16="http://schemas.microsoft.com/office/drawing/2014/main" id="{9B979B55-12BE-1EE4-2262-FE79F1DFF16A}"/>
              </a:ext>
            </a:extLst>
          </p:cNvPr>
          <p:cNvPicPr>
            <a:picLocks noChangeAspect="1"/>
          </p:cNvPicPr>
          <p:nvPr/>
        </p:nvPicPr>
        <p:blipFill>
          <a:blip r:embed="rId4"/>
          <a:stretch>
            <a:fillRect/>
          </a:stretch>
        </p:blipFill>
        <p:spPr>
          <a:xfrm>
            <a:off x="145151" y="3062473"/>
            <a:ext cx="3565047" cy="1995835"/>
          </a:xfrm>
          <a:prstGeom prst="rect">
            <a:avLst/>
          </a:prstGeom>
        </p:spPr>
      </p:pic>
      <p:pic>
        <p:nvPicPr>
          <p:cNvPr id="32" name="Picture 31">
            <a:extLst>
              <a:ext uri="{FF2B5EF4-FFF2-40B4-BE49-F238E27FC236}">
                <a16:creationId xmlns:a16="http://schemas.microsoft.com/office/drawing/2014/main" id="{56215EBF-DE7A-C873-BA91-21C63214A32C}"/>
              </a:ext>
            </a:extLst>
          </p:cNvPr>
          <p:cNvPicPr>
            <a:picLocks noChangeAspect="1"/>
          </p:cNvPicPr>
          <p:nvPr/>
        </p:nvPicPr>
        <p:blipFill>
          <a:blip r:embed="rId5"/>
          <a:stretch>
            <a:fillRect/>
          </a:stretch>
        </p:blipFill>
        <p:spPr>
          <a:xfrm>
            <a:off x="5085471" y="618253"/>
            <a:ext cx="4058529" cy="2505520"/>
          </a:xfrm>
          <a:prstGeom prst="rect">
            <a:avLst/>
          </a:prstGeom>
        </p:spPr>
      </p:pic>
      <p:sp>
        <p:nvSpPr>
          <p:cNvPr id="35" name="Shape 12">
            <a:extLst>
              <a:ext uri="{FF2B5EF4-FFF2-40B4-BE49-F238E27FC236}">
                <a16:creationId xmlns:a16="http://schemas.microsoft.com/office/drawing/2014/main" id="{6C340783-D91C-84C8-0FC6-80165F0D097D}"/>
              </a:ext>
            </a:extLst>
          </p:cNvPr>
          <p:cNvSpPr/>
          <p:nvPr/>
        </p:nvSpPr>
        <p:spPr>
          <a:xfrm>
            <a:off x="5031760" y="3258602"/>
            <a:ext cx="4058529" cy="1799706"/>
          </a:xfrm>
          <a:prstGeom prst="roundRect">
            <a:avLst>
              <a:gd name="adj" fmla="val 5263"/>
            </a:avLst>
          </a:prstGeom>
          <a:solidFill>
            <a:srgbClr val="E7E7F5"/>
          </a:solidFill>
          <a:ln w="19050">
            <a:solidFill>
              <a:srgbClr val="6200C4"/>
            </a:solidFill>
            <a:prstDash val="solid"/>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IN" sz="1050" b="1" dirty="0">
                <a:solidFill>
                  <a:srgbClr val="4B5563"/>
                </a:solidFill>
                <a:latin typeface="Segoe UI" panose="020B0502040204020203" pitchFamily="34" charset="0"/>
                <a:cs typeface="Segoe UI" panose="020B0502040204020203" pitchFamily="34" charset="0"/>
              </a:rPr>
              <a:t>Camera MP</a:t>
            </a:r>
            <a:r>
              <a:rPr lang="en-IN" sz="1050" dirty="0">
                <a:solidFill>
                  <a:srgbClr val="4B5563"/>
                </a:solidFill>
                <a:latin typeface="Segoe UI" panose="020B0502040204020203" pitchFamily="34" charset="0"/>
                <a:cs typeface="Segoe UI" panose="020B0502040204020203" pitchFamily="34" charset="0"/>
              </a:rPr>
              <a:t>: Front camera consistently outprices rear camera at every tier</a:t>
            </a:r>
          </a:p>
          <a:p>
            <a:pPr marL="171450" indent="-171450">
              <a:buFont typeface="Arial" panose="020B0604020202020204" pitchFamily="34" charset="0"/>
              <a:buChar char="•"/>
            </a:pPr>
            <a:r>
              <a:rPr lang="en-IN" sz="1050" b="1" dirty="0">
                <a:solidFill>
                  <a:srgbClr val="4B5563"/>
                </a:solidFill>
                <a:latin typeface="Segoe UI" panose="020B0502040204020203" pitchFamily="34" charset="0"/>
                <a:cs typeface="Segoe UI" panose="020B0502040204020203" pitchFamily="34" charset="0"/>
              </a:rPr>
              <a:t>AI Lens</a:t>
            </a:r>
            <a:r>
              <a:rPr lang="en-IN" sz="1050" dirty="0">
                <a:solidFill>
                  <a:srgbClr val="4B5563"/>
                </a:solidFill>
                <a:latin typeface="Segoe UI" panose="020B0502040204020203" pitchFamily="34" charset="0"/>
                <a:cs typeface="Segoe UI" panose="020B0502040204020203" pitchFamily="34" charset="0"/>
              </a:rPr>
              <a:t>: Counterintuitive — devices without it price higher</a:t>
            </a:r>
          </a:p>
          <a:p>
            <a:pPr marL="171450" indent="-171450">
              <a:buFont typeface="Arial" panose="020B0604020202020204" pitchFamily="34" charset="0"/>
              <a:buChar char="•"/>
            </a:pPr>
            <a:r>
              <a:rPr lang="en-IN" sz="1050" b="1" dirty="0">
                <a:solidFill>
                  <a:srgbClr val="4B5563"/>
                </a:solidFill>
                <a:latin typeface="Segoe UI" panose="020B0502040204020203" pitchFamily="34" charset="0"/>
                <a:cs typeface="Segoe UI" panose="020B0502040204020203" pitchFamily="34" charset="0"/>
              </a:rPr>
              <a:t>Battery</a:t>
            </a:r>
            <a:r>
              <a:rPr lang="en-IN" sz="1050" dirty="0">
                <a:solidFill>
                  <a:srgbClr val="4B5563"/>
                </a:solidFill>
                <a:latin typeface="Segoe UI" panose="020B0502040204020203" pitchFamily="34" charset="0"/>
                <a:cs typeface="Segoe UI" panose="020B0502040204020203" pitchFamily="34" charset="0"/>
              </a:rPr>
              <a:t>: No visible trend — the real signal is non-linear</a:t>
            </a:r>
          </a:p>
          <a:p>
            <a:endParaRPr lang="en-IN" sz="1050" dirty="0">
              <a:solidFill>
                <a:srgbClr val="4B5563"/>
              </a:solidFill>
              <a:latin typeface="Segoe UI" panose="020B0502040204020203" pitchFamily="34" charset="0"/>
              <a:cs typeface="Segoe UI" panose="020B0502040204020203" pitchFamily="34" charset="0"/>
            </a:endParaRPr>
          </a:p>
          <a:p>
            <a:r>
              <a:rPr lang="en-IN" sz="1050" b="1" dirty="0">
                <a:solidFill>
                  <a:srgbClr val="4B5563"/>
                </a:solidFill>
                <a:latin typeface="Segoe UI" panose="020B0502040204020203" pitchFamily="34" charset="0"/>
                <a:cs typeface="Segoe UI" panose="020B0502040204020203" pitchFamily="34" charset="0"/>
              </a:rPr>
              <a:t>Beyond these three: </a:t>
            </a:r>
          </a:p>
          <a:p>
            <a:pPr marL="171450" indent="-171450">
              <a:buFont typeface="Arial" panose="020B0604020202020204" pitchFamily="34" charset="0"/>
              <a:buChar char="•"/>
            </a:pPr>
            <a:r>
              <a:rPr lang="en-IN" sz="1050" b="1" dirty="0">
                <a:solidFill>
                  <a:srgbClr val="4B5563"/>
                </a:solidFill>
                <a:latin typeface="Segoe UI" panose="020B0502040204020203" pitchFamily="34" charset="0"/>
                <a:cs typeface="Segoe UI" panose="020B0502040204020203" pitchFamily="34" charset="0"/>
              </a:rPr>
              <a:t>RAM</a:t>
            </a:r>
            <a:r>
              <a:rPr lang="en-IN" sz="1050" dirty="0">
                <a:solidFill>
                  <a:srgbClr val="4B5563"/>
                </a:solidFill>
                <a:latin typeface="Segoe UI" panose="020B0502040204020203" pitchFamily="34" charset="0"/>
                <a:cs typeface="Segoe UI" panose="020B0502040204020203" pitchFamily="34" charset="0"/>
              </a:rPr>
              <a:t> and </a:t>
            </a:r>
            <a:r>
              <a:rPr lang="en-IN" sz="1050" b="1" dirty="0">
                <a:solidFill>
                  <a:srgbClr val="4B5563"/>
                </a:solidFill>
                <a:latin typeface="Segoe UI" panose="020B0502040204020203" pitchFamily="34" charset="0"/>
                <a:cs typeface="Segoe UI" panose="020B0502040204020203" pitchFamily="34" charset="0"/>
              </a:rPr>
              <a:t>Memory</a:t>
            </a:r>
            <a:r>
              <a:rPr lang="en-IN" sz="1050" dirty="0">
                <a:solidFill>
                  <a:srgbClr val="4B5563"/>
                </a:solidFill>
                <a:latin typeface="Segoe UI" panose="020B0502040204020203" pitchFamily="34" charset="0"/>
                <a:cs typeface="Segoe UI" panose="020B0502040204020203" pitchFamily="34" charset="0"/>
              </a:rPr>
              <a:t> both show strong, expected upward trends with price.</a:t>
            </a:r>
          </a:p>
          <a:p>
            <a:pPr marL="171450" indent="-171450">
              <a:buFont typeface="Arial" panose="020B0604020202020204" pitchFamily="34" charset="0"/>
              <a:buChar char="•"/>
            </a:pPr>
            <a:r>
              <a:rPr lang="en-IN" sz="1050" b="1" dirty="0">
                <a:solidFill>
                  <a:srgbClr val="4B5563"/>
                </a:solidFill>
                <a:latin typeface="Segoe UI" panose="020B0502040204020203" pitchFamily="34" charset="0"/>
                <a:cs typeface="Segoe UI" panose="020B0502040204020203" pitchFamily="34" charset="0"/>
              </a:rPr>
              <a:t>Processor Brand </a:t>
            </a:r>
            <a:r>
              <a:rPr lang="en-IN" sz="1050" dirty="0">
                <a:solidFill>
                  <a:srgbClr val="4B5563"/>
                </a:solidFill>
                <a:latin typeface="Segoe UI" panose="020B0502040204020203" pitchFamily="34" charset="0"/>
                <a:cs typeface="Segoe UI" panose="020B0502040204020203" pitchFamily="34" charset="0"/>
              </a:rPr>
              <a:t>shows a clear hierarchy — Google commands roughly 6× Unisoc's average price.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FF92311-469E-6A12-412D-FAB25EB5D1D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C150309-504E-00A9-C8FA-A7CFDB19F218}"/>
              </a:ext>
            </a:extLst>
          </p:cNvPr>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a:extLst>
              <a:ext uri="{FF2B5EF4-FFF2-40B4-BE49-F238E27FC236}">
                <a16:creationId xmlns:a16="http://schemas.microsoft.com/office/drawing/2014/main" id="{589FDD2F-4315-3707-B95F-13C785517AD3}"/>
              </a:ext>
            </a:extLst>
          </p:cNvPr>
          <p:cNvSpPr/>
          <p:nvPr/>
        </p:nvSpPr>
        <p:spPr>
          <a:xfrm>
            <a:off x="329184" y="0"/>
            <a:ext cx="8540496"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EDA — Feature Correlation &amp; Encoding</a:t>
            </a:r>
            <a:endParaRPr lang="en-US" sz="2800" dirty="0">
              <a:latin typeface="Bahnschrift" panose="020B0502040204020203" pitchFamily="34" charset="0"/>
            </a:endParaRPr>
          </a:p>
        </p:txBody>
      </p:sp>
      <p:pic>
        <p:nvPicPr>
          <p:cNvPr id="25" name="Picture 24">
            <a:extLst>
              <a:ext uri="{FF2B5EF4-FFF2-40B4-BE49-F238E27FC236}">
                <a16:creationId xmlns:a16="http://schemas.microsoft.com/office/drawing/2014/main" id="{7F79E6C2-87E3-4DE2-0DD8-4A6F49C94950}"/>
              </a:ext>
            </a:extLst>
          </p:cNvPr>
          <p:cNvPicPr>
            <a:picLocks noChangeAspect="1"/>
          </p:cNvPicPr>
          <p:nvPr/>
        </p:nvPicPr>
        <p:blipFill>
          <a:blip r:embed="rId3"/>
          <a:stretch>
            <a:fillRect/>
          </a:stretch>
        </p:blipFill>
        <p:spPr>
          <a:xfrm>
            <a:off x="49979" y="668216"/>
            <a:ext cx="5522600" cy="4332850"/>
          </a:xfrm>
          <a:prstGeom prst="rect">
            <a:avLst/>
          </a:prstGeom>
        </p:spPr>
      </p:pic>
      <p:sp>
        <p:nvSpPr>
          <p:cNvPr id="26" name="Shape 12">
            <a:extLst>
              <a:ext uri="{FF2B5EF4-FFF2-40B4-BE49-F238E27FC236}">
                <a16:creationId xmlns:a16="http://schemas.microsoft.com/office/drawing/2014/main" id="{C96D2310-844B-A39D-F47A-EFC3BFBC01D0}"/>
              </a:ext>
            </a:extLst>
          </p:cNvPr>
          <p:cNvSpPr/>
          <p:nvPr/>
        </p:nvSpPr>
        <p:spPr>
          <a:xfrm>
            <a:off x="5718516" y="736092"/>
            <a:ext cx="3425483" cy="1718370"/>
          </a:xfrm>
          <a:prstGeom prst="roundRect">
            <a:avLst>
              <a:gd name="adj" fmla="val 5263"/>
            </a:avLst>
          </a:prstGeom>
          <a:solidFill>
            <a:srgbClr val="E7E7F5"/>
          </a:solidFill>
          <a:ln w="19050">
            <a:solidFill>
              <a:srgbClr val="6200C4"/>
            </a:solidFill>
            <a:prstDash val="solid"/>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IN" sz="1000" dirty="0">
                <a:solidFill>
                  <a:srgbClr val="4B5563"/>
                </a:solidFill>
                <a:latin typeface="Segoe UI" panose="020B0502040204020203" pitchFamily="34" charset="0"/>
                <a:cs typeface="Segoe UI" panose="020B0502040204020203" pitchFamily="34" charset="0"/>
              </a:rPr>
              <a:t>EDA helper columns removed after exploratory analysis.</a:t>
            </a:r>
          </a:p>
          <a:p>
            <a:pPr marL="171450" indent="-171450">
              <a:buFont typeface="Arial" panose="020B0604020202020204" pitchFamily="34" charset="0"/>
              <a:buChar char="•"/>
            </a:pPr>
            <a:endParaRPr lang="en-IN" sz="1000" dirty="0">
              <a:solidFill>
                <a:srgbClr val="4B5563"/>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IN" sz="1000" b="1" dirty="0">
                <a:solidFill>
                  <a:srgbClr val="4B5563"/>
                </a:solidFill>
                <a:latin typeface="Segoe UI" panose="020B0502040204020203" pitchFamily="34" charset="0"/>
                <a:cs typeface="Segoe UI" panose="020B0502040204020203" pitchFamily="34" charset="0"/>
              </a:rPr>
              <a:t>Label Encoding </a:t>
            </a:r>
            <a:r>
              <a:rPr lang="en-IN" sz="1000" dirty="0">
                <a:solidFill>
                  <a:srgbClr val="4B5563"/>
                </a:solidFill>
                <a:latin typeface="Segoe UI" panose="020B0502040204020203" pitchFamily="34" charset="0"/>
                <a:cs typeface="Segoe UI" panose="020B0502040204020203" pitchFamily="34" charset="0"/>
              </a:rPr>
              <a:t>applied to </a:t>
            </a:r>
            <a:r>
              <a:rPr lang="en-IN" sz="1000" b="1" dirty="0">
                <a:solidFill>
                  <a:srgbClr val="4B5563"/>
                </a:solidFill>
                <a:latin typeface="Segoe UI" panose="020B0502040204020203" pitchFamily="34" charset="0"/>
                <a:cs typeface="Segoe UI" panose="020B0502040204020203" pitchFamily="34" charset="0"/>
              </a:rPr>
              <a:t>Model</a:t>
            </a:r>
            <a:r>
              <a:rPr lang="en-IN" sz="1000" dirty="0">
                <a:solidFill>
                  <a:srgbClr val="4B5563"/>
                </a:solidFill>
                <a:latin typeface="Segoe UI" panose="020B0502040204020203" pitchFamily="34" charset="0"/>
                <a:cs typeface="Segoe UI" panose="020B0502040204020203" pitchFamily="34" charset="0"/>
              </a:rPr>
              <a:t> &amp; </a:t>
            </a:r>
            <a:r>
              <a:rPr lang="en-IN" sz="1000" b="1" dirty="0">
                <a:solidFill>
                  <a:srgbClr val="4B5563"/>
                </a:solidFill>
                <a:latin typeface="Segoe UI" panose="020B0502040204020203" pitchFamily="34" charset="0"/>
                <a:cs typeface="Segoe UI" panose="020B0502040204020203" pitchFamily="34" charset="0"/>
              </a:rPr>
              <a:t>Colour</a:t>
            </a:r>
          </a:p>
          <a:p>
            <a:pPr marL="171450" indent="-171450">
              <a:buFont typeface="Arial" panose="020B0604020202020204" pitchFamily="34" charset="0"/>
              <a:buChar char="•"/>
            </a:pPr>
            <a:endParaRPr lang="en-IN" sz="1000" b="1" dirty="0">
              <a:solidFill>
                <a:srgbClr val="4B5563"/>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IN" sz="1000" b="1" dirty="0">
                <a:solidFill>
                  <a:srgbClr val="4B5563"/>
                </a:solidFill>
                <a:latin typeface="Segoe UI" panose="020B0502040204020203" pitchFamily="34" charset="0"/>
                <a:cs typeface="Segoe UI" panose="020B0502040204020203" pitchFamily="34" charset="0"/>
              </a:rPr>
              <a:t>One-Hot Encoding </a:t>
            </a:r>
            <a:r>
              <a:rPr lang="en-IN" sz="1000" dirty="0">
                <a:solidFill>
                  <a:srgbClr val="4B5563"/>
                </a:solidFill>
                <a:latin typeface="Segoe UI" panose="020B0502040204020203" pitchFamily="34" charset="0"/>
                <a:cs typeface="Segoe UI" panose="020B0502040204020203" pitchFamily="34" charset="0"/>
              </a:rPr>
              <a:t>applied to </a:t>
            </a:r>
            <a:r>
              <a:rPr lang="en-IN" sz="1000" b="1" dirty="0">
                <a:solidFill>
                  <a:srgbClr val="4B5563"/>
                </a:solidFill>
                <a:latin typeface="Segoe UI" panose="020B0502040204020203" pitchFamily="34" charset="0"/>
                <a:cs typeface="Segoe UI" panose="020B0502040204020203" pitchFamily="34" charset="0"/>
              </a:rPr>
              <a:t>Processor_Brand</a:t>
            </a:r>
          </a:p>
          <a:p>
            <a:endParaRPr lang="en-IN" sz="1000" b="1" dirty="0">
              <a:solidFill>
                <a:srgbClr val="4B5563"/>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IN" sz="1000" dirty="0">
                <a:solidFill>
                  <a:srgbClr val="4B5563"/>
                </a:solidFill>
                <a:latin typeface="Segoe UI" panose="020B0502040204020203" pitchFamily="34" charset="0"/>
                <a:cs typeface="Segoe UI" panose="020B0502040204020203" pitchFamily="34" charset="0"/>
              </a:rPr>
              <a:t>Dataset converted into numerical format for machine learning</a:t>
            </a:r>
          </a:p>
        </p:txBody>
      </p:sp>
      <p:sp>
        <p:nvSpPr>
          <p:cNvPr id="27" name="Text 3">
            <a:extLst>
              <a:ext uri="{FF2B5EF4-FFF2-40B4-BE49-F238E27FC236}">
                <a16:creationId xmlns:a16="http://schemas.microsoft.com/office/drawing/2014/main" id="{CD5CBCD7-A7A2-1C7D-149F-5D2B32286131}"/>
              </a:ext>
            </a:extLst>
          </p:cNvPr>
          <p:cNvSpPr/>
          <p:nvPr/>
        </p:nvSpPr>
        <p:spPr>
          <a:xfrm>
            <a:off x="5989320" y="2661607"/>
            <a:ext cx="2880360" cy="237744"/>
          </a:xfrm>
          <a:prstGeom prst="rect">
            <a:avLst/>
          </a:prstGeom>
          <a:noFill/>
          <a:ln/>
        </p:spPr>
        <p:txBody>
          <a:bodyPr wrap="square" rtlCol="0" anchor="ctr"/>
          <a:lstStyle/>
          <a:p>
            <a:pPr marL="0" indent="0">
              <a:buNone/>
            </a:pPr>
            <a:r>
              <a:rPr lang="en-US" sz="1100" b="1" dirty="0">
                <a:solidFill>
                  <a:srgbClr val="1E1B4B"/>
                </a:solidFill>
                <a:latin typeface="Segoe UI" panose="020B0502040204020203" pitchFamily="34" charset="0"/>
                <a:ea typeface="Calibri" pitchFamily="34" charset="-122"/>
                <a:cs typeface="Segoe UI" panose="020B0502040204020203" pitchFamily="34" charset="0"/>
              </a:rPr>
              <a:t>Key Observations</a:t>
            </a:r>
            <a:endParaRPr lang="en-US" sz="1100" dirty="0">
              <a:latin typeface="Segoe UI" panose="020B0502040204020203" pitchFamily="34" charset="0"/>
              <a:cs typeface="Segoe UI" panose="020B0502040204020203" pitchFamily="34" charset="0"/>
            </a:endParaRPr>
          </a:p>
        </p:txBody>
      </p:sp>
      <p:sp>
        <p:nvSpPr>
          <p:cNvPr id="28" name="Shape 4">
            <a:extLst>
              <a:ext uri="{FF2B5EF4-FFF2-40B4-BE49-F238E27FC236}">
                <a16:creationId xmlns:a16="http://schemas.microsoft.com/office/drawing/2014/main" id="{C87B4CA3-5C64-D445-BA2D-27FF0C180FA4}"/>
              </a:ext>
            </a:extLst>
          </p:cNvPr>
          <p:cNvSpPr/>
          <p:nvPr/>
        </p:nvSpPr>
        <p:spPr>
          <a:xfrm>
            <a:off x="5989320" y="2935927"/>
            <a:ext cx="2880360" cy="457200"/>
          </a:xfrm>
          <a:prstGeom prst="roundRect">
            <a:avLst>
              <a:gd name="adj" fmla="val 16000"/>
            </a:avLst>
          </a:prstGeom>
          <a:solidFill>
            <a:srgbClr val="FEE2E2"/>
          </a:solidFill>
          <a:ln w="12700">
            <a:solidFill>
              <a:srgbClr val="DC2626"/>
            </a:solidFill>
            <a:prstDash val="solid"/>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US" sz="1000" dirty="0">
                <a:solidFill>
                  <a:srgbClr val="4B5563"/>
                </a:solidFill>
                <a:latin typeface="Segoe UI" panose="020B0502040204020203" pitchFamily="34" charset="0"/>
                <a:cs typeface="Segoe UI" panose="020B0502040204020203" pitchFamily="34" charset="0"/>
              </a:rPr>
              <a:t>Memory (0.602) &amp; RAM (0.581) — strongest positive linear correlation with Price</a:t>
            </a:r>
          </a:p>
        </p:txBody>
      </p:sp>
      <p:sp>
        <p:nvSpPr>
          <p:cNvPr id="29" name="Shape 6">
            <a:extLst>
              <a:ext uri="{FF2B5EF4-FFF2-40B4-BE49-F238E27FC236}">
                <a16:creationId xmlns:a16="http://schemas.microsoft.com/office/drawing/2014/main" id="{B7D19113-D18D-4FD3-D3B8-C9DD2800D9C4}"/>
              </a:ext>
            </a:extLst>
          </p:cNvPr>
          <p:cNvSpPr/>
          <p:nvPr/>
        </p:nvSpPr>
        <p:spPr>
          <a:xfrm>
            <a:off x="5989320" y="3447991"/>
            <a:ext cx="2880360" cy="457200"/>
          </a:xfrm>
          <a:prstGeom prst="roundRect">
            <a:avLst>
              <a:gd name="adj" fmla="val 16000"/>
            </a:avLst>
          </a:prstGeom>
          <a:solidFill>
            <a:srgbClr val="FEE2E2"/>
          </a:solidFill>
          <a:ln w="12700">
            <a:solidFill>
              <a:srgbClr val="DC2626"/>
            </a:solidFill>
            <a:prstDash val="solid"/>
          </a:ln>
          <a:effectLst>
            <a:outerShdw blurRad="76200" dist="25400" dir="2700000" algn="bl" rotWithShape="0">
              <a:srgbClr val="000000">
                <a:alpha val="8000"/>
              </a:srgbClr>
            </a:outerShdw>
          </a:effectLst>
        </p:spPr>
        <p:txBody>
          <a:bodyPr/>
          <a:lstStyle/>
          <a:p>
            <a:endParaRPr lang="en-IN"/>
          </a:p>
        </p:txBody>
      </p:sp>
      <p:sp>
        <p:nvSpPr>
          <p:cNvPr id="30" name="Text 7">
            <a:extLst>
              <a:ext uri="{FF2B5EF4-FFF2-40B4-BE49-F238E27FC236}">
                <a16:creationId xmlns:a16="http://schemas.microsoft.com/office/drawing/2014/main" id="{6CFE755B-FCC2-0A82-D693-8AB14CE73540}"/>
              </a:ext>
            </a:extLst>
          </p:cNvPr>
          <p:cNvSpPr/>
          <p:nvPr/>
        </p:nvSpPr>
        <p:spPr>
          <a:xfrm>
            <a:off x="5989320" y="3466279"/>
            <a:ext cx="2880360" cy="420624"/>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4B5563"/>
                </a:solidFill>
                <a:latin typeface="Segoe UI" panose="020B0502040204020203" pitchFamily="34" charset="0"/>
                <a:cs typeface="Segoe UI" panose="020B0502040204020203" pitchFamily="34" charset="0"/>
              </a:rPr>
              <a:t>Rear (0.460) and Front (0.579) Cameras also exhibit high positive relationships</a:t>
            </a:r>
            <a:endParaRPr lang="en-US" sz="1000" dirty="0">
              <a:solidFill>
                <a:srgbClr val="4B5563"/>
              </a:solidFill>
              <a:latin typeface="Segoe UI" panose="020B0502040204020203" pitchFamily="34" charset="0"/>
              <a:cs typeface="Segoe UI" panose="020B0502040204020203" pitchFamily="34" charset="0"/>
            </a:endParaRPr>
          </a:p>
        </p:txBody>
      </p:sp>
      <p:sp>
        <p:nvSpPr>
          <p:cNvPr id="31" name="Shape 12">
            <a:extLst>
              <a:ext uri="{FF2B5EF4-FFF2-40B4-BE49-F238E27FC236}">
                <a16:creationId xmlns:a16="http://schemas.microsoft.com/office/drawing/2014/main" id="{8FD1D3CA-1DA8-0508-FAB2-B2C1ABB066F1}"/>
              </a:ext>
            </a:extLst>
          </p:cNvPr>
          <p:cNvSpPr/>
          <p:nvPr/>
        </p:nvSpPr>
        <p:spPr>
          <a:xfrm>
            <a:off x="5989320" y="3944581"/>
            <a:ext cx="2880360" cy="457200"/>
          </a:xfrm>
          <a:prstGeom prst="roundRect">
            <a:avLst>
              <a:gd name="adj" fmla="val 16000"/>
            </a:avLst>
          </a:prstGeom>
          <a:solidFill>
            <a:schemeClr val="accent5">
              <a:lumMod val="20000"/>
              <a:lumOff val="80000"/>
            </a:schemeClr>
          </a:solidFill>
          <a:ln w="12700">
            <a:solidFill>
              <a:schemeClr val="accent5">
                <a:lumMod val="75000"/>
              </a:schemeClr>
            </a:solidFill>
            <a:prstDash val="solid"/>
          </a:ln>
          <a:effectLst>
            <a:outerShdw blurRad="76200" dist="25400" dir="2700000" algn="bl" rotWithShape="0">
              <a:srgbClr val="000000">
                <a:alpha val="8000"/>
              </a:srgbClr>
            </a:outerShdw>
          </a:effectLst>
        </p:spPr>
        <p:txBody>
          <a:bodyPr/>
          <a:lstStyle/>
          <a:p>
            <a:endParaRPr lang="en-IN"/>
          </a:p>
        </p:txBody>
      </p:sp>
      <p:sp>
        <p:nvSpPr>
          <p:cNvPr id="32" name="Text 13">
            <a:extLst>
              <a:ext uri="{FF2B5EF4-FFF2-40B4-BE49-F238E27FC236}">
                <a16:creationId xmlns:a16="http://schemas.microsoft.com/office/drawing/2014/main" id="{353C22D7-B458-AF65-342C-A343C22E7DED}"/>
              </a:ext>
            </a:extLst>
          </p:cNvPr>
          <p:cNvSpPr/>
          <p:nvPr/>
        </p:nvSpPr>
        <p:spPr>
          <a:xfrm>
            <a:off x="5989320" y="3986784"/>
            <a:ext cx="2880360" cy="420624"/>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4B5563"/>
                </a:solidFill>
                <a:latin typeface="Segoe UI" panose="020B0502040204020203" pitchFamily="34" charset="0"/>
                <a:cs typeface="Segoe UI" panose="020B0502040204020203" pitchFamily="34" charset="0"/>
              </a:rPr>
              <a:t>Battery (-0.035) and Mobile Height (-0.047)  have relatively weak linear correlation.</a:t>
            </a:r>
            <a:endParaRPr lang="en-US" sz="1000" dirty="0">
              <a:solidFill>
                <a:srgbClr val="4B5563"/>
              </a:solidFill>
              <a:latin typeface="Segoe UI" panose="020B0502040204020203" pitchFamily="34" charset="0"/>
              <a:cs typeface="Segoe UI" panose="020B0502040204020203" pitchFamily="34" charset="0"/>
            </a:endParaRPr>
          </a:p>
        </p:txBody>
      </p:sp>
      <p:sp>
        <p:nvSpPr>
          <p:cNvPr id="33" name="Shape 12">
            <a:extLst>
              <a:ext uri="{FF2B5EF4-FFF2-40B4-BE49-F238E27FC236}">
                <a16:creationId xmlns:a16="http://schemas.microsoft.com/office/drawing/2014/main" id="{B3C54231-AB57-AAF7-4E32-9028113FE5D9}"/>
              </a:ext>
            </a:extLst>
          </p:cNvPr>
          <p:cNvSpPr/>
          <p:nvPr/>
        </p:nvSpPr>
        <p:spPr>
          <a:xfrm>
            <a:off x="5989320" y="4450314"/>
            <a:ext cx="2880360" cy="457200"/>
          </a:xfrm>
          <a:prstGeom prst="roundRect">
            <a:avLst>
              <a:gd name="adj" fmla="val 16000"/>
            </a:avLst>
          </a:prstGeom>
          <a:solidFill>
            <a:schemeClr val="accent6">
              <a:lumMod val="20000"/>
              <a:lumOff val="80000"/>
            </a:schemeClr>
          </a:solidFill>
          <a:ln w="12700">
            <a:solidFill>
              <a:srgbClr val="00B050"/>
            </a:solidFill>
            <a:prstDash val="solid"/>
          </a:ln>
          <a:effectLst>
            <a:outerShdw blurRad="76200" dist="25400" dir="2700000" algn="bl" rotWithShape="0">
              <a:srgbClr val="000000">
                <a:alpha val="8000"/>
              </a:srgbClr>
            </a:outerShdw>
          </a:effectLst>
        </p:spPr>
        <p:txBody>
          <a:bodyPr/>
          <a:lstStyle/>
          <a:p>
            <a:pPr marL="171450" indent="-171450">
              <a:buFont typeface="Arial" panose="020B0604020202020204" pitchFamily="34" charset="0"/>
              <a:buChar char="•"/>
            </a:pPr>
            <a:r>
              <a:rPr lang="en-IN" sz="1000" dirty="0">
                <a:solidFill>
                  <a:srgbClr val="4B5563"/>
                </a:solidFill>
                <a:latin typeface="Segoe UI" panose="020B0502040204020203" pitchFamily="34" charset="0"/>
                <a:cs typeface="Segoe UI" panose="020B0502040204020203" pitchFamily="34" charset="0"/>
              </a:rPr>
              <a:t>Encoding completed the transition from EDA to feature screening.</a:t>
            </a:r>
          </a:p>
        </p:txBody>
      </p:sp>
    </p:spTree>
    <p:extLst>
      <p:ext uri="{BB962C8B-B14F-4D97-AF65-F5344CB8AC3E}">
        <p14:creationId xmlns:p14="http://schemas.microsoft.com/office/powerpoint/2010/main" val="631912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519394"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Feature Selection &amp; Empirical Validation</a:t>
            </a:r>
            <a:endParaRPr lang="en-US" sz="2800" dirty="0">
              <a:latin typeface="Bahnschrift" panose="020B0502040204020203" pitchFamily="34" charset="0"/>
            </a:endParaRPr>
          </a:p>
        </p:txBody>
      </p:sp>
      <p:graphicFrame>
        <p:nvGraphicFramePr>
          <p:cNvPr id="58" name="Table 57">
            <a:extLst>
              <a:ext uri="{FF2B5EF4-FFF2-40B4-BE49-F238E27FC236}">
                <a16:creationId xmlns:a16="http://schemas.microsoft.com/office/drawing/2014/main" id="{216AAE01-DC8A-6E44-4BAB-7E519048B341}"/>
              </a:ext>
            </a:extLst>
          </p:cNvPr>
          <p:cNvGraphicFramePr>
            <a:graphicFrameLocks noGrp="1"/>
          </p:cNvGraphicFramePr>
          <p:nvPr>
            <p:extLst>
              <p:ext uri="{D42A27DB-BD31-4B8C-83A1-F6EECF244321}">
                <p14:modId xmlns:p14="http://schemas.microsoft.com/office/powerpoint/2010/main" val="3081450764"/>
              </p:ext>
            </p:extLst>
          </p:nvPr>
        </p:nvGraphicFramePr>
        <p:xfrm>
          <a:off x="121529" y="1745013"/>
          <a:ext cx="5130800" cy="3185160"/>
        </p:xfrm>
        <a:graphic>
          <a:graphicData uri="http://schemas.openxmlformats.org/drawingml/2006/table">
            <a:tbl>
              <a:tblPr/>
              <a:tblGrid>
                <a:gridCol w="1206500">
                  <a:extLst>
                    <a:ext uri="{9D8B030D-6E8A-4147-A177-3AD203B41FA5}">
                      <a16:colId xmlns:a16="http://schemas.microsoft.com/office/drawing/2014/main" val="2310532306"/>
                    </a:ext>
                  </a:extLst>
                </a:gridCol>
                <a:gridCol w="990600">
                  <a:extLst>
                    <a:ext uri="{9D8B030D-6E8A-4147-A177-3AD203B41FA5}">
                      <a16:colId xmlns:a16="http://schemas.microsoft.com/office/drawing/2014/main" val="1996545981"/>
                    </a:ext>
                  </a:extLst>
                </a:gridCol>
                <a:gridCol w="990600">
                  <a:extLst>
                    <a:ext uri="{9D8B030D-6E8A-4147-A177-3AD203B41FA5}">
                      <a16:colId xmlns:a16="http://schemas.microsoft.com/office/drawing/2014/main" val="3582603459"/>
                    </a:ext>
                  </a:extLst>
                </a:gridCol>
                <a:gridCol w="1028700">
                  <a:extLst>
                    <a:ext uri="{9D8B030D-6E8A-4147-A177-3AD203B41FA5}">
                      <a16:colId xmlns:a16="http://schemas.microsoft.com/office/drawing/2014/main" val="68712819"/>
                    </a:ext>
                  </a:extLst>
                </a:gridCol>
                <a:gridCol w="914400">
                  <a:extLst>
                    <a:ext uri="{9D8B030D-6E8A-4147-A177-3AD203B41FA5}">
                      <a16:colId xmlns:a16="http://schemas.microsoft.com/office/drawing/2014/main" val="1565095492"/>
                    </a:ext>
                  </a:extLst>
                </a:gridCol>
              </a:tblGrid>
              <a:tr h="434340">
                <a:tc>
                  <a:txBody>
                    <a:bodyPr/>
                    <a:lstStyle/>
                    <a:p>
                      <a:pPr algn="ctr" fontAlgn="ctr">
                        <a:buNone/>
                      </a:pPr>
                      <a:r>
                        <a:rPr lang="en-IN" sz="1100" b="1" i="0" u="none" strike="noStrike" dirty="0">
                          <a:solidFill>
                            <a:srgbClr val="F5F4FB"/>
                          </a:solidFill>
                          <a:effectLst/>
                          <a:latin typeface="Segoe UI" panose="020B0502040204020203" pitchFamily="34" charset="0"/>
                        </a:rPr>
                        <a:t>Feature</a:t>
                      </a:r>
                    </a:p>
                  </a:txBody>
                  <a:tcPr marL="7620" marR="7620" marT="7620" marB="0" anchor="ctr">
                    <a:lnL w="12700" cap="flat" cmpd="sng" algn="ctr">
                      <a:solidFill>
                        <a:srgbClr val="5C33BE"/>
                      </a:solidFill>
                      <a:prstDash val="solid"/>
                      <a:round/>
                      <a:headEnd type="none" w="med" len="med"/>
                      <a:tailEnd type="none" w="med" len="med"/>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dirty="0">
                          <a:solidFill>
                            <a:srgbClr val="F5F4FB"/>
                          </a:solidFill>
                          <a:effectLst/>
                          <a:latin typeface="Segoe UI" panose="020B0502040204020203" pitchFamily="34" charset="0"/>
                        </a:rPr>
                        <a:t>Correlation Rank</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dirty="0">
                          <a:solidFill>
                            <a:srgbClr val="F5F4FB"/>
                          </a:solidFill>
                          <a:effectLst/>
                          <a:latin typeface="Segoe UI" panose="020B0502040204020203" pitchFamily="34" charset="0"/>
                        </a:rPr>
                        <a:t>SelectKBest Rank</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RandomForest Rank</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dirty="0">
                          <a:solidFill>
                            <a:srgbClr val="F5F4FB"/>
                          </a:solidFill>
                          <a:effectLst/>
                          <a:latin typeface="Segoe UI" panose="020B0502040204020203" pitchFamily="34" charset="0"/>
                        </a:rPr>
                        <a:t>Average Rank</a:t>
                      </a:r>
                    </a:p>
                  </a:txBody>
                  <a:tcPr marL="7620" marR="7620" marT="7620" marB="0" anchor="ctr">
                    <a:lnL>
                      <a:noFill/>
                    </a:lnL>
                    <a:lnR w="12700" cap="flat" cmpd="sng" algn="ctr">
                      <a:solidFill>
                        <a:srgbClr val="5C33BE"/>
                      </a:solidFill>
                      <a:prstDash val="solid"/>
                      <a:round/>
                      <a:headEnd type="none" w="med" len="med"/>
                      <a:tailEnd type="none" w="med" len="med"/>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extLst>
                  <a:ext uri="{0D108BD9-81ED-4DB2-BD59-A6C34878D82A}">
                    <a16:rowId xmlns:a16="http://schemas.microsoft.com/office/drawing/2014/main" val="2227989757"/>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Memory</a:t>
                      </a:r>
                    </a:p>
                  </a:txBody>
                  <a:tcPr marL="7620" marR="7620" marT="7620" marB="0" anchor="ctr">
                    <a:lnL w="12700" cap="flat" cmpd="sng" algn="ctr">
                      <a:solidFill>
                        <a:srgbClr val="5C33BE"/>
                      </a:solidFill>
                      <a:prstDash val="solid"/>
                      <a:round/>
                      <a:headEnd type="none" w="med" len="med"/>
                      <a:tailEnd type="none" w="med" len="med"/>
                    </a:lnL>
                    <a:lnR>
                      <a:noFill/>
                    </a:lnR>
                    <a:lnT w="12700" cap="flat" cmpd="sng" algn="ctr">
                      <a:solidFill>
                        <a:srgbClr val="5C33BE"/>
                      </a:solidFill>
                      <a:prstDash val="solid"/>
                      <a:round/>
                      <a:headEnd type="none" w="med" len="med"/>
                      <a:tailEnd type="none" w="med" len="med"/>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1</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1</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4</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2</a:t>
                      </a:r>
                    </a:p>
                  </a:txBody>
                  <a:tcPr marL="7620" marR="7620" marT="7620" marB="0" anchor="ctr">
                    <a:lnL>
                      <a:noFill/>
                    </a:lnL>
                    <a:lnR w="12700" cap="flat" cmpd="sng" algn="ctr">
                      <a:solidFill>
                        <a:srgbClr val="5C33BE"/>
                      </a:solidFill>
                      <a:prstDash val="solid"/>
                      <a:round/>
                      <a:headEnd type="none" w="med" len="med"/>
                      <a:tailEnd type="none" w="med" len="med"/>
                    </a:lnR>
                    <a:lnT w="12700" cap="flat" cmpd="sng" algn="ctr">
                      <a:solidFill>
                        <a:srgbClr val="5C33BE"/>
                      </a:solidFill>
                      <a:prstDash val="solid"/>
                      <a:round/>
                      <a:headEnd type="none" w="med" len="med"/>
                      <a:tailEnd type="none" w="med" len="med"/>
                    </a:lnT>
                    <a:lnB>
                      <a:noFill/>
                    </a:lnB>
                    <a:solidFill>
                      <a:srgbClr val="A8FAAE"/>
                    </a:solidFill>
                  </a:tcPr>
                </a:tc>
                <a:extLst>
                  <a:ext uri="{0D108BD9-81ED-4DB2-BD59-A6C34878D82A}">
                    <a16:rowId xmlns:a16="http://schemas.microsoft.com/office/drawing/2014/main" val="2861629934"/>
                  </a:ext>
                </a:extLst>
              </a:tr>
              <a:tr h="182880">
                <a:tc>
                  <a:txBody>
                    <a:bodyPr/>
                    <a:lstStyle/>
                    <a:p>
                      <a:pPr algn="ctr" fontAlgn="ctr">
                        <a:buNone/>
                      </a:pPr>
                      <a:r>
                        <a:rPr lang="en-IN" sz="900" b="1" i="0" u="none" strike="noStrike" dirty="0">
                          <a:solidFill>
                            <a:srgbClr val="4B5563"/>
                          </a:solidFill>
                          <a:effectLst/>
                          <a:latin typeface="Segoe UI" panose="020B0502040204020203" pitchFamily="34" charset="0"/>
                        </a:rPr>
                        <a:t>Front_Camera_MP</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3</a:t>
                      </a:r>
                    </a:p>
                  </a:txBody>
                  <a:tcPr marL="7620" marR="7620" marT="7620" marB="0" anchor="ctr">
                    <a:lnL>
                      <a:noFill/>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3</a:t>
                      </a:r>
                    </a:p>
                  </a:txBody>
                  <a:tcPr marL="7620" marR="7620" marT="7620" marB="0" anchor="ctr">
                    <a:lnL>
                      <a:noFill/>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1</a:t>
                      </a:r>
                    </a:p>
                  </a:txBody>
                  <a:tcPr marL="7620" marR="7620" marT="7620" marB="0" anchor="ctr">
                    <a:lnL>
                      <a:noFill/>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2.33</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solidFill>
                      <a:srgbClr val="A8FAAE"/>
                    </a:solidFill>
                  </a:tcPr>
                </a:tc>
                <a:extLst>
                  <a:ext uri="{0D108BD9-81ED-4DB2-BD59-A6C34878D82A}">
                    <a16:rowId xmlns:a16="http://schemas.microsoft.com/office/drawing/2014/main" val="1437488457"/>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RAM</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2</a:t>
                      </a:r>
                    </a:p>
                  </a:txBody>
                  <a:tcPr marL="7620" marR="7620" marT="7620" marB="0" anchor="ctr">
                    <a:lnL>
                      <a:noFill/>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2</a:t>
                      </a:r>
                    </a:p>
                  </a:txBody>
                  <a:tcPr marL="7620" marR="7620" marT="7620" marB="0" anchor="ctr">
                    <a:lnL>
                      <a:noFill/>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6</a:t>
                      </a:r>
                    </a:p>
                  </a:txBody>
                  <a:tcPr marL="7620" marR="7620" marT="7620" marB="0" anchor="ctr">
                    <a:lnL>
                      <a:noFill/>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3.33</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solidFill>
                      <a:srgbClr val="A8FAAE"/>
                    </a:solidFill>
                  </a:tcPr>
                </a:tc>
                <a:extLst>
                  <a:ext uri="{0D108BD9-81ED-4DB2-BD59-A6C34878D82A}">
                    <a16:rowId xmlns:a16="http://schemas.microsoft.com/office/drawing/2014/main" val="1040369360"/>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Rear_Camera_MP</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4</a:t>
                      </a:r>
                    </a:p>
                  </a:txBody>
                  <a:tcPr marL="7620" marR="7620" marT="7620" marB="0" anchor="ctr">
                    <a:lnL>
                      <a:noFill/>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4</a:t>
                      </a:r>
                    </a:p>
                  </a:txBody>
                  <a:tcPr marL="7620" marR="7620" marT="7620" marB="0" anchor="ctr">
                    <a:lnL>
                      <a:noFill/>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5</a:t>
                      </a:r>
                    </a:p>
                  </a:txBody>
                  <a:tcPr marL="7620" marR="7620" marT="7620" marB="0" anchor="ctr">
                    <a:lnL>
                      <a:noFill/>
                    </a:lnL>
                    <a:lnR>
                      <a:noFill/>
                    </a:lnR>
                    <a:lnT>
                      <a:noFill/>
                    </a:lnT>
                    <a:lnB>
                      <a:noFill/>
                    </a:lnB>
                    <a:solidFill>
                      <a:srgbClr val="A8FAAE"/>
                    </a:solidFill>
                  </a:tcPr>
                </a:tc>
                <a:tc>
                  <a:txBody>
                    <a:bodyPr/>
                    <a:lstStyle/>
                    <a:p>
                      <a:pPr algn="ctr" fontAlgn="ctr">
                        <a:buNone/>
                      </a:pPr>
                      <a:r>
                        <a:rPr lang="en-IN" sz="900" b="1" i="0" u="none" strike="noStrike">
                          <a:solidFill>
                            <a:srgbClr val="4B5563"/>
                          </a:solidFill>
                          <a:effectLst/>
                          <a:latin typeface="Segoe UI" panose="020B0502040204020203" pitchFamily="34" charset="0"/>
                        </a:rPr>
                        <a:t>4.33</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solidFill>
                      <a:srgbClr val="A8FAAE"/>
                    </a:solidFill>
                  </a:tcPr>
                </a:tc>
                <a:extLst>
                  <a:ext uri="{0D108BD9-81ED-4DB2-BD59-A6C34878D82A}">
                    <a16:rowId xmlns:a16="http://schemas.microsoft.com/office/drawing/2014/main" val="508533701"/>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Proc_Google</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5</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5</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7</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5.67</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noFill/>
                  </a:tcPr>
                </a:tc>
                <a:extLst>
                  <a:ext uri="{0D108BD9-81ED-4DB2-BD59-A6C34878D82A}">
                    <a16:rowId xmlns:a16="http://schemas.microsoft.com/office/drawing/2014/main" val="3068975913"/>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Proc_Qualcomm</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7</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7</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10</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8</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noFill/>
                  </a:tcPr>
                </a:tc>
                <a:extLst>
                  <a:ext uri="{0D108BD9-81ED-4DB2-BD59-A6C34878D82A}">
                    <a16:rowId xmlns:a16="http://schemas.microsoft.com/office/drawing/2014/main" val="172458146"/>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Model_Encoded</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11</a:t>
                      </a:r>
                    </a:p>
                  </a:txBody>
                  <a:tcPr marL="7620" marR="7620" marT="7620" marB="0" anchor="ctr">
                    <a:lnL>
                      <a:noFill/>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11</a:t>
                      </a:r>
                    </a:p>
                  </a:txBody>
                  <a:tcPr marL="7620" marR="7620" marT="7620" marB="0" anchor="ctr">
                    <a:lnL>
                      <a:noFill/>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2</a:t>
                      </a:r>
                    </a:p>
                  </a:txBody>
                  <a:tcPr marL="7620" marR="7620" marT="7620" marB="0" anchor="ctr">
                    <a:lnL>
                      <a:noFill/>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8</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4069847580"/>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Proc_Unisoc</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6</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6</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15</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9</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noFill/>
                  </a:tcPr>
                </a:tc>
                <a:extLst>
                  <a:ext uri="{0D108BD9-81ED-4DB2-BD59-A6C34878D82A}">
                    <a16:rowId xmlns:a16="http://schemas.microsoft.com/office/drawing/2014/main" val="2765205265"/>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Proc_Mediatek</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9</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9</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11</a:t>
                      </a:r>
                    </a:p>
                  </a:txBody>
                  <a:tcPr marL="7620" marR="7620" marT="7620" marB="0" anchor="ctr">
                    <a:lnL>
                      <a:noFill/>
                    </a:lnL>
                    <a:lnR>
                      <a:noFill/>
                    </a:lnR>
                    <a:lnT>
                      <a:noFill/>
                    </a:lnT>
                    <a:lnB>
                      <a:noFill/>
                    </a:lnB>
                    <a:noFill/>
                  </a:tcPr>
                </a:tc>
                <a:tc>
                  <a:txBody>
                    <a:bodyPr/>
                    <a:lstStyle/>
                    <a:p>
                      <a:pPr algn="ctr" fontAlgn="ctr">
                        <a:buNone/>
                      </a:pPr>
                      <a:r>
                        <a:rPr lang="en-IN" sz="900" b="1" i="0" u="none" strike="noStrike">
                          <a:solidFill>
                            <a:srgbClr val="4B5563"/>
                          </a:solidFill>
                          <a:effectLst/>
                          <a:latin typeface="Segoe UI" panose="020B0502040204020203" pitchFamily="34" charset="0"/>
                        </a:rPr>
                        <a:t>9.67</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noFill/>
                  </a:tcPr>
                </a:tc>
                <a:extLst>
                  <a:ext uri="{0D108BD9-81ED-4DB2-BD59-A6C34878D82A}">
                    <a16:rowId xmlns:a16="http://schemas.microsoft.com/office/drawing/2014/main" val="806011572"/>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AI Lens</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8</a:t>
                      </a:r>
                    </a:p>
                  </a:txBody>
                  <a:tcPr marL="7620" marR="7620" marT="7620" marB="0" anchor="ctr">
                    <a:lnL>
                      <a:noFill/>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8</a:t>
                      </a:r>
                    </a:p>
                  </a:txBody>
                  <a:tcPr marL="7620" marR="7620" marT="7620" marB="0" anchor="ctr">
                    <a:lnL>
                      <a:noFill/>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14</a:t>
                      </a:r>
                    </a:p>
                  </a:txBody>
                  <a:tcPr marL="7620" marR="7620" marT="7620" marB="0" anchor="ctr">
                    <a:lnL>
                      <a:noFill/>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10</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4012985032"/>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Mobile Height</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solidFill>
                      <a:srgbClr val="EDAD45"/>
                    </a:solidFill>
                  </a:tcPr>
                </a:tc>
                <a:tc>
                  <a:txBody>
                    <a:bodyPr/>
                    <a:lstStyle/>
                    <a:p>
                      <a:pPr algn="ctr" fontAlgn="ctr">
                        <a:buNone/>
                      </a:pPr>
                      <a:r>
                        <a:rPr lang="en-IN" sz="900" b="1" i="0" u="none" strike="noStrike">
                          <a:solidFill>
                            <a:srgbClr val="4B5563"/>
                          </a:solidFill>
                          <a:effectLst/>
                          <a:latin typeface="Segoe UI" panose="020B0502040204020203" pitchFamily="34" charset="0"/>
                        </a:rPr>
                        <a:t>12</a:t>
                      </a:r>
                    </a:p>
                  </a:txBody>
                  <a:tcPr marL="7620" marR="7620" marT="7620" marB="0" anchor="ctr">
                    <a:lnL>
                      <a:noFill/>
                    </a:lnL>
                    <a:lnR>
                      <a:noFill/>
                    </a:lnR>
                    <a:lnT>
                      <a:noFill/>
                    </a:lnT>
                    <a:lnB>
                      <a:noFill/>
                    </a:lnB>
                    <a:solidFill>
                      <a:srgbClr val="EDAD45"/>
                    </a:solidFill>
                  </a:tcPr>
                </a:tc>
                <a:tc>
                  <a:txBody>
                    <a:bodyPr/>
                    <a:lstStyle/>
                    <a:p>
                      <a:pPr algn="ctr" fontAlgn="ctr">
                        <a:buNone/>
                      </a:pPr>
                      <a:r>
                        <a:rPr lang="en-IN" sz="900" b="1" i="0" u="none" strike="noStrike">
                          <a:solidFill>
                            <a:srgbClr val="4B5563"/>
                          </a:solidFill>
                          <a:effectLst/>
                          <a:latin typeface="Segoe UI" panose="020B0502040204020203" pitchFamily="34" charset="0"/>
                        </a:rPr>
                        <a:t>12</a:t>
                      </a:r>
                    </a:p>
                  </a:txBody>
                  <a:tcPr marL="7620" marR="7620" marT="7620" marB="0" anchor="ctr">
                    <a:lnL>
                      <a:noFill/>
                    </a:lnL>
                    <a:lnR>
                      <a:noFill/>
                    </a:lnR>
                    <a:lnT>
                      <a:noFill/>
                    </a:lnT>
                    <a:lnB>
                      <a:noFill/>
                    </a:lnB>
                    <a:solidFill>
                      <a:srgbClr val="EDAD45"/>
                    </a:solidFill>
                  </a:tcPr>
                </a:tc>
                <a:tc>
                  <a:txBody>
                    <a:bodyPr/>
                    <a:lstStyle/>
                    <a:p>
                      <a:pPr algn="ctr" fontAlgn="ctr">
                        <a:buNone/>
                      </a:pPr>
                      <a:r>
                        <a:rPr lang="en-IN" sz="900" b="1" i="0" u="none" strike="noStrike">
                          <a:solidFill>
                            <a:srgbClr val="4B5563"/>
                          </a:solidFill>
                          <a:effectLst/>
                          <a:latin typeface="Segoe UI" panose="020B0502040204020203" pitchFamily="34" charset="0"/>
                        </a:rPr>
                        <a:t>8</a:t>
                      </a:r>
                    </a:p>
                  </a:txBody>
                  <a:tcPr marL="7620" marR="7620" marT="7620" marB="0" anchor="ctr">
                    <a:lnL>
                      <a:noFill/>
                    </a:lnL>
                    <a:lnR>
                      <a:noFill/>
                    </a:lnR>
                    <a:lnT>
                      <a:noFill/>
                    </a:lnT>
                    <a:lnB>
                      <a:noFill/>
                    </a:lnB>
                    <a:solidFill>
                      <a:srgbClr val="EDAD45"/>
                    </a:solidFill>
                  </a:tcPr>
                </a:tc>
                <a:tc>
                  <a:txBody>
                    <a:bodyPr/>
                    <a:lstStyle/>
                    <a:p>
                      <a:pPr algn="ctr" fontAlgn="ctr">
                        <a:buNone/>
                      </a:pPr>
                      <a:r>
                        <a:rPr lang="en-IN" sz="900" b="1" i="0" u="none" strike="noStrike">
                          <a:solidFill>
                            <a:srgbClr val="4B5563"/>
                          </a:solidFill>
                          <a:effectLst/>
                          <a:latin typeface="Segoe UI" panose="020B0502040204020203" pitchFamily="34" charset="0"/>
                        </a:rPr>
                        <a:t>10.67</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solidFill>
                      <a:srgbClr val="EDAD45"/>
                    </a:solidFill>
                  </a:tcPr>
                </a:tc>
                <a:extLst>
                  <a:ext uri="{0D108BD9-81ED-4DB2-BD59-A6C34878D82A}">
                    <a16:rowId xmlns:a16="http://schemas.microsoft.com/office/drawing/2014/main" val="3296664084"/>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Battery_mAh</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15</a:t>
                      </a:r>
                    </a:p>
                  </a:txBody>
                  <a:tcPr marL="7620" marR="7620" marT="7620" marB="0" anchor="ctr">
                    <a:lnL>
                      <a:noFill/>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15</a:t>
                      </a:r>
                    </a:p>
                  </a:txBody>
                  <a:tcPr marL="7620" marR="7620" marT="7620" marB="0" anchor="ctr">
                    <a:lnL>
                      <a:noFill/>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3</a:t>
                      </a:r>
                    </a:p>
                  </a:txBody>
                  <a:tcPr marL="7620" marR="7620" marT="7620" marB="0" anchor="ctr">
                    <a:lnL>
                      <a:noFill/>
                    </a:lnL>
                    <a:lnR>
                      <a:noFill/>
                    </a:lnR>
                    <a:lnT>
                      <a:noFill/>
                    </a:lnT>
                    <a:lnB>
                      <a:noFill/>
                    </a:lnB>
                    <a:solidFill>
                      <a:srgbClr val="FFE699"/>
                    </a:solidFill>
                  </a:tcPr>
                </a:tc>
                <a:tc>
                  <a:txBody>
                    <a:bodyPr/>
                    <a:lstStyle/>
                    <a:p>
                      <a:pPr algn="ctr" fontAlgn="ctr">
                        <a:buNone/>
                      </a:pPr>
                      <a:r>
                        <a:rPr lang="en-IN" sz="900" b="1" i="0" u="none" strike="noStrike">
                          <a:solidFill>
                            <a:srgbClr val="4B5563"/>
                          </a:solidFill>
                          <a:effectLst/>
                          <a:latin typeface="Segoe UI" panose="020B0502040204020203" pitchFamily="34" charset="0"/>
                        </a:rPr>
                        <a:t>11</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2907731356"/>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Proc_Unknown</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10</a:t>
                      </a:r>
                    </a:p>
                  </a:txBody>
                  <a:tcPr marL="7620" marR="7620" marT="7620" marB="0" anchor="ctr">
                    <a:lnL>
                      <a:noFill/>
                    </a:lnL>
                    <a:lnR>
                      <a:noFill/>
                    </a:lnR>
                    <a:lnT>
                      <a:noFill/>
                    </a:lnT>
                    <a:lnB>
                      <a:noFill/>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10</a:t>
                      </a:r>
                    </a:p>
                  </a:txBody>
                  <a:tcPr marL="7620" marR="7620" marT="7620" marB="0" anchor="ctr">
                    <a:lnL>
                      <a:noFill/>
                    </a:lnL>
                    <a:lnR>
                      <a:noFill/>
                    </a:lnR>
                    <a:lnT>
                      <a:noFill/>
                    </a:lnT>
                    <a:lnB>
                      <a:noFill/>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13</a:t>
                      </a:r>
                    </a:p>
                  </a:txBody>
                  <a:tcPr marL="7620" marR="7620" marT="7620" marB="0" anchor="ctr">
                    <a:lnL>
                      <a:noFill/>
                    </a:lnL>
                    <a:lnR>
                      <a:noFill/>
                    </a:lnR>
                    <a:lnT>
                      <a:noFill/>
                    </a:lnT>
                    <a:lnB>
                      <a:noFill/>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11</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solidFill>
                      <a:srgbClr val="F79779"/>
                    </a:solidFill>
                  </a:tcPr>
                </a:tc>
                <a:extLst>
                  <a:ext uri="{0D108BD9-81ED-4DB2-BD59-A6C34878D82A}">
                    <a16:rowId xmlns:a16="http://schemas.microsoft.com/office/drawing/2014/main" val="1519166713"/>
                  </a:ext>
                </a:extLst>
              </a:tr>
              <a:tr h="182880">
                <a:tc>
                  <a:txBody>
                    <a:bodyPr/>
                    <a:lstStyle/>
                    <a:p>
                      <a:pPr algn="ctr" fontAlgn="ctr">
                        <a:buNone/>
                      </a:pPr>
                      <a:r>
                        <a:rPr lang="en-IN" sz="900" b="1" i="0" u="none" strike="noStrike">
                          <a:solidFill>
                            <a:srgbClr val="4B5563"/>
                          </a:solidFill>
                          <a:effectLst/>
                          <a:latin typeface="Segoe UI" panose="020B0502040204020203" pitchFamily="34" charset="0"/>
                        </a:rPr>
                        <a:t>Colour_Encoded</a:t>
                      </a:r>
                    </a:p>
                  </a:txBody>
                  <a:tcPr marL="7620" marR="7620" marT="7620" marB="0" anchor="ctr">
                    <a:lnL w="12700" cap="flat" cmpd="sng" algn="ctr">
                      <a:solidFill>
                        <a:srgbClr val="5C33BE"/>
                      </a:solidFill>
                      <a:prstDash val="solid"/>
                      <a:round/>
                      <a:headEnd type="none" w="med" len="med"/>
                      <a:tailEnd type="none" w="med" len="med"/>
                    </a:lnL>
                    <a:lnR>
                      <a:noFill/>
                    </a:lnR>
                    <a:lnT>
                      <a:noFill/>
                    </a:lnT>
                    <a:lnB>
                      <a:noFill/>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14</a:t>
                      </a:r>
                    </a:p>
                  </a:txBody>
                  <a:tcPr marL="7620" marR="7620" marT="7620" marB="0" anchor="ctr">
                    <a:lnL>
                      <a:noFill/>
                    </a:lnL>
                    <a:lnR>
                      <a:noFill/>
                    </a:lnR>
                    <a:lnT>
                      <a:noFill/>
                    </a:lnT>
                    <a:lnB>
                      <a:noFill/>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14</a:t>
                      </a:r>
                    </a:p>
                  </a:txBody>
                  <a:tcPr marL="7620" marR="7620" marT="7620" marB="0" anchor="ctr">
                    <a:lnL>
                      <a:noFill/>
                    </a:lnL>
                    <a:lnR>
                      <a:noFill/>
                    </a:lnR>
                    <a:lnT>
                      <a:noFill/>
                    </a:lnT>
                    <a:lnB>
                      <a:noFill/>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9</a:t>
                      </a:r>
                    </a:p>
                  </a:txBody>
                  <a:tcPr marL="7620" marR="7620" marT="7620" marB="0" anchor="ctr">
                    <a:lnL>
                      <a:noFill/>
                    </a:lnL>
                    <a:lnR>
                      <a:noFill/>
                    </a:lnR>
                    <a:lnT>
                      <a:noFill/>
                    </a:lnT>
                    <a:lnB>
                      <a:noFill/>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12.33</a:t>
                      </a:r>
                    </a:p>
                  </a:txBody>
                  <a:tcPr marL="7620" marR="7620" marT="7620" marB="0" anchor="ctr">
                    <a:lnL>
                      <a:noFill/>
                    </a:lnL>
                    <a:lnR w="12700" cap="flat" cmpd="sng" algn="ctr">
                      <a:solidFill>
                        <a:srgbClr val="5C33BE"/>
                      </a:solidFill>
                      <a:prstDash val="solid"/>
                      <a:round/>
                      <a:headEnd type="none" w="med" len="med"/>
                      <a:tailEnd type="none" w="med" len="med"/>
                    </a:lnR>
                    <a:lnT>
                      <a:noFill/>
                    </a:lnT>
                    <a:lnB>
                      <a:noFill/>
                    </a:lnB>
                    <a:solidFill>
                      <a:srgbClr val="F79779"/>
                    </a:solidFill>
                  </a:tcPr>
                </a:tc>
                <a:extLst>
                  <a:ext uri="{0D108BD9-81ED-4DB2-BD59-A6C34878D82A}">
                    <a16:rowId xmlns:a16="http://schemas.microsoft.com/office/drawing/2014/main" val="2077826756"/>
                  </a:ext>
                </a:extLst>
              </a:tr>
              <a:tr h="190500">
                <a:tc>
                  <a:txBody>
                    <a:bodyPr/>
                    <a:lstStyle/>
                    <a:p>
                      <a:pPr algn="ctr" fontAlgn="ctr">
                        <a:buNone/>
                      </a:pPr>
                      <a:r>
                        <a:rPr lang="en-IN" sz="900" b="1" i="0" u="none" strike="noStrike">
                          <a:solidFill>
                            <a:srgbClr val="4B5563"/>
                          </a:solidFill>
                          <a:effectLst/>
                          <a:latin typeface="Segoe UI" panose="020B0502040204020203" pitchFamily="34" charset="0"/>
                        </a:rPr>
                        <a:t>Proc_Exynos</a:t>
                      </a:r>
                    </a:p>
                  </a:txBody>
                  <a:tcPr marL="7620" marR="7620" marT="7620" marB="0" anchor="ctr">
                    <a:lnL w="12700" cap="flat" cmpd="sng" algn="ctr">
                      <a:solidFill>
                        <a:srgbClr val="5C33BE"/>
                      </a:solidFill>
                      <a:prstDash val="solid"/>
                      <a:round/>
                      <a:headEnd type="none" w="med" len="med"/>
                      <a:tailEnd type="none" w="med" len="med"/>
                    </a:lnL>
                    <a:lnR>
                      <a:noFill/>
                    </a:lnR>
                    <a:lnT>
                      <a:noFill/>
                    </a:lnT>
                    <a:lnB w="12700" cap="flat" cmpd="sng" algn="ctr">
                      <a:solidFill>
                        <a:srgbClr val="5C33BE"/>
                      </a:solidFill>
                      <a:prstDash val="solid"/>
                      <a:round/>
                      <a:headEnd type="none" w="med" len="med"/>
                      <a:tailEnd type="none" w="med" len="med"/>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13</a:t>
                      </a:r>
                    </a:p>
                  </a:txBody>
                  <a:tcPr marL="7620" marR="7620" marT="7620" marB="0" anchor="ctr">
                    <a:lnL>
                      <a:noFill/>
                    </a:lnL>
                    <a:lnR>
                      <a:noFill/>
                    </a:lnR>
                    <a:lnT>
                      <a:noFill/>
                    </a:lnT>
                    <a:lnB w="12700" cap="flat" cmpd="sng" algn="ctr">
                      <a:solidFill>
                        <a:srgbClr val="5C33BE"/>
                      </a:solidFill>
                      <a:prstDash val="solid"/>
                      <a:round/>
                      <a:headEnd type="none" w="med" len="med"/>
                      <a:tailEnd type="none" w="med" len="med"/>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13</a:t>
                      </a:r>
                    </a:p>
                  </a:txBody>
                  <a:tcPr marL="7620" marR="7620" marT="7620" marB="0" anchor="ctr">
                    <a:lnL>
                      <a:noFill/>
                    </a:lnL>
                    <a:lnR>
                      <a:noFill/>
                    </a:lnR>
                    <a:lnT>
                      <a:noFill/>
                    </a:lnT>
                    <a:lnB w="12700" cap="flat" cmpd="sng" algn="ctr">
                      <a:solidFill>
                        <a:srgbClr val="5C33BE"/>
                      </a:solidFill>
                      <a:prstDash val="solid"/>
                      <a:round/>
                      <a:headEnd type="none" w="med" len="med"/>
                      <a:tailEnd type="none" w="med" len="med"/>
                    </a:lnB>
                    <a:solidFill>
                      <a:srgbClr val="F79779"/>
                    </a:solidFill>
                  </a:tcPr>
                </a:tc>
                <a:tc>
                  <a:txBody>
                    <a:bodyPr/>
                    <a:lstStyle/>
                    <a:p>
                      <a:pPr algn="ctr" fontAlgn="ctr">
                        <a:buNone/>
                      </a:pPr>
                      <a:r>
                        <a:rPr lang="en-IN" sz="900" b="1" i="0" u="none" strike="noStrike">
                          <a:solidFill>
                            <a:srgbClr val="4B5563"/>
                          </a:solidFill>
                          <a:effectLst/>
                          <a:latin typeface="Segoe UI" panose="020B0502040204020203" pitchFamily="34" charset="0"/>
                        </a:rPr>
                        <a:t>12</a:t>
                      </a:r>
                    </a:p>
                  </a:txBody>
                  <a:tcPr marL="7620" marR="7620" marT="7620" marB="0" anchor="ctr">
                    <a:lnL>
                      <a:noFill/>
                    </a:lnL>
                    <a:lnR>
                      <a:noFill/>
                    </a:lnR>
                    <a:lnT>
                      <a:noFill/>
                    </a:lnT>
                    <a:lnB w="12700" cap="flat" cmpd="sng" algn="ctr">
                      <a:solidFill>
                        <a:srgbClr val="5C33BE"/>
                      </a:solidFill>
                      <a:prstDash val="solid"/>
                      <a:round/>
                      <a:headEnd type="none" w="med" len="med"/>
                      <a:tailEnd type="none" w="med" len="med"/>
                    </a:lnB>
                    <a:solidFill>
                      <a:srgbClr val="F79779"/>
                    </a:solidFill>
                  </a:tcPr>
                </a:tc>
                <a:tc>
                  <a:txBody>
                    <a:bodyPr/>
                    <a:lstStyle/>
                    <a:p>
                      <a:pPr algn="ctr" fontAlgn="ctr">
                        <a:buNone/>
                      </a:pPr>
                      <a:r>
                        <a:rPr lang="en-IN" sz="900" b="1" i="0" u="none" strike="noStrike" dirty="0">
                          <a:solidFill>
                            <a:srgbClr val="4B5563"/>
                          </a:solidFill>
                          <a:effectLst/>
                          <a:latin typeface="Segoe UI" panose="020B0502040204020203" pitchFamily="34" charset="0"/>
                        </a:rPr>
                        <a:t>12.67 </a:t>
                      </a:r>
                    </a:p>
                  </a:txBody>
                  <a:tcPr marL="7620" marR="7620" marT="7620" marB="0" anchor="ctr">
                    <a:lnL>
                      <a:noFill/>
                    </a:lnL>
                    <a:lnR w="12700" cap="flat" cmpd="sng" algn="ctr">
                      <a:solidFill>
                        <a:srgbClr val="5C33BE"/>
                      </a:solidFill>
                      <a:prstDash val="solid"/>
                      <a:round/>
                      <a:headEnd type="none" w="med" len="med"/>
                      <a:tailEnd type="none" w="med" len="med"/>
                    </a:lnR>
                    <a:lnT>
                      <a:noFill/>
                    </a:lnT>
                    <a:lnB w="12700" cap="flat" cmpd="sng" algn="ctr">
                      <a:solidFill>
                        <a:srgbClr val="5C33BE"/>
                      </a:solidFill>
                      <a:prstDash val="solid"/>
                      <a:round/>
                      <a:headEnd type="none" w="med" len="med"/>
                      <a:tailEnd type="none" w="med" len="med"/>
                    </a:lnB>
                    <a:solidFill>
                      <a:srgbClr val="F79779"/>
                    </a:solidFill>
                  </a:tcPr>
                </a:tc>
                <a:extLst>
                  <a:ext uri="{0D108BD9-81ED-4DB2-BD59-A6C34878D82A}">
                    <a16:rowId xmlns:a16="http://schemas.microsoft.com/office/drawing/2014/main" val="1590524169"/>
                  </a:ext>
                </a:extLst>
              </a:tr>
            </a:tbl>
          </a:graphicData>
        </a:graphic>
      </p:graphicFrame>
      <p:sp>
        <p:nvSpPr>
          <p:cNvPr id="62" name="Shape 12">
            <a:extLst>
              <a:ext uri="{FF2B5EF4-FFF2-40B4-BE49-F238E27FC236}">
                <a16:creationId xmlns:a16="http://schemas.microsoft.com/office/drawing/2014/main" id="{14E12328-BECD-471A-3B7A-C283D0412EF3}"/>
              </a:ext>
            </a:extLst>
          </p:cNvPr>
          <p:cNvSpPr/>
          <p:nvPr/>
        </p:nvSpPr>
        <p:spPr>
          <a:xfrm>
            <a:off x="121529" y="708074"/>
            <a:ext cx="5130800" cy="846405"/>
          </a:xfrm>
          <a:prstGeom prst="roundRect">
            <a:avLst>
              <a:gd name="adj" fmla="val 5263"/>
            </a:avLst>
          </a:prstGeom>
          <a:solidFill>
            <a:srgbClr val="E7E7F5"/>
          </a:solidFill>
          <a:ln w="19050">
            <a:solidFill>
              <a:srgbClr val="6200C4"/>
            </a:solidFill>
            <a:prstDash val="solid"/>
          </a:ln>
          <a:effectLst>
            <a:outerShdw blurRad="76200" dist="25400" dir="2700000" algn="bl" rotWithShape="0">
              <a:srgbClr val="000000">
                <a:alpha val="8000"/>
              </a:srgbClr>
            </a:outerShdw>
          </a:effectLst>
        </p:spPr>
        <p:txBody>
          <a:bodyPr/>
          <a:lstStyle/>
          <a:p>
            <a:pPr fontAlgn="ctr"/>
            <a:endParaRPr lang="en-IN" sz="1000" dirty="0">
              <a:solidFill>
                <a:srgbClr val="39A866"/>
              </a:solidFill>
              <a:latin typeface="Segoe UI" panose="020B0502040204020203" pitchFamily="34" charset="0"/>
            </a:endParaRPr>
          </a:p>
        </p:txBody>
      </p:sp>
      <p:graphicFrame>
        <p:nvGraphicFramePr>
          <p:cNvPr id="63" name="Table 62">
            <a:extLst>
              <a:ext uri="{FF2B5EF4-FFF2-40B4-BE49-F238E27FC236}">
                <a16:creationId xmlns:a16="http://schemas.microsoft.com/office/drawing/2014/main" id="{596B30C4-2E8D-289A-BD0F-B8F4AA6BF899}"/>
              </a:ext>
            </a:extLst>
          </p:cNvPr>
          <p:cNvGraphicFramePr>
            <a:graphicFrameLocks noGrp="1"/>
          </p:cNvGraphicFramePr>
          <p:nvPr>
            <p:extLst>
              <p:ext uri="{D42A27DB-BD31-4B8C-83A1-F6EECF244321}">
                <p14:modId xmlns:p14="http://schemas.microsoft.com/office/powerpoint/2010/main" val="4195198677"/>
              </p:ext>
            </p:extLst>
          </p:nvPr>
        </p:nvGraphicFramePr>
        <p:xfrm>
          <a:off x="505460" y="1019382"/>
          <a:ext cx="1762468" cy="508133"/>
        </p:xfrm>
        <a:graphic>
          <a:graphicData uri="http://schemas.openxmlformats.org/drawingml/2006/table">
            <a:tbl>
              <a:tblPr/>
              <a:tblGrid>
                <a:gridCol w="1762468">
                  <a:extLst>
                    <a:ext uri="{9D8B030D-6E8A-4147-A177-3AD203B41FA5}">
                      <a16:colId xmlns:a16="http://schemas.microsoft.com/office/drawing/2014/main" val="1015635777"/>
                    </a:ext>
                  </a:extLst>
                </a:gridCol>
              </a:tblGrid>
              <a:tr h="508133">
                <a:tc>
                  <a:txBody>
                    <a:bodyPr/>
                    <a:lstStyle/>
                    <a:p>
                      <a:pPr marL="0" algn="l" defTabSz="914400" rtl="0" eaLnBrk="1" fontAlgn="ctr" latinLnBrk="0" hangingPunct="1">
                        <a:buNone/>
                      </a:pPr>
                      <a:r>
                        <a:rPr lang="en-IN" sz="900" b="0" i="0" u="none" strike="noStrike" dirty="0">
                          <a:solidFill>
                            <a:srgbClr val="39A866"/>
                          </a:solidFill>
                          <a:effectLst/>
                          <a:latin typeface="Segoe UI" panose="020B0502040204020203" pitchFamily="34" charset="0"/>
                        </a:rPr>
                        <a:t>■ </a:t>
                      </a:r>
                      <a:r>
                        <a:rPr lang="en-IN" sz="900" kern="1200" dirty="0">
                          <a:solidFill>
                            <a:srgbClr val="4B5563"/>
                          </a:solidFill>
                          <a:latin typeface="Segoe UI" panose="020B0502040204020203" pitchFamily="34" charset="0"/>
                          <a:ea typeface="+mn-ea"/>
                          <a:cs typeface="Segoe UI" panose="020B0502040204020203" pitchFamily="34" charset="0"/>
                        </a:rPr>
                        <a:t>Consensus Features</a:t>
                      </a:r>
                    </a:p>
                    <a:p>
                      <a:pPr marL="0" algn="l" defTabSz="914400" rtl="0" eaLnBrk="1" fontAlgn="ctr" latinLnBrk="0" hangingPunct="1">
                        <a:buNone/>
                      </a:pPr>
                      <a:r>
                        <a:rPr lang="en-IN" sz="900" b="0" i="0" u="none" strike="noStrike" dirty="0">
                          <a:solidFill>
                            <a:srgbClr val="DECD31"/>
                          </a:solidFill>
                          <a:effectLst/>
                          <a:latin typeface="Segoe UI" panose="020B0502040204020203" pitchFamily="34" charset="0"/>
                        </a:rPr>
                        <a:t>■ </a:t>
                      </a:r>
                      <a:r>
                        <a:rPr lang="en-IN" sz="900" kern="1200" dirty="0">
                          <a:solidFill>
                            <a:srgbClr val="4B5563"/>
                          </a:solidFill>
                          <a:latin typeface="Segoe UI" panose="020B0502040204020203" pitchFamily="34" charset="0"/>
                          <a:ea typeface="+mn-ea"/>
                          <a:cs typeface="Segoe UI" panose="020B0502040204020203" pitchFamily="34" charset="0"/>
                        </a:rPr>
                        <a:t>Conflicting Rankings </a:t>
                      </a:r>
                    </a:p>
                  </a:txBody>
                  <a:tcPr marL="7620" marR="7620" marT="7620" marB="0" anchor="ctr">
                    <a:lnL>
                      <a:noFill/>
                    </a:lnL>
                    <a:lnR>
                      <a:noFill/>
                    </a:lnR>
                    <a:lnT>
                      <a:noFill/>
                    </a:lnT>
                    <a:lnB>
                      <a:noFill/>
                    </a:lnB>
                    <a:noFill/>
                  </a:tcPr>
                </a:tc>
                <a:extLst>
                  <a:ext uri="{0D108BD9-81ED-4DB2-BD59-A6C34878D82A}">
                    <a16:rowId xmlns:a16="http://schemas.microsoft.com/office/drawing/2014/main" val="1793332850"/>
                  </a:ext>
                </a:extLst>
              </a:tr>
            </a:tbl>
          </a:graphicData>
        </a:graphic>
      </p:graphicFrame>
      <p:graphicFrame>
        <p:nvGraphicFramePr>
          <p:cNvPr id="65" name="Table 64">
            <a:extLst>
              <a:ext uri="{FF2B5EF4-FFF2-40B4-BE49-F238E27FC236}">
                <a16:creationId xmlns:a16="http://schemas.microsoft.com/office/drawing/2014/main" id="{576C8A8A-983E-DB7F-7CE2-69566117CECC}"/>
              </a:ext>
            </a:extLst>
          </p:cNvPr>
          <p:cNvGraphicFramePr>
            <a:graphicFrameLocks noGrp="1"/>
          </p:cNvGraphicFramePr>
          <p:nvPr>
            <p:extLst>
              <p:ext uri="{D42A27DB-BD31-4B8C-83A1-F6EECF244321}">
                <p14:modId xmlns:p14="http://schemas.microsoft.com/office/powerpoint/2010/main" val="3526492746"/>
              </p:ext>
            </p:extLst>
          </p:nvPr>
        </p:nvGraphicFramePr>
        <p:xfrm>
          <a:off x="3001105" y="1026399"/>
          <a:ext cx="1662335" cy="501116"/>
        </p:xfrm>
        <a:graphic>
          <a:graphicData uri="http://schemas.openxmlformats.org/drawingml/2006/table">
            <a:tbl>
              <a:tblPr/>
              <a:tblGrid>
                <a:gridCol w="1662335">
                  <a:extLst>
                    <a:ext uri="{9D8B030D-6E8A-4147-A177-3AD203B41FA5}">
                      <a16:colId xmlns:a16="http://schemas.microsoft.com/office/drawing/2014/main" val="1015635777"/>
                    </a:ext>
                  </a:extLst>
                </a:gridCol>
              </a:tblGrid>
              <a:tr h="501116">
                <a:tc>
                  <a:txBody>
                    <a:bodyPr/>
                    <a:lstStyle/>
                    <a:p>
                      <a:pPr marL="0" algn="l" defTabSz="914400" rtl="0" eaLnBrk="1" fontAlgn="ctr" latinLnBrk="0" hangingPunct="1">
                        <a:buNone/>
                      </a:pPr>
                      <a:r>
                        <a:rPr lang="en-IN" sz="900" b="0" i="0" u="none" strike="noStrike" dirty="0">
                          <a:solidFill>
                            <a:srgbClr val="FAA237"/>
                          </a:solidFill>
                          <a:effectLst/>
                          <a:latin typeface="Segoe UI" panose="020B0502040204020203" pitchFamily="34" charset="0"/>
                        </a:rPr>
                        <a:t>■ </a:t>
                      </a:r>
                      <a:r>
                        <a:rPr lang="en-IN" sz="900" kern="1200" dirty="0">
                          <a:solidFill>
                            <a:srgbClr val="4B5563"/>
                          </a:solidFill>
                          <a:latin typeface="Segoe UI" panose="020B0502040204020203" pitchFamily="34" charset="0"/>
                          <a:ea typeface="+mn-ea"/>
                          <a:cs typeface="Segoe UI" panose="020B0502040204020203" pitchFamily="34" charset="0"/>
                        </a:rPr>
                        <a:t>Directional Conflicts</a:t>
                      </a:r>
                    </a:p>
                    <a:p>
                      <a:pPr algn="l" fontAlgn="ctr">
                        <a:buNone/>
                      </a:pPr>
                      <a:r>
                        <a:rPr lang="en-IN" sz="900" b="0" i="0" u="none" strike="noStrike" dirty="0">
                          <a:solidFill>
                            <a:srgbClr val="F85149"/>
                          </a:solidFill>
                          <a:effectLst/>
                          <a:latin typeface="Segoe UI" panose="020B0502040204020203" pitchFamily="34" charset="0"/>
                        </a:rPr>
                        <a:t>■ </a:t>
                      </a:r>
                      <a:r>
                        <a:rPr lang="en-IN" sz="900" kern="1200" dirty="0">
                          <a:solidFill>
                            <a:srgbClr val="4B5563"/>
                          </a:solidFill>
                          <a:latin typeface="Segoe UI" panose="020B0502040204020203" pitchFamily="34" charset="0"/>
                          <a:ea typeface="+mn-ea"/>
                          <a:cs typeface="Segoe UI" panose="020B0502040204020203" pitchFamily="34" charset="0"/>
                        </a:rPr>
                        <a:t>Consistent Low Importance</a:t>
                      </a:r>
                    </a:p>
                  </a:txBody>
                  <a:tcPr marL="7620" marR="7620" marT="7620" marB="0" anchor="ctr">
                    <a:lnL>
                      <a:noFill/>
                    </a:lnL>
                    <a:lnR>
                      <a:noFill/>
                    </a:lnR>
                    <a:lnT>
                      <a:noFill/>
                    </a:lnT>
                    <a:lnB>
                      <a:noFill/>
                    </a:lnB>
                    <a:noFill/>
                  </a:tcPr>
                </a:tc>
                <a:extLst>
                  <a:ext uri="{0D108BD9-81ED-4DB2-BD59-A6C34878D82A}">
                    <a16:rowId xmlns:a16="http://schemas.microsoft.com/office/drawing/2014/main" val="1793332850"/>
                  </a:ext>
                </a:extLst>
              </a:tr>
            </a:tbl>
          </a:graphicData>
        </a:graphic>
      </p:graphicFrame>
      <p:graphicFrame>
        <p:nvGraphicFramePr>
          <p:cNvPr id="67" name="Table 66">
            <a:extLst>
              <a:ext uri="{FF2B5EF4-FFF2-40B4-BE49-F238E27FC236}">
                <a16:creationId xmlns:a16="http://schemas.microsoft.com/office/drawing/2014/main" id="{DC8D7455-2CBC-EC5A-ADB3-B6D3831A8169}"/>
              </a:ext>
            </a:extLst>
          </p:cNvPr>
          <p:cNvGraphicFramePr>
            <a:graphicFrameLocks noGrp="1"/>
          </p:cNvGraphicFramePr>
          <p:nvPr>
            <p:extLst>
              <p:ext uri="{D42A27DB-BD31-4B8C-83A1-F6EECF244321}">
                <p14:modId xmlns:p14="http://schemas.microsoft.com/office/powerpoint/2010/main" val="2338618979"/>
              </p:ext>
            </p:extLst>
          </p:nvPr>
        </p:nvGraphicFramePr>
        <p:xfrm>
          <a:off x="370840" y="760565"/>
          <a:ext cx="4292600" cy="342900"/>
        </p:xfrm>
        <a:graphic>
          <a:graphicData uri="http://schemas.openxmlformats.org/drawingml/2006/table">
            <a:tbl>
              <a:tblPr/>
              <a:tblGrid>
                <a:gridCol w="4292600">
                  <a:extLst>
                    <a:ext uri="{9D8B030D-6E8A-4147-A177-3AD203B41FA5}">
                      <a16:colId xmlns:a16="http://schemas.microsoft.com/office/drawing/2014/main" val="2795592977"/>
                    </a:ext>
                  </a:extLst>
                </a:gridCol>
              </a:tblGrid>
              <a:tr h="342900">
                <a:tc>
                  <a:txBody>
                    <a:bodyPr/>
                    <a:lstStyle/>
                    <a:p>
                      <a:pPr algn="ctr" fontAlgn="ctr">
                        <a:buNone/>
                      </a:pPr>
                      <a:r>
                        <a:rPr lang="en-IN" sz="1200" b="1" i="0" u="none" strike="noStrike" dirty="0">
                          <a:solidFill>
                            <a:srgbClr val="1E1B4B"/>
                          </a:solidFill>
                          <a:effectLst/>
                          <a:latin typeface="Segoe UI" panose="020B0502040204020203" pitchFamily="34" charset="0"/>
                        </a:rPr>
                        <a:t>FEATURE SELECTION </a:t>
                      </a:r>
                      <a:r>
                        <a:rPr lang="en-US" sz="1200" b="1" dirty="0">
                          <a:solidFill>
                            <a:srgbClr val="1E1B4B"/>
                          </a:solidFill>
                          <a:latin typeface="Bahnschrift" panose="020B0502040204020203" pitchFamily="34" charset="0"/>
                          <a:ea typeface="Calibri" pitchFamily="34" charset="-122"/>
                          <a:cs typeface="Calibri" pitchFamily="34" charset="-120"/>
                        </a:rPr>
                        <a:t>—</a:t>
                      </a:r>
                      <a:r>
                        <a:rPr lang="en-IN" sz="1200" b="1" i="0" u="none" strike="noStrike" dirty="0">
                          <a:solidFill>
                            <a:srgbClr val="1E1B4B"/>
                          </a:solidFill>
                          <a:effectLst/>
                          <a:latin typeface="Segoe UI" panose="020B0502040204020203" pitchFamily="34" charset="0"/>
                        </a:rPr>
                        <a:t> </a:t>
                      </a:r>
                      <a:r>
                        <a:rPr lang="en-IN" sz="1200" b="0" i="1" u="none" strike="noStrike" dirty="0">
                          <a:solidFill>
                            <a:srgbClr val="1E1B4B"/>
                          </a:solidFill>
                          <a:effectLst/>
                          <a:latin typeface="Segoe UI" panose="020B0502040204020203" pitchFamily="34" charset="0"/>
                        </a:rPr>
                        <a:t>Three-Method Comparison</a:t>
                      </a:r>
                      <a:endParaRPr lang="en-IN" sz="1200" b="1" i="0" u="none" strike="noStrike" dirty="0">
                        <a:solidFill>
                          <a:srgbClr val="1E1B4B"/>
                        </a:solidFill>
                        <a:effectLst/>
                        <a:latin typeface="Segoe UI" panose="020B0502040204020203" pitchFamily="34"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2414246874"/>
                  </a:ext>
                </a:extLst>
              </a:tr>
            </a:tbl>
          </a:graphicData>
        </a:graphic>
      </p:graphicFrame>
      <p:sp>
        <p:nvSpPr>
          <p:cNvPr id="69" name="Shape 12">
            <a:extLst>
              <a:ext uri="{FF2B5EF4-FFF2-40B4-BE49-F238E27FC236}">
                <a16:creationId xmlns:a16="http://schemas.microsoft.com/office/drawing/2014/main" id="{13902D7D-2047-6994-5FEC-AFFB1BEE96C4}"/>
              </a:ext>
            </a:extLst>
          </p:cNvPr>
          <p:cNvSpPr/>
          <p:nvPr/>
        </p:nvSpPr>
        <p:spPr>
          <a:xfrm>
            <a:off x="5658730" y="1019382"/>
            <a:ext cx="2979810" cy="970672"/>
          </a:xfrm>
          <a:prstGeom prst="roundRect">
            <a:avLst>
              <a:gd name="adj" fmla="val 16000"/>
            </a:avLst>
          </a:prstGeom>
          <a:solidFill>
            <a:schemeClr val="accent6">
              <a:lumMod val="20000"/>
              <a:lumOff val="80000"/>
            </a:schemeClr>
          </a:solidFill>
          <a:ln w="12700">
            <a:solidFill>
              <a:srgbClr val="00B050"/>
            </a:solidFill>
            <a:prstDash val="solid"/>
          </a:ln>
          <a:effectLst>
            <a:outerShdw blurRad="76200" dist="25400" dir="2700000" algn="bl" rotWithShape="0">
              <a:srgbClr val="000000">
                <a:alpha val="8000"/>
              </a:srgbClr>
            </a:outerShdw>
          </a:effectLst>
        </p:spPr>
        <p:txBody>
          <a:bodyPr/>
          <a:lstStyle/>
          <a:p>
            <a:r>
              <a:rPr lang="en-IN" sz="1000" dirty="0"/>
              <a:t>🟩 </a:t>
            </a:r>
            <a:r>
              <a:rPr lang="en-IN" sz="1000" b="1" dirty="0">
                <a:solidFill>
                  <a:srgbClr val="4B5563"/>
                </a:solidFill>
                <a:latin typeface="Segoe UI" panose="020B0502040204020203" pitchFamily="34" charset="0"/>
                <a:cs typeface="Segoe UI" panose="020B0502040204020203" pitchFamily="34" charset="0"/>
              </a:rPr>
              <a:t>Consensus Features</a:t>
            </a:r>
          </a:p>
          <a:p>
            <a:endParaRPr lang="en-IN" sz="1000" dirty="0">
              <a:solidFill>
                <a:srgbClr val="4B5563"/>
              </a:solidFill>
              <a:latin typeface="Segoe UI" panose="020B0502040204020203" pitchFamily="34" charset="0"/>
              <a:cs typeface="Segoe UI" panose="020B0502040204020203" pitchFamily="34" charset="0"/>
            </a:endParaRPr>
          </a:p>
          <a:p>
            <a:r>
              <a:rPr lang="en-IN" sz="1000" dirty="0">
                <a:solidFill>
                  <a:srgbClr val="4B5563"/>
                </a:solidFill>
                <a:latin typeface="Segoe UI" panose="020B0502040204020203" pitchFamily="34" charset="0"/>
                <a:cs typeface="Segoe UI" panose="020B0502040204020203" pitchFamily="34" charset="0"/>
              </a:rPr>
              <a:t>Memory, RAM and Camera features ranked consistently across all three screening methods.</a:t>
            </a:r>
          </a:p>
        </p:txBody>
      </p:sp>
      <p:sp>
        <p:nvSpPr>
          <p:cNvPr id="71" name="Shape 12">
            <a:extLst>
              <a:ext uri="{FF2B5EF4-FFF2-40B4-BE49-F238E27FC236}">
                <a16:creationId xmlns:a16="http://schemas.microsoft.com/office/drawing/2014/main" id="{3F347BFA-32CB-0CD9-3D9D-1C5E12685221}"/>
              </a:ext>
            </a:extLst>
          </p:cNvPr>
          <p:cNvSpPr/>
          <p:nvPr/>
        </p:nvSpPr>
        <p:spPr>
          <a:xfrm>
            <a:off x="5658730" y="2416869"/>
            <a:ext cx="2979810" cy="910528"/>
          </a:xfrm>
          <a:prstGeom prst="roundRect">
            <a:avLst>
              <a:gd name="adj" fmla="val 16000"/>
            </a:avLst>
          </a:prstGeom>
          <a:solidFill>
            <a:schemeClr val="accent4">
              <a:lumMod val="20000"/>
              <a:lumOff val="80000"/>
            </a:schemeClr>
          </a:solidFill>
          <a:ln w="12700">
            <a:solidFill>
              <a:srgbClr val="FFCC00"/>
            </a:solidFill>
            <a:prstDash val="solid"/>
          </a:ln>
          <a:effectLst>
            <a:outerShdw blurRad="76200" dist="25400" dir="2700000" algn="bl" rotWithShape="0">
              <a:srgbClr val="000000">
                <a:alpha val="8000"/>
              </a:srgbClr>
            </a:outerShdw>
          </a:effectLst>
        </p:spPr>
        <p:txBody>
          <a:bodyPr/>
          <a:lstStyle/>
          <a:p>
            <a:r>
              <a:rPr lang="en-IN" sz="1000" dirty="0"/>
              <a:t>🟨 </a:t>
            </a:r>
            <a:r>
              <a:rPr lang="en-IN" sz="1000" b="1" dirty="0">
                <a:solidFill>
                  <a:srgbClr val="4B5563"/>
                </a:solidFill>
                <a:latin typeface="Segoe UI" panose="020B0502040204020203" pitchFamily="34" charset="0"/>
                <a:cs typeface="Segoe UI" panose="020B0502040204020203" pitchFamily="34" charset="0"/>
              </a:rPr>
              <a:t>Conflicting Features</a:t>
            </a:r>
          </a:p>
          <a:p>
            <a:endParaRPr lang="en-IN" sz="1000" dirty="0"/>
          </a:p>
          <a:p>
            <a:r>
              <a:rPr lang="en-IN" sz="1000" dirty="0">
                <a:solidFill>
                  <a:srgbClr val="4B5563"/>
                </a:solidFill>
                <a:latin typeface="Segoe UI" panose="020B0502040204020203" pitchFamily="34" charset="0"/>
                <a:cs typeface="Segoe UI" panose="020B0502040204020203" pitchFamily="34" charset="0"/>
              </a:rPr>
              <a:t>Battery, AI Lens and Model required empirical validation due to conflicting rankings.</a:t>
            </a:r>
          </a:p>
        </p:txBody>
      </p:sp>
      <p:sp>
        <p:nvSpPr>
          <p:cNvPr id="73" name="Shape 12">
            <a:extLst>
              <a:ext uri="{FF2B5EF4-FFF2-40B4-BE49-F238E27FC236}">
                <a16:creationId xmlns:a16="http://schemas.microsoft.com/office/drawing/2014/main" id="{CE8D1D58-2F48-F44B-BFEB-5C4623E739FB}"/>
              </a:ext>
            </a:extLst>
          </p:cNvPr>
          <p:cNvSpPr/>
          <p:nvPr/>
        </p:nvSpPr>
        <p:spPr>
          <a:xfrm>
            <a:off x="5658730" y="3717421"/>
            <a:ext cx="2979810" cy="1157036"/>
          </a:xfrm>
          <a:prstGeom prst="roundRect">
            <a:avLst>
              <a:gd name="adj" fmla="val 16000"/>
            </a:avLst>
          </a:prstGeom>
          <a:solidFill>
            <a:srgbClr val="FEE2E2"/>
          </a:solidFill>
          <a:ln w="12700">
            <a:solidFill>
              <a:srgbClr val="DC2626"/>
            </a:solidFill>
            <a:prstDash val="solid"/>
          </a:ln>
          <a:effectLst>
            <a:outerShdw blurRad="76200" dist="25400" dir="2700000" algn="bl" rotWithShape="0">
              <a:srgbClr val="000000">
                <a:alpha val="8000"/>
              </a:srgbClr>
            </a:outerShdw>
          </a:effectLst>
        </p:spPr>
        <p:txBody>
          <a:bodyPr/>
          <a:lstStyle/>
          <a:p>
            <a:r>
              <a:rPr lang="en-IN" sz="1000" dirty="0"/>
              <a:t>🟥 </a:t>
            </a:r>
            <a:r>
              <a:rPr lang="en-IN" sz="1000" b="1" dirty="0">
                <a:solidFill>
                  <a:srgbClr val="4B5563"/>
                </a:solidFill>
                <a:latin typeface="Segoe UI" panose="020B0502040204020203" pitchFamily="34" charset="0"/>
                <a:cs typeface="Segoe UI" panose="020B0502040204020203" pitchFamily="34" charset="0"/>
              </a:rPr>
              <a:t>Final Decisions</a:t>
            </a:r>
          </a:p>
          <a:p>
            <a:endParaRPr lang="en-IN" sz="1000" b="1" dirty="0">
              <a:solidFill>
                <a:srgbClr val="4B5563"/>
              </a:solidFill>
              <a:latin typeface="Segoe UI" panose="020B0502040204020203" pitchFamily="34" charset="0"/>
              <a:cs typeface="Segoe UI" panose="020B0502040204020203" pitchFamily="34" charset="0"/>
            </a:endParaRPr>
          </a:p>
          <a:p>
            <a:r>
              <a:rPr lang="en-IN" sz="1000" b="1" dirty="0">
                <a:solidFill>
                  <a:srgbClr val="4B5563"/>
                </a:solidFill>
                <a:latin typeface="Segoe UI" panose="020B0502040204020203" pitchFamily="34" charset="0"/>
                <a:cs typeface="Segoe UI" panose="020B0502040204020203" pitchFamily="34" charset="0"/>
              </a:rPr>
              <a:t>Retained: </a:t>
            </a:r>
            <a:r>
              <a:rPr lang="en-IN" sz="1000" dirty="0">
                <a:solidFill>
                  <a:srgbClr val="4B5563"/>
                </a:solidFill>
                <a:latin typeface="Segoe UI" panose="020B0502040204020203" pitchFamily="34" charset="0"/>
                <a:cs typeface="Segoe UI" panose="020B0502040204020203" pitchFamily="34" charset="0"/>
              </a:rPr>
              <a:t>Battery and Model after empirical testing.</a:t>
            </a:r>
          </a:p>
          <a:p>
            <a:r>
              <a:rPr lang="en-IN" sz="1000" b="1" dirty="0">
                <a:solidFill>
                  <a:srgbClr val="4B5563"/>
                </a:solidFill>
                <a:latin typeface="Segoe UI" panose="020B0502040204020203" pitchFamily="34" charset="0"/>
                <a:cs typeface="Segoe UI" panose="020B0502040204020203" pitchFamily="34" charset="0"/>
              </a:rPr>
              <a:t>Dropped: </a:t>
            </a:r>
            <a:r>
              <a:rPr lang="en-IN" sz="1000" dirty="0">
                <a:solidFill>
                  <a:srgbClr val="4B5563"/>
                </a:solidFill>
                <a:latin typeface="Segoe UI" panose="020B0502040204020203" pitchFamily="34" charset="0"/>
                <a:cs typeface="Segoe UI" panose="020B0502040204020203" pitchFamily="34" charset="0"/>
              </a:rPr>
              <a:t>AI Lens, Colour_Encoded, Proc_Exynos and Proc_Unknown.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540496"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Model Building — The Race</a:t>
            </a:r>
            <a:endParaRPr lang="en-US" sz="2800" dirty="0">
              <a:latin typeface="Bahnschrift" panose="020B0502040204020203" pitchFamily="34" charset="0"/>
            </a:endParaRPr>
          </a:p>
        </p:txBody>
      </p:sp>
      <p:sp>
        <p:nvSpPr>
          <p:cNvPr id="5" name="Text 3"/>
          <p:cNvSpPr/>
          <p:nvPr/>
        </p:nvSpPr>
        <p:spPr>
          <a:xfrm>
            <a:off x="274320" y="635508"/>
            <a:ext cx="8595360" cy="219456"/>
          </a:xfrm>
          <a:prstGeom prst="rect">
            <a:avLst/>
          </a:prstGeom>
          <a:noFill/>
          <a:ln/>
        </p:spPr>
        <p:txBody>
          <a:bodyPr wrap="square" rtlCol="0" anchor="ctr"/>
          <a:lstStyle/>
          <a:p>
            <a:pPr marL="0" indent="0" algn="ctr">
              <a:buNone/>
            </a:pPr>
            <a:r>
              <a:rPr lang="en-US" sz="900" b="1" i="1" dirty="0">
                <a:solidFill>
                  <a:srgbClr val="1E1B4B"/>
                </a:solidFill>
                <a:latin typeface="Segoe UI" panose="020B0502040204020203" pitchFamily="34" charset="0"/>
                <a:ea typeface="Calibri" pitchFamily="34" charset="-122"/>
                <a:cs typeface="Segoe UI" panose="020B0502040204020203" pitchFamily="34" charset="0"/>
              </a:rPr>
              <a:t>80% Train (424) · 20% Test (107) · Random State 42 · StandardScaler for Linear Regression only</a:t>
            </a:r>
            <a:endParaRPr lang="en-US" sz="900" b="1" dirty="0">
              <a:solidFill>
                <a:srgbClr val="1E1B4B"/>
              </a:solidFill>
              <a:latin typeface="Segoe UI" panose="020B0502040204020203" pitchFamily="34" charset="0"/>
              <a:cs typeface="Segoe UI" panose="020B0502040204020203" pitchFamily="34" charset="0"/>
            </a:endParaRPr>
          </a:p>
        </p:txBody>
      </p:sp>
      <p:sp>
        <p:nvSpPr>
          <p:cNvPr id="6" name="Shape 4"/>
          <p:cNvSpPr/>
          <p:nvPr/>
        </p:nvSpPr>
        <p:spPr>
          <a:xfrm>
            <a:off x="274320" y="969264"/>
            <a:ext cx="8595360" cy="932688"/>
          </a:xfrm>
          <a:prstGeom prst="roundRect">
            <a:avLst>
              <a:gd name="adj" fmla="val 7843"/>
            </a:avLst>
          </a:prstGeom>
          <a:solidFill>
            <a:srgbClr val="FEF2F2"/>
          </a:solidFill>
          <a:ln w="12700">
            <a:solidFill>
              <a:srgbClr val="DC2626"/>
            </a:solidFill>
            <a:prstDash val="solid"/>
          </a:ln>
          <a:effectLst>
            <a:outerShdw blurRad="76200" dist="25400" dir="2700000" algn="bl" rotWithShape="0">
              <a:srgbClr val="000000">
                <a:alpha val="8000"/>
              </a:srgbClr>
            </a:outerShdw>
          </a:effectLst>
        </p:spPr>
        <p:txBody>
          <a:bodyPr/>
          <a:lstStyle/>
          <a:p>
            <a:endParaRPr lang="en-IN"/>
          </a:p>
        </p:txBody>
      </p:sp>
      <p:sp>
        <p:nvSpPr>
          <p:cNvPr id="7" name="Shape 5"/>
          <p:cNvSpPr/>
          <p:nvPr/>
        </p:nvSpPr>
        <p:spPr>
          <a:xfrm>
            <a:off x="347472" y="1060704"/>
            <a:ext cx="329184" cy="329184"/>
          </a:xfrm>
          <a:prstGeom prst="ellipse">
            <a:avLst/>
          </a:prstGeom>
          <a:solidFill>
            <a:srgbClr val="DC2626"/>
          </a:solidFill>
          <a:ln w="12700">
            <a:solidFill>
              <a:srgbClr val="DC2626"/>
            </a:solidFill>
            <a:prstDash val="solid"/>
          </a:ln>
        </p:spPr>
        <p:txBody>
          <a:bodyPr/>
          <a:lstStyle/>
          <a:p>
            <a:endParaRPr lang="en-IN"/>
          </a:p>
        </p:txBody>
      </p:sp>
      <p:sp>
        <p:nvSpPr>
          <p:cNvPr id="8" name="Text 6"/>
          <p:cNvSpPr/>
          <p:nvPr/>
        </p:nvSpPr>
        <p:spPr>
          <a:xfrm>
            <a:off x="347472" y="1060704"/>
            <a:ext cx="329184"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01</a:t>
            </a:r>
            <a:endParaRPr lang="en-US" sz="950" dirty="0"/>
          </a:p>
        </p:txBody>
      </p:sp>
      <p:sp>
        <p:nvSpPr>
          <p:cNvPr id="9" name="Text 7"/>
          <p:cNvSpPr/>
          <p:nvPr/>
        </p:nvSpPr>
        <p:spPr>
          <a:xfrm>
            <a:off x="768096" y="1042416"/>
            <a:ext cx="2651760" cy="256032"/>
          </a:xfrm>
          <a:prstGeom prst="rect">
            <a:avLst/>
          </a:prstGeom>
          <a:noFill/>
          <a:ln/>
        </p:spPr>
        <p:txBody>
          <a:bodyPr wrap="square" rtlCol="0" anchor="ctr"/>
          <a:lstStyle/>
          <a:p>
            <a:pPr marL="0" indent="0">
              <a:buNone/>
            </a:pPr>
            <a:r>
              <a:rPr lang="en-US" sz="1050" b="1" dirty="0">
                <a:solidFill>
                  <a:srgbClr val="DC2626"/>
                </a:solidFill>
                <a:latin typeface="Calibri" pitchFamily="34" charset="0"/>
                <a:ea typeface="Calibri" pitchFamily="34" charset="-122"/>
                <a:cs typeface="Calibri" pitchFamily="34" charset="-120"/>
              </a:rPr>
              <a:t>Linear Regression</a:t>
            </a:r>
            <a:endParaRPr lang="en-US" sz="1050" dirty="0"/>
          </a:p>
        </p:txBody>
      </p:sp>
      <p:sp>
        <p:nvSpPr>
          <p:cNvPr id="10" name="Text 8"/>
          <p:cNvSpPr/>
          <p:nvPr/>
        </p:nvSpPr>
        <p:spPr>
          <a:xfrm>
            <a:off x="768096" y="1298448"/>
            <a:ext cx="2651760" cy="182880"/>
          </a:xfrm>
          <a:prstGeom prst="rect">
            <a:avLst/>
          </a:prstGeom>
          <a:noFill/>
          <a:ln/>
        </p:spPr>
        <p:txBody>
          <a:bodyPr wrap="square" rtlCol="0" anchor="ctr"/>
          <a:lstStyle/>
          <a:p>
            <a:pPr marL="0" indent="0">
              <a:buNone/>
            </a:pPr>
            <a:r>
              <a:rPr lang="en-US" sz="900" i="1" dirty="0">
                <a:solidFill>
                  <a:srgbClr val="4B5563"/>
                </a:solidFill>
                <a:latin typeface="Calibri" pitchFamily="34" charset="0"/>
                <a:ea typeface="Calibri" pitchFamily="34" charset="-122"/>
                <a:cs typeface="Calibri" pitchFamily="34" charset="-120"/>
              </a:rPr>
              <a:t>Baseline</a:t>
            </a:r>
            <a:endParaRPr lang="en-US" sz="900" dirty="0">
              <a:solidFill>
                <a:srgbClr val="4B5563"/>
              </a:solidFill>
            </a:endParaRPr>
          </a:p>
        </p:txBody>
      </p:sp>
      <p:sp>
        <p:nvSpPr>
          <p:cNvPr id="11" name="Text 9"/>
          <p:cNvSpPr/>
          <p:nvPr/>
        </p:nvSpPr>
        <p:spPr>
          <a:xfrm>
            <a:off x="3520440" y="1060704"/>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MAE</a:t>
            </a:r>
            <a:endParaRPr lang="en-US" sz="800" dirty="0">
              <a:solidFill>
                <a:srgbClr val="4B5563"/>
              </a:solidFill>
            </a:endParaRPr>
          </a:p>
        </p:txBody>
      </p:sp>
      <p:sp>
        <p:nvSpPr>
          <p:cNvPr id="12" name="Text 10"/>
          <p:cNvSpPr/>
          <p:nvPr/>
        </p:nvSpPr>
        <p:spPr>
          <a:xfrm>
            <a:off x="3520440" y="1243584"/>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₹4,110</a:t>
            </a:r>
            <a:endParaRPr lang="en-US" sz="1300" dirty="0"/>
          </a:p>
        </p:txBody>
      </p:sp>
      <p:sp>
        <p:nvSpPr>
          <p:cNvPr id="13" name="Text 11"/>
          <p:cNvSpPr/>
          <p:nvPr/>
        </p:nvSpPr>
        <p:spPr>
          <a:xfrm>
            <a:off x="4846320" y="1060704"/>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RMSE</a:t>
            </a:r>
            <a:endParaRPr lang="en-US" sz="800" dirty="0">
              <a:solidFill>
                <a:srgbClr val="4B5563"/>
              </a:solidFill>
            </a:endParaRPr>
          </a:p>
        </p:txBody>
      </p:sp>
      <p:sp>
        <p:nvSpPr>
          <p:cNvPr id="14" name="Text 12"/>
          <p:cNvSpPr/>
          <p:nvPr/>
        </p:nvSpPr>
        <p:spPr>
          <a:xfrm>
            <a:off x="4846320" y="1243584"/>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₹6,665</a:t>
            </a:r>
            <a:endParaRPr lang="en-US" sz="1300" dirty="0"/>
          </a:p>
        </p:txBody>
      </p:sp>
      <p:sp>
        <p:nvSpPr>
          <p:cNvPr id="15" name="Text 13"/>
          <p:cNvSpPr/>
          <p:nvPr/>
        </p:nvSpPr>
        <p:spPr>
          <a:xfrm>
            <a:off x="6172200" y="1060704"/>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R²</a:t>
            </a:r>
            <a:endParaRPr lang="en-US" sz="800" dirty="0">
              <a:solidFill>
                <a:srgbClr val="4B5563"/>
              </a:solidFill>
            </a:endParaRPr>
          </a:p>
        </p:txBody>
      </p:sp>
      <p:sp>
        <p:nvSpPr>
          <p:cNvPr id="16" name="Text 14"/>
          <p:cNvSpPr/>
          <p:nvPr/>
        </p:nvSpPr>
        <p:spPr>
          <a:xfrm>
            <a:off x="6172200" y="1243584"/>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0.4570</a:t>
            </a:r>
            <a:endParaRPr lang="en-US" sz="1300" dirty="0"/>
          </a:p>
        </p:txBody>
      </p:sp>
      <p:sp>
        <p:nvSpPr>
          <p:cNvPr id="17" name="Text 15"/>
          <p:cNvSpPr/>
          <p:nvPr/>
        </p:nvSpPr>
        <p:spPr>
          <a:xfrm>
            <a:off x="7498080" y="1060704"/>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CV R²</a:t>
            </a:r>
            <a:endParaRPr lang="en-US" sz="800" dirty="0">
              <a:solidFill>
                <a:srgbClr val="4B5563"/>
              </a:solidFill>
            </a:endParaRPr>
          </a:p>
        </p:txBody>
      </p:sp>
      <p:sp>
        <p:nvSpPr>
          <p:cNvPr id="18" name="Text 16"/>
          <p:cNvSpPr/>
          <p:nvPr/>
        </p:nvSpPr>
        <p:spPr>
          <a:xfrm>
            <a:off x="7498080" y="1243584"/>
            <a:ext cx="1234440" cy="274320"/>
          </a:xfrm>
          <a:prstGeom prst="rect">
            <a:avLst/>
          </a:prstGeom>
          <a:noFill/>
          <a:ln/>
        </p:spPr>
        <p:txBody>
          <a:bodyPr wrap="square" rtlCol="0" anchor="ctr"/>
          <a:lstStyle/>
          <a:p>
            <a:pPr marL="0" indent="0" algn="ctr">
              <a:buNone/>
            </a:pPr>
            <a:r>
              <a:rPr lang="en-US" sz="1400" b="1" dirty="0">
                <a:solidFill>
                  <a:srgbClr val="DC2626"/>
                </a:solidFill>
                <a:latin typeface="Calibri" pitchFamily="34" charset="0"/>
                <a:ea typeface="Calibri" pitchFamily="34" charset="-122"/>
                <a:cs typeface="Calibri" pitchFamily="34" charset="-120"/>
              </a:rPr>
              <a:t>0.6256</a:t>
            </a:r>
            <a:endParaRPr lang="en-US" sz="1400" dirty="0"/>
          </a:p>
        </p:txBody>
      </p:sp>
      <p:sp>
        <p:nvSpPr>
          <p:cNvPr id="19" name="Text 17"/>
          <p:cNvSpPr/>
          <p:nvPr/>
        </p:nvSpPr>
        <p:spPr>
          <a:xfrm>
            <a:off x="768096" y="1563624"/>
            <a:ext cx="7973568" cy="274320"/>
          </a:xfrm>
          <a:prstGeom prst="rect">
            <a:avLst/>
          </a:prstGeom>
          <a:noFill/>
          <a:ln/>
        </p:spPr>
        <p:txBody>
          <a:bodyPr wrap="square" rtlCol="0" anchor="ctr"/>
          <a:lstStyle/>
          <a:p>
            <a:r>
              <a:rPr lang="en-US" sz="900" dirty="0">
                <a:solidFill>
                  <a:srgbClr val="4B5563"/>
                </a:solidFill>
                <a:latin typeface="Segoe UI" panose="020B0502040204020203" pitchFamily="34" charset="0"/>
                <a:ea typeface="Calibri" pitchFamily="34" charset="-122"/>
                <a:cs typeface="Segoe UI" panose="020B0502040204020203" pitchFamily="34" charset="0"/>
              </a:rPr>
              <a:t>Explains only 45.7% of variance. CV R² of 0.6256 higher than single test-split R².  Confirms non-linear models are essential.</a:t>
            </a:r>
            <a:endParaRPr lang="en-US" sz="900" dirty="0">
              <a:latin typeface="Segoe UI" panose="020B0502040204020203" pitchFamily="34" charset="0"/>
              <a:cs typeface="Segoe UI" panose="020B0502040204020203" pitchFamily="34" charset="0"/>
            </a:endParaRPr>
          </a:p>
        </p:txBody>
      </p:sp>
      <p:sp>
        <p:nvSpPr>
          <p:cNvPr id="20" name="Shape 18"/>
          <p:cNvSpPr/>
          <p:nvPr/>
        </p:nvSpPr>
        <p:spPr>
          <a:xfrm>
            <a:off x="274320" y="1993392"/>
            <a:ext cx="8595360" cy="932688"/>
          </a:xfrm>
          <a:prstGeom prst="roundRect">
            <a:avLst>
              <a:gd name="adj" fmla="val 7843"/>
            </a:avLst>
          </a:prstGeom>
          <a:solidFill>
            <a:srgbClr val="FFEDD5"/>
          </a:solidFill>
          <a:ln w="12700">
            <a:solidFill>
              <a:srgbClr val="EA580C"/>
            </a:solidFill>
            <a:prstDash val="solid"/>
          </a:ln>
          <a:effectLst>
            <a:outerShdw blurRad="76200" dist="25400" dir="2700000" algn="bl" rotWithShape="0">
              <a:srgbClr val="000000">
                <a:alpha val="8000"/>
              </a:srgbClr>
            </a:outerShdw>
          </a:effectLst>
        </p:spPr>
        <p:txBody>
          <a:bodyPr/>
          <a:lstStyle/>
          <a:p>
            <a:endParaRPr lang="en-IN"/>
          </a:p>
        </p:txBody>
      </p:sp>
      <p:sp>
        <p:nvSpPr>
          <p:cNvPr id="21" name="Shape 19"/>
          <p:cNvSpPr/>
          <p:nvPr/>
        </p:nvSpPr>
        <p:spPr>
          <a:xfrm>
            <a:off x="347472" y="2084832"/>
            <a:ext cx="329184" cy="329184"/>
          </a:xfrm>
          <a:prstGeom prst="ellipse">
            <a:avLst/>
          </a:prstGeom>
          <a:solidFill>
            <a:srgbClr val="EA580C"/>
          </a:solidFill>
          <a:ln w="12700">
            <a:solidFill>
              <a:srgbClr val="EA580C"/>
            </a:solidFill>
            <a:prstDash val="solid"/>
          </a:ln>
        </p:spPr>
        <p:txBody>
          <a:bodyPr/>
          <a:lstStyle/>
          <a:p>
            <a:endParaRPr lang="en-IN"/>
          </a:p>
        </p:txBody>
      </p:sp>
      <p:sp>
        <p:nvSpPr>
          <p:cNvPr id="22" name="Text 20"/>
          <p:cNvSpPr/>
          <p:nvPr/>
        </p:nvSpPr>
        <p:spPr>
          <a:xfrm>
            <a:off x="347472" y="2084832"/>
            <a:ext cx="329184"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02</a:t>
            </a:r>
            <a:endParaRPr lang="en-US" sz="950" dirty="0"/>
          </a:p>
        </p:txBody>
      </p:sp>
      <p:sp>
        <p:nvSpPr>
          <p:cNvPr id="23" name="Text 21"/>
          <p:cNvSpPr/>
          <p:nvPr/>
        </p:nvSpPr>
        <p:spPr>
          <a:xfrm>
            <a:off x="768096" y="2066544"/>
            <a:ext cx="2651760" cy="256032"/>
          </a:xfrm>
          <a:prstGeom prst="rect">
            <a:avLst/>
          </a:prstGeom>
          <a:noFill/>
          <a:ln/>
        </p:spPr>
        <p:txBody>
          <a:bodyPr wrap="square" rtlCol="0" anchor="ctr"/>
          <a:lstStyle/>
          <a:p>
            <a:pPr marL="0" indent="0">
              <a:buNone/>
            </a:pPr>
            <a:r>
              <a:rPr lang="en-US" sz="1050" b="1" dirty="0">
                <a:solidFill>
                  <a:srgbClr val="1E1B4B"/>
                </a:solidFill>
                <a:latin typeface="Calibri" pitchFamily="34" charset="0"/>
                <a:ea typeface="Calibri" pitchFamily="34" charset="-122"/>
                <a:cs typeface="Calibri" pitchFamily="34" charset="-120"/>
              </a:rPr>
              <a:t>Decision Tree Regressor</a:t>
            </a:r>
            <a:endParaRPr lang="en-US" sz="1050" dirty="0"/>
          </a:p>
        </p:txBody>
      </p:sp>
      <p:sp>
        <p:nvSpPr>
          <p:cNvPr id="24" name="Text 22"/>
          <p:cNvSpPr/>
          <p:nvPr/>
        </p:nvSpPr>
        <p:spPr>
          <a:xfrm>
            <a:off x="768096" y="2322576"/>
            <a:ext cx="2651760" cy="182880"/>
          </a:xfrm>
          <a:prstGeom prst="rect">
            <a:avLst/>
          </a:prstGeom>
          <a:noFill/>
          <a:ln/>
        </p:spPr>
        <p:txBody>
          <a:bodyPr wrap="square" rtlCol="0" anchor="ctr"/>
          <a:lstStyle/>
          <a:p>
            <a:pPr marL="0" indent="0">
              <a:buNone/>
            </a:pPr>
            <a:r>
              <a:rPr lang="en-US" sz="900" i="1" dirty="0">
                <a:solidFill>
                  <a:srgbClr val="4B5563"/>
                </a:solidFill>
                <a:latin typeface="Calibri" pitchFamily="34" charset="0"/>
                <a:ea typeface="Calibri" pitchFamily="34" charset="-122"/>
                <a:cs typeface="Calibri" pitchFamily="34" charset="-120"/>
              </a:rPr>
              <a:t>Rule-Based Non-Linear</a:t>
            </a:r>
            <a:endParaRPr lang="en-US" sz="900" dirty="0">
              <a:solidFill>
                <a:srgbClr val="4B5563"/>
              </a:solidFill>
            </a:endParaRPr>
          </a:p>
        </p:txBody>
      </p:sp>
      <p:sp>
        <p:nvSpPr>
          <p:cNvPr id="25" name="Text 23"/>
          <p:cNvSpPr/>
          <p:nvPr/>
        </p:nvSpPr>
        <p:spPr>
          <a:xfrm>
            <a:off x="3520440" y="2084832"/>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MAE</a:t>
            </a:r>
            <a:endParaRPr lang="en-US" sz="800" dirty="0">
              <a:solidFill>
                <a:srgbClr val="4B5563"/>
              </a:solidFill>
            </a:endParaRPr>
          </a:p>
        </p:txBody>
      </p:sp>
      <p:sp>
        <p:nvSpPr>
          <p:cNvPr id="26" name="Text 24"/>
          <p:cNvSpPr/>
          <p:nvPr/>
        </p:nvSpPr>
        <p:spPr>
          <a:xfrm>
            <a:off x="3520440" y="2267712"/>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₹1,313</a:t>
            </a:r>
            <a:endParaRPr lang="en-US" sz="1300" dirty="0"/>
          </a:p>
        </p:txBody>
      </p:sp>
      <p:sp>
        <p:nvSpPr>
          <p:cNvPr id="27" name="Text 25"/>
          <p:cNvSpPr/>
          <p:nvPr/>
        </p:nvSpPr>
        <p:spPr>
          <a:xfrm>
            <a:off x="4846320" y="2084832"/>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RMSE</a:t>
            </a:r>
            <a:endParaRPr lang="en-US" sz="800" dirty="0">
              <a:solidFill>
                <a:srgbClr val="4B5563"/>
              </a:solidFill>
            </a:endParaRPr>
          </a:p>
        </p:txBody>
      </p:sp>
      <p:sp>
        <p:nvSpPr>
          <p:cNvPr id="28" name="Text 26"/>
          <p:cNvSpPr/>
          <p:nvPr/>
        </p:nvSpPr>
        <p:spPr>
          <a:xfrm>
            <a:off x="4846320" y="2267712"/>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₹4,418</a:t>
            </a:r>
            <a:endParaRPr lang="en-US" sz="1300" dirty="0"/>
          </a:p>
        </p:txBody>
      </p:sp>
      <p:sp>
        <p:nvSpPr>
          <p:cNvPr id="29" name="Text 27"/>
          <p:cNvSpPr/>
          <p:nvPr/>
        </p:nvSpPr>
        <p:spPr>
          <a:xfrm>
            <a:off x="6172200" y="2084832"/>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R²</a:t>
            </a:r>
            <a:endParaRPr lang="en-US" sz="800" dirty="0">
              <a:solidFill>
                <a:srgbClr val="4B5563"/>
              </a:solidFill>
            </a:endParaRPr>
          </a:p>
        </p:txBody>
      </p:sp>
      <p:sp>
        <p:nvSpPr>
          <p:cNvPr id="30" name="Text 28"/>
          <p:cNvSpPr/>
          <p:nvPr/>
        </p:nvSpPr>
        <p:spPr>
          <a:xfrm>
            <a:off x="6172200" y="2267712"/>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0.7615</a:t>
            </a:r>
            <a:endParaRPr lang="en-US" sz="1300" dirty="0"/>
          </a:p>
        </p:txBody>
      </p:sp>
      <p:sp>
        <p:nvSpPr>
          <p:cNvPr id="31" name="Text 29"/>
          <p:cNvSpPr/>
          <p:nvPr/>
        </p:nvSpPr>
        <p:spPr>
          <a:xfrm>
            <a:off x="7498080" y="2084832"/>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CV R²</a:t>
            </a:r>
            <a:endParaRPr lang="en-US" sz="800" dirty="0">
              <a:solidFill>
                <a:srgbClr val="4B5563"/>
              </a:solidFill>
            </a:endParaRPr>
          </a:p>
        </p:txBody>
      </p:sp>
      <p:sp>
        <p:nvSpPr>
          <p:cNvPr id="32" name="Text 30"/>
          <p:cNvSpPr/>
          <p:nvPr/>
        </p:nvSpPr>
        <p:spPr>
          <a:xfrm>
            <a:off x="7498080" y="2267712"/>
            <a:ext cx="1234440" cy="274320"/>
          </a:xfrm>
          <a:prstGeom prst="rect">
            <a:avLst/>
          </a:prstGeom>
          <a:noFill/>
          <a:ln/>
        </p:spPr>
        <p:txBody>
          <a:bodyPr wrap="square" rtlCol="0" anchor="ctr"/>
          <a:lstStyle/>
          <a:p>
            <a:pPr marL="0" indent="0" algn="ctr">
              <a:buNone/>
            </a:pPr>
            <a:r>
              <a:rPr lang="en-US" sz="1400" b="1" dirty="0">
                <a:solidFill>
                  <a:srgbClr val="EA580C"/>
                </a:solidFill>
                <a:latin typeface="Calibri" pitchFamily="34" charset="0"/>
                <a:ea typeface="Calibri" pitchFamily="34" charset="-122"/>
                <a:cs typeface="Calibri" pitchFamily="34" charset="-120"/>
              </a:rPr>
              <a:t>0.7766</a:t>
            </a:r>
            <a:endParaRPr lang="en-US" sz="1400" dirty="0"/>
          </a:p>
        </p:txBody>
      </p:sp>
      <p:sp>
        <p:nvSpPr>
          <p:cNvPr id="33" name="Text 31"/>
          <p:cNvSpPr/>
          <p:nvPr/>
        </p:nvSpPr>
        <p:spPr>
          <a:xfrm>
            <a:off x="768096" y="2587752"/>
            <a:ext cx="7973568" cy="274320"/>
          </a:xfrm>
          <a:prstGeom prst="rect">
            <a:avLst/>
          </a:prstGeom>
          <a:noFill/>
          <a:ln/>
        </p:spPr>
        <p:txBody>
          <a:bodyPr wrap="square" rtlCol="0" anchor="ctr"/>
          <a:lstStyle/>
          <a:p>
            <a:r>
              <a:rPr lang="en-IN" sz="900" dirty="0">
                <a:solidFill>
                  <a:srgbClr val="4B5563"/>
                </a:solidFill>
                <a:latin typeface="Segoe UI" panose="020B0502040204020203" pitchFamily="34" charset="0"/>
                <a:ea typeface="Calibri" pitchFamily="34" charset="-122"/>
                <a:cs typeface="Segoe UI" panose="020B0502040204020203" pitchFamily="34" charset="0"/>
              </a:rPr>
              <a:t>CV R² (0.7766) sits close to Test R² (0.7615) — a gap of just 0.0141 — indicating fairly consistent performance across data splits.</a:t>
            </a:r>
            <a:endParaRPr lang="en-US" sz="900" dirty="0">
              <a:solidFill>
                <a:srgbClr val="4B5563"/>
              </a:solidFill>
              <a:latin typeface="Segoe UI" panose="020B0502040204020203" pitchFamily="34" charset="0"/>
              <a:ea typeface="Calibri" pitchFamily="34" charset="-122"/>
              <a:cs typeface="Segoe UI" panose="020B0502040204020203" pitchFamily="34" charset="0"/>
            </a:endParaRPr>
          </a:p>
        </p:txBody>
      </p:sp>
      <p:sp>
        <p:nvSpPr>
          <p:cNvPr id="34" name="Shape 32"/>
          <p:cNvSpPr/>
          <p:nvPr/>
        </p:nvSpPr>
        <p:spPr>
          <a:xfrm>
            <a:off x="274320" y="3017520"/>
            <a:ext cx="8595360" cy="932688"/>
          </a:xfrm>
          <a:prstGeom prst="roundRect">
            <a:avLst>
              <a:gd name="adj" fmla="val 7843"/>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35" name="Shape 33"/>
          <p:cNvSpPr/>
          <p:nvPr/>
        </p:nvSpPr>
        <p:spPr>
          <a:xfrm>
            <a:off x="347472" y="3108960"/>
            <a:ext cx="329184" cy="329184"/>
          </a:xfrm>
          <a:prstGeom prst="ellipse">
            <a:avLst/>
          </a:prstGeom>
          <a:solidFill>
            <a:srgbClr val="5C33BE"/>
          </a:solidFill>
          <a:ln w="12700">
            <a:solidFill>
              <a:srgbClr val="5C33BE"/>
            </a:solidFill>
            <a:prstDash val="solid"/>
          </a:ln>
        </p:spPr>
        <p:txBody>
          <a:bodyPr/>
          <a:lstStyle/>
          <a:p>
            <a:endParaRPr lang="en-IN"/>
          </a:p>
        </p:txBody>
      </p:sp>
      <p:sp>
        <p:nvSpPr>
          <p:cNvPr id="36" name="Text 34"/>
          <p:cNvSpPr/>
          <p:nvPr/>
        </p:nvSpPr>
        <p:spPr>
          <a:xfrm>
            <a:off x="347472" y="3108960"/>
            <a:ext cx="329184"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03</a:t>
            </a:r>
            <a:endParaRPr lang="en-US" sz="950" dirty="0"/>
          </a:p>
        </p:txBody>
      </p:sp>
      <p:sp>
        <p:nvSpPr>
          <p:cNvPr id="37" name="Text 35"/>
          <p:cNvSpPr/>
          <p:nvPr/>
        </p:nvSpPr>
        <p:spPr>
          <a:xfrm>
            <a:off x="768096" y="3090672"/>
            <a:ext cx="2651760" cy="256032"/>
          </a:xfrm>
          <a:prstGeom prst="rect">
            <a:avLst/>
          </a:prstGeom>
          <a:noFill/>
          <a:ln/>
        </p:spPr>
        <p:txBody>
          <a:bodyPr wrap="square" rtlCol="0" anchor="ctr"/>
          <a:lstStyle/>
          <a:p>
            <a:pPr marL="0" indent="0">
              <a:buNone/>
            </a:pPr>
            <a:r>
              <a:rPr lang="en-US" sz="1050" b="1" dirty="0">
                <a:solidFill>
                  <a:srgbClr val="1E1B4B"/>
                </a:solidFill>
                <a:latin typeface="Calibri" pitchFamily="34" charset="0"/>
                <a:ea typeface="Calibri" pitchFamily="34" charset="-122"/>
                <a:cs typeface="Calibri" pitchFamily="34" charset="-120"/>
              </a:rPr>
              <a:t>Random Forest Regressor</a:t>
            </a:r>
            <a:endParaRPr lang="en-US" sz="1050" dirty="0"/>
          </a:p>
        </p:txBody>
      </p:sp>
      <p:sp>
        <p:nvSpPr>
          <p:cNvPr id="38" name="Text 36"/>
          <p:cNvSpPr/>
          <p:nvPr/>
        </p:nvSpPr>
        <p:spPr>
          <a:xfrm>
            <a:off x="768096" y="3346704"/>
            <a:ext cx="2651760" cy="182880"/>
          </a:xfrm>
          <a:prstGeom prst="rect">
            <a:avLst/>
          </a:prstGeom>
          <a:noFill/>
          <a:ln/>
        </p:spPr>
        <p:txBody>
          <a:bodyPr wrap="square" rtlCol="0" anchor="ctr"/>
          <a:lstStyle/>
          <a:p>
            <a:pPr marL="0" indent="0">
              <a:buNone/>
            </a:pPr>
            <a:r>
              <a:rPr lang="en-US" sz="900" i="1" dirty="0">
                <a:solidFill>
                  <a:srgbClr val="4B5563"/>
                </a:solidFill>
                <a:latin typeface="Calibri" pitchFamily="34" charset="0"/>
                <a:ea typeface="Calibri" pitchFamily="34" charset="-122"/>
                <a:cs typeface="Calibri" pitchFamily="34" charset="-120"/>
              </a:rPr>
              <a:t>Bagging Ensemble</a:t>
            </a:r>
            <a:endParaRPr lang="en-US" sz="900" dirty="0">
              <a:solidFill>
                <a:srgbClr val="4B5563"/>
              </a:solidFill>
            </a:endParaRPr>
          </a:p>
        </p:txBody>
      </p:sp>
      <p:sp>
        <p:nvSpPr>
          <p:cNvPr id="39" name="Text 37"/>
          <p:cNvSpPr/>
          <p:nvPr/>
        </p:nvSpPr>
        <p:spPr>
          <a:xfrm>
            <a:off x="3520440" y="3108960"/>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MAE</a:t>
            </a:r>
            <a:endParaRPr lang="en-US" sz="800" dirty="0">
              <a:solidFill>
                <a:srgbClr val="4B5563"/>
              </a:solidFill>
            </a:endParaRPr>
          </a:p>
        </p:txBody>
      </p:sp>
      <p:sp>
        <p:nvSpPr>
          <p:cNvPr id="40" name="Text 38"/>
          <p:cNvSpPr/>
          <p:nvPr/>
        </p:nvSpPr>
        <p:spPr>
          <a:xfrm>
            <a:off x="3520440" y="3291840"/>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₹1,987</a:t>
            </a:r>
            <a:endParaRPr lang="en-US" sz="1300" dirty="0"/>
          </a:p>
        </p:txBody>
      </p:sp>
      <p:sp>
        <p:nvSpPr>
          <p:cNvPr id="41" name="Text 39"/>
          <p:cNvSpPr/>
          <p:nvPr/>
        </p:nvSpPr>
        <p:spPr>
          <a:xfrm>
            <a:off x="4846320" y="3108960"/>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RMSE</a:t>
            </a:r>
            <a:endParaRPr lang="en-US" sz="800" dirty="0">
              <a:solidFill>
                <a:srgbClr val="4B5563"/>
              </a:solidFill>
            </a:endParaRPr>
          </a:p>
        </p:txBody>
      </p:sp>
      <p:sp>
        <p:nvSpPr>
          <p:cNvPr id="42" name="Text 40"/>
          <p:cNvSpPr/>
          <p:nvPr/>
        </p:nvSpPr>
        <p:spPr>
          <a:xfrm>
            <a:off x="4846320" y="3291840"/>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₹4,641</a:t>
            </a:r>
            <a:endParaRPr lang="en-US" sz="1300" dirty="0"/>
          </a:p>
        </p:txBody>
      </p:sp>
      <p:sp>
        <p:nvSpPr>
          <p:cNvPr id="43" name="Text 41"/>
          <p:cNvSpPr/>
          <p:nvPr/>
        </p:nvSpPr>
        <p:spPr>
          <a:xfrm>
            <a:off x="6172200" y="3108960"/>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R²</a:t>
            </a:r>
            <a:endParaRPr lang="en-US" sz="800" dirty="0">
              <a:solidFill>
                <a:srgbClr val="4B5563"/>
              </a:solidFill>
            </a:endParaRPr>
          </a:p>
        </p:txBody>
      </p:sp>
      <p:sp>
        <p:nvSpPr>
          <p:cNvPr id="44" name="Text 42"/>
          <p:cNvSpPr/>
          <p:nvPr/>
        </p:nvSpPr>
        <p:spPr>
          <a:xfrm>
            <a:off x="6172200" y="3291840"/>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0.7367</a:t>
            </a:r>
            <a:endParaRPr lang="en-US" sz="1300" dirty="0"/>
          </a:p>
        </p:txBody>
      </p:sp>
      <p:sp>
        <p:nvSpPr>
          <p:cNvPr id="45" name="Text 43"/>
          <p:cNvSpPr/>
          <p:nvPr/>
        </p:nvSpPr>
        <p:spPr>
          <a:xfrm>
            <a:off x="7498080" y="3108960"/>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CV R²</a:t>
            </a:r>
            <a:endParaRPr lang="en-US" sz="800" dirty="0">
              <a:solidFill>
                <a:srgbClr val="4B5563"/>
              </a:solidFill>
            </a:endParaRPr>
          </a:p>
        </p:txBody>
      </p:sp>
      <p:sp>
        <p:nvSpPr>
          <p:cNvPr id="46" name="Text 44"/>
          <p:cNvSpPr/>
          <p:nvPr/>
        </p:nvSpPr>
        <p:spPr>
          <a:xfrm>
            <a:off x="7498080" y="3291840"/>
            <a:ext cx="1234440" cy="274320"/>
          </a:xfrm>
          <a:prstGeom prst="rect">
            <a:avLst/>
          </a:prstGeom>
          <a:noFill/>
          <a:ln/>
        </p:spPr>
        <p:txBody>
          <a:bodyPr wrap="square" rtlCol="0" anchor="ctr"/>
          <a:lstStyle/>
          <a:p>
            <a:pPr marL="0" indent="0" algn="ctr">
              <a:buNone/>
            </a:pPr>
            <a:r>
              <a:rPr lang="en-US" sz="1400" b="1" dirty="0">
                <a:solidFill>
                  <a:srgbClr val="5C33BE"/>
                </a:solidFill>
                <a:latin typeface="Calibri" pitchFamily="34" charset="0"/>
                <a:ea typeface="Calibri" pitchFamily="34" charset="-122"/>
                <a:cs typeface="Calibri" pitchFamily="34" charset="-120"/>
              </a:rPr>
              <a:t>0.8593</a:t>
            </a:r>
            <a:endParaRPr lang="en-US" sz="1400" dirty="0"/>
          </a:p>
        </p:txBody>
      </p:sp>
      <p:sp>
        <p:nvSpPr>
          <p:cNvPr id="47" name="Text 45"/>
          <p:cNvSpPr/>
          <p:nvPr/>
        </p:nvSpPr>
        <p:spPr>
          <a:xfrm>
            <a:off x="768096" y="3611880"/>
            <a:ext cx="7973568" cy="274320"/>
          </a:xfrm>
          <a:prstGeom prst="rect">
            <a:avLst/>
          </a:prstGeom>
          <a:noFill/>
          <a:ln/>
        </p:spPr>
        <p:txBody>
          <a:bodyPr wrap="square" rtlCol="0" anchor="ctr"/>
          <a:lstStyle/>
          <a:p>
            <a:r>
              <a:rPr lang="en-IN" sz="900" dirty="0">
                <a:solidFill>
                  <a:srgbClr val="4B5563"/>
                </a:solidFill>
                <a:latin typeface="Segoe UI" panose="020B0502040204020203" pitchFamily="34" charset="0"/>
                <a:ea typeface="Calibri" pitchFamily="34" charset="-122"/>
                <a:cs typeface="Segoe UI" panose="020B0502040204020203" pitchFamily="34" charset="0"/>
              </a:rPr>
              <a:t>The gap between CV R² (0.8593) and Test R² (0.7367) — the largest among the four baseline models — suggests this particular test split was harder than average for RF. CV R² remains the more reliable estimate of its true generalization.</a:t>
            </a:r>
            <a:endParaRPr lang="en-US" sz="900" dirty="0">
              <a:solidFill>
                <a:srgbClr val="4B5563"/>
              </a:solidFill>
              <a:latin typeface="Segoe UI" panose="020B0502040204020203" pitchFamily="34" charset="0"/>
              <a:ea typeface="Calibri" pitchFamily="34" charset="-122"/>
              <a:cs typeface="Segoe UI" panose="020B0502040204020203" pitchFamily="34" charset="0"/>
            </a:endParaRPr>
          </a:p>
        </p:txBody>
      </p:sp>
      <p:sp>
        <p:nvSpPr>
          <p:cNvPr id="48" name="Shape 46"/>
          <p:cNvSpPr/>
          <p:nvPr/>
        </p:nvSpPr>
        <p:spPr>
          <a:xfrm>
            <a:off x="274320" y="4041648"/>
            <a:ext cx="8595360" cy="932688"/>
          </a:xfrm>
          <a:prstGeom prst="roundRect">
            <a:avLst>
              <a:gd name="adj" fmla="val 7843"/>
            </a:avLst>
          </a:prstGeom>
          <a:solidFill>
            <a:srgbClr val="EDE9FC"/>
          </a:solidFill>
          <a:ln w="31750">
            <a:solidFill>
              <a:srgbClr val="3B1E8E"/>
            </a:solidFill>
            <a:prstDash val="solid"/>
          </a:ln>
          <a:effectLst>
            <a:outerShdw blurRad="76200" dist="25400" dir="2700000" algn="bl" rotWithShape="0">
              <a:srgbClr val="000000">
                <a:alpha val="8000"/>
              </a:srgbClr>
            </a:outerShdw>
          </a:effectLst>
        </p:spPr>
        <p:txBody>
          <a:bodyPr/>
          <a:lstStyle/>
          <a:p>
            <a:endParaRPr lang="en-IN"/>
          </a:p>
        </p:txBody>
      </p:sp>
      <p:sp>
        <p:nvSpPr>
          <p:cNvPr id="49" name="Shape 47"/>
          <p:cNvSpPr/>
          <p:nvPr/>
        </p:nvSpPr>
        <p:spPr>
          <a:xfrm>
            <a:off x="347472" y="4133088"/>
            <a:ext cx="329184" cy="329184"/>
          </a:xfrm>
          <a:prstGeom prst="ellipse">
            <a:avLst/>
          </a:prstGeom>
          <a:solidFill>
            <a:srgbClr val="3B1E8E"/>
          </a:solidFill>
          <a:ln w="12700">
            <a:solidFill>
              <a:srgbClr val="3B1E8E"/>
            </a:solidFill>
            <a:prstDash val="solid"/>
          </a:ln>
        </p:spPr>
        <p:txBody>
          <a:bodyPr/>
          <a:lstStyle/>
          <a:p>
            <a:endParaRPr lang="en-IN"/>
          </a:p>
        </p:txBody>
      </p:sp>
      <p:sp>
        <p:nvSpPr>
          <p:cNvPr id="50" name="Text 48"/>
          <p:cNvSpPr/>
          <p:nvPr/>
        </p:nvSpPr>
        <p:spPr>
          <a:xfrm>
            <a:off x="347472" y="4133088"/>
            <a:ext cx="329184"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04</a:t>
            </a:r>
            <a:endParaRPr lang="en-US" sz="950" dirty="0"/>
          </a:p>
        </p:txBody>
      </p:sp>
      <p:sp>
        <p:nvSpPr>
          <p:cNvPr id="51" name="Text 49"/>
          <p:cNvSpPr/>
          <p:nvPr/>
        </p:nvSpPr>
        <p:spPr>
          <a:xfrm>
            <a:off x="768096" y="4114800"/>
            <a:ext cx="2651760" cy="256032"/>
          </a:xfrm>
          <a:prstGeom prst="rect">
            <a:avLst/>
          </a:prstGeom>
          <a:noFill/>
          <a:ln/>
        </p:spPr>
        <p:txBody>
          <a:bodyPr wrap="square" rtlCol="0" anchor="ctr"/>
          <a:lstStyle/>
          <a:p>
            <a:pPr marL="0" indent="0">
              <a:buNone/>
            </a:pPr>
            <a:r>
              <a:rPr lang="en-US" sz="1050" b="1" dirty="0">
                <a:solidFill>
                  <a:srgbClr val="1E1B4B"/>
                </a:solidFill>
                <a:latin typeface="Calibri" pitchFamily="34" charset="0"/>
                <a:ea typeface="Calibri" pitchFamily="34" charset="-122"/>
                <a:cs typeface="Calibri" pitchFamily="34" charset="-120"/>
              </a:rPr>
              <a:t>XGBoost Regressor</a:t>
            </a:r>
            <a:endParaRPr lang="en-US" sz="1050" dirty="0"/>
          </a:p>
        </p:txBody>
      </p:sp>
      <p:sp>
        <p:nvSpPr>
          <p:cNvPr id="52" name="Text 50"/>
          <p:cNvSpPr/>
          <p:nvPr/>
        </p:nvSpPr>
        <p:spPr>
          <a:xfrm>
            <a:off x="768096" y="4370832"/>
            <a:ext cx="2651760" cy="182880"/>
          </a:xfrm>
          <a:prstGeom prst="rect">
            <a:avLst/>
          </a:prstGeom>
          <a:noFill/>
          <a:ln/>
        </p:spPr>
        <p:txBody>
          <a:bodyPr wrap="square" rtlCol="0" anchor="ctr"/>
          <a:lstStyle/>
          <a:p>
            <a:pPr marL="0" indent="0">
              <a:buNone/>
            </a:pPr>
            <a:r>
              <a:rPr lang="en-US" sz="900" i="1" dirty="0">
                <a:solidFill>
                  <a:srgbClr val="4B5563"/>
                </a:solidFill>
                <a:latin typeface="Calibri" pitchFamily="34" charset="0"/>
                <a:ea typeface="Calibri" pitchFamily="34" charset="-122"/>
                <a:cs typeface="Calibri" pitchFamily="34" charset="-120"/>
              </a:rPr>
              <a:t>Boosting Ensemble </a:t>
            </a:r>
            <a:endParaRPr lang="en-US" sz="900" dirty="0">
              <a:solidFill>
                <a:srgbClr val="4B5563"/>
              </a:solidFill>
            </a:endParaRPr>
          </a:p>
        </p:txBody>
      </p:sp>
      <p:sp>
        <p:nvSpPr>
          <p:cNvPr id="53" name="Text 51"/>
          <p:cNvSpPr/>
          <p:nvPr/>
        </p:nvSpPr>
        <p:spPr>
          <a:xfrm>
            <a:off x="3520440" y="4133088"/>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MAE</a:t>
            </a:r>
            <a:endParaRPr lang="en-US" sz="800" dirty="0">
              <a:solidFill>
                <a:srgbClr val="4B5563"/>
              </a:solidFill>
            </a:endParaRPr>
          </a:p>
        </p:txBody>
      </p:sp>
      <p:sp>
        <p:nvSpPr>
          <p:cNvPr id="54" name="Text 52"/>
          <p:cNvSpPr/>
          <p:nvPr/>
        </p:nvSpPr>
        <p:spPr>
          <a:xfrm>
            <a:off x="3520440" y="4315968"/>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₹1,194</a:t>
            </a:r>
            <a:endParaRPr lang="en-US" sz="1300" dirty="0"/>
          </a:p>
        </p:txBody>
      </p:sp>
      <p:sp>
        <p:nvSpPr>
          <p:cNvPr id="55" name="Text 53"/>
          <p:cNvSpPr/>
          <p:nvPr/>
        </p:nvSpPr>
        <p:spPr>
          <a:xfrm>
            <a:off x="4846320" y="4133088"/>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RMSE</a:t>
            </a:r>
            <a:endParaRPr lang="en-US" sz="800" dirty="0">
              <a:solidFill>
                <a:srgbClr val="4B5563"/>
              </a:solidFill>
            </a:endParaRPr>
          </a:p>
        </p:txBody>
      </p:sp>
      <p:sp>
        <p:nvSpPr>
          <p:cNvPr id="56" name="Text 54"/>
          <p:cNvSpPr/>
          <p:nvPr/>
        </p:nvSpPr>
        <p:spPr>
          <a:xfrm>
            <a:off x="4846320" y="4315968"/>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₹3,793</a:t>
            </a:r>
            <a:endParaRPr lang="en-US" sz="1300" dirty="0"/>
          </a:p>
        </p:txBody>
      </p:sp>
      <p:sp>
        <p:nvSpPr>
          <p:cNvPr id="57" name="Text 55"/>
          <p:cNvSpPr/>
          <p:nvPr/>
        </p:nvSpPr>
        <p:spPr>
          <a:xfrm>
            <a:off x="6172200" y="4133088"/>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Test R²</a:t>
            </a:r>
            <a:endParaRPr lang="en-US" sz="800" dirty="0">
              <a:solidFill>
                <a:srgbClr val="4B5563"/>
              </a:solidFill>
            </a:endParaRPr>
          </a:p>
        </p:txBody>
      </p:sp>
      <p:sp>
        <p:nvSpPr>
          <p:cNvPr id="58" name="Text 56"/>
          <p:cNvSpPr/>
          <p:nvPr/>
        </p:nvSpPr>
        <p:spPr>
          <a:xfrm>
            <a:off x="6172200" y="4315968"/>
            <a:ext cx="1234440" cy="274320"/>
          </a:xfrm>
          <a:prstGeom prst="rect">
            <a:avLst/>
          </a:prstGeom>
          <a:noFill/>
          <a:ln/>
        </p:spPr>
        <p:txBody>
          <a:bodyPr wrap="square" rtlCol="0" anchor="ctr"/>
          <a:lstStyle/>
          <a:p>
            <a:pPr marL="0" indent="0" algn="ctr">
              <a:buNone/>
            </a:pPr>
            <a:r>
              <a:rPr lang="en-US" sz="1300" b="1" dirty="0">
                <a:solidFill>
                  <a:srgbClr val="1E1B4B"/>
                </a:solidFill>
                <a:latin typeface="Calibri" pitchFamily="34" charset="0"/>
                <a:ea typeface="Calibri" pitchFamily="34" charset="-122"/>
                <a:cs typeface="Calibri" pitchFamily="34" charset="-120"/>
              </a:rPr>
              <a:t>0.8241</a:t>
            </a:r>
            <a:endParaRPr lang="en-US" sz="1300" dirty="0"/>
          </a:p>
        </p:txBody>
      </p:sp>
      <p:sp>
        <p:nvSpPr>
          <p:cNvPr id="59" name="Text 57"/>
          <p:cNvSpPr/>
          <p:nvPr/>
        </p:nvSpPr>
        <p:spPr>
          <a:xfrm>
            <a:off x="7498080" y="4133088"/>
            <a:ext cx="1234440" cy="182880"/>
          </a:xfrm>
          <a:prstGeom prst="rect">
            <a:avLst/>
          </a:prstGeom>
          <a:noFill/>
          <a:ln/>
        </p:spPr>
        <p:txBody>
          <a:bodyPr wrap="square" rtlCol="0" anchor="ctr"/>
          <a:lstStyle/>
          <a:p>
            <a:pPr marL="0" indent="0" algn="ctr">
              <a:buNone/>
            </a:pPr>
            <a:r>
              <a:rPr lang="en-US" sz="800" dirty="0">
                <a:solidFill>
                  <a:srgbClr val="4B5563"/>
                </a:solidFill>
                <a:latin typeface="Calibri" pitchFamily="34" charset="0"/>
                <a:ea typeface="Calibri" pitchFamily="34" charset="-122"/>
                <a:cs typeface="Calibri" pitchFamily="34" charset="-120"/>
              </a:rPr>
              <a:t>CV R²</a:t>
            </a:r>
            <a:endParaRPr lang="en-US" sz="800" dirty="0">
              <a:solidFill>
                <a:srgbClr val="4B5563"/>
              </a:solidFill>
            </a:endParaRPr>
          </a:p>
        </p:txBody>
      </p:sp>
      <p:sp>
        <p:nvSpPr>
          <p:cNvPr id="60" name="Text 58"/>
          <p:cNvSpPr/>
          <p:nvPr/>
        </p:nvSpPr>
        <p:spPr>
          <a:xfrm>
            <a:off x="7498080" y="4315968"/>
            <a:ext cx="1234440" cy="274320"/>
          </a:xfrm>
          <a:prstGeom prst="rect">
            <a:avLst/>
          </a:prstGeom>
          <a:noFill/>
          <a:ln/>
        </p:spPr>
        <p:txBody>
          <a:bodyPr wrap="square" rtlCol="0" anchor="ctr"/>
          <a:lstStyle/>
          <a:p>
            <a:pPr marL="0" indent="0" algn="ctr">
              <a:buNone/>
            </a:pPr>
            <a:r>
              <a:rPr lang="en-US" sz="1400" b="1" dirty="0">
                <a:solidFill>
                  <a:srgbClr val="3B1E8E"/>
                </a:solidFill>
                <a:latin typeface="Calibri" pitchFamily="34" charset="0"/>
                <a:ea typeface="Calibri" pitchFamily="34" charset="-122"/>
                <a:cs typeface="Calibri" pitchFamily="34" charset="-120"/>
              </a:rPr>
              <a:t>0.8809</a:t>
            </a:r>
            <a:endParaRPr lang="en-US" sz="1400" dirty="0"/>
          </a:p>
        </p:txBody>
      </p:sp>
      <p:sp>
        <p:nvSpPr>
          <p:cNvPr id="61" name="Text 59"/>
          <p:cNvSpPr/>
          <p:nvPr/>
        </p:nvSpPr>
        <p:spPr>
          <a:xfrm>
            <a:off x="768096" y="4636008"/>
            <a:ext cx="7973568" cy="274320"/>
          </a:xfrm>
          <a:prstGeom prst="rect">
            <a:avLst/>
          </a:prstGeom>
          <a:noFill/>
          <a:ln/>
        </p:spPr>
        <p:txBody>
          <a:bodyPr wrap="square" rtlCol="0" anchor="ctr"/>
          <a:lstStyle/>
          <a:p>
            <a:pPr marL="0" indent="0">
              <a:buNone/>
            </a:pPr>
            <a:r>
              <a:rPr lang="en-US" sz="900" dirty="0">
                <a:solidFill>
                  <a:srgbClr val="4B5563"/>
                </a:solidFill>
                <a:latin typeface="Segoe UI" panose="020B0502040204020203" pitchFamily="34" charset="0"/>
                <a:ea typeface="Calibri" pitchFamily="34" charset="-122"/>
                <a:cs typeface="Segoe UI" panose="020B0502040204020203" pitchFamily="34" charset="0"/>
              </a:rPr>
              <a:t>Best across all 4 metrics. CV R² of 0.8809 — excellent. Clear winner. Advances to GridSearchCV tuning.</a:t>
            </a:r>
            <a:endParaRPr lang="en-US" sz="900" dirty="0">
              <a:solidFill>
                <a:srgbClr val="4B5563"/>
              </a:solidFill>
              <a:latin typeface="Segoe UI" panose="020B0502040204020203" pitchFamily="34" charset="0"/>
              <a:cs typeface="Segoe UI" panose="020B0502040204020203" pitchFamily="34" charset="0"/>
            </a:endParaRPr>
          </a:p>
        </p:txBody>
      </p:sp>
      <p:sp>
        <p:nvSpPr>
          <p:cNvPr id="62" name="Shape 60"/>
          <p:cNvSpPr/>
          <p:nvPr/>
        </p:nvSpPr>
        <p:spPr>
          <a:xfrm>
            <a:off x="914400" y="914400"/>
            <a:ext cx="914400" cy="914400"/>
          </a:xfrm>
          <a:prstGeom prst="line">
            <a:avLst/>
          </a:prstGeom>
          <a:noFill/>
          <a:ln/>
        </p:spPr>
        <p:txBody>
          <a:bodyPr/>
          <a:lstStyle/>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595360"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Hyperparameter Tuning — GridSearchCV</a:t>
            </a:r>
            <a:endParaRPr lang="en-US" sz="2800" dirty="0">
              <a:latin typeface="Bahnschrift" panose="020B0502040204020203" pitchFamily="34" charset="0"/>
            </a:endParaRPr>
          </a:p>
        </p:txBody>
      </p:sp>
      <p:sp>
        <p:nvSpPr>
          <p:cNvPr id="5" name="Shape 3"/>
          <p:cNvSpPr/>
          <p:nvPr/>
        </p:nvSpPr>
        <p:spPr>
          <a:xfrm>
            <a:off x="237744" y="713232"/>
            <a:ext cx="2048256" cy="1188720"/>
          </a:xfrm>
          <a:prstGeom prst="roundRect">
            <a:avLst>
              <a:gd name="adj" fmla="val 6154"/>
            </a:avLst>
          </a:prstGeom>
          <a:solidFill>
            <a:srgbClr val="EDE9FC"/>
          </a:solidFill>
          <a:ln w="1905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6" name="Text 4"/>
          <p:cNvSpPr/>
          <p:nvPr/>
        </p:nvSpPr>
        <p:spPr>
          <a:xfrm>
            <a:off x="274320" y="768096"/>
            <a:ext cx="2011680" cy="219456"/>
          </a:xfrm>
          <a:prstGeom prst="rect">
            <a:avLst/>
          </a:prstGeom>
          <a:noFill/>
          <a:ln/>
        </p:spPr>
        <p:txBody>
          <a:bodyPr wrap="square" rtlCol="0" anchor="ctr"/>
          <a:lstStyle/>
          <a:p>
            <a:pPr marL="0" indent="0" algn="ctr">
              <a:buNone/>
            </a:pPr>
            <a:r>
              <a:rPr lang="en-US" sz="1000" i="1" dirty="0">
                <a:solidFill>
                  <a:srgbClr val="4B5563"/>
                </a:solidFill>
                <a:latin typeface="Segoe UI" panose="020B0502040204020203" pitchFamily="34" charset="0"/>
                <a:ea typeface="Calibri" pitchFamily="34" charset="-122"/>
                <a:cs typeface="Segoe UI" panose="020B0502040204020203" pitchFamily="34" charset="0"/>
              </a:rPr>
              <a:t>learning_rate</a:t>
            </a:r>
            <a:endParaRPr lang="en-US" sz="1000" dirty="0">
              <a:solidFill>
                <a:srgbClr val="4B5563"/>
              </a:solidFill>
              <a:latin typeface="Segoe UI" panose="020B0502040204020203" pitchFamily="34" charset="0"/>
              <a:cs typeface="Segoe UI" panose="020B0502040204020203" pitchFamily="34" charset="0"/>
            </a:endParaRPr>
          </a:p>
        </p:txBody>
      </p:sp>
      <p:sp>
        <p:nvSpPr>
          <p:cNvPr id="7" name="Text 5"/>
          <p:cNvSpPr/>
          <p:nvPr/>
        </p:nvSpPr>
        <p:spPr>
          <a:xfrm>
            <a:off x="274320" y="969264"/>
            <a:ext cx="2011680" cy="502920"/>
          </a:xfrm>
          <a:prstGeom prst="rect">
            <a:avLst/>
          </a:prstGeom>
          <a:noFill/>
          <a:ln/>
        </p:spPr>
        <p:txBody>
          <a:bodyPr wrap="square" rtlCol="0" anchor="ctr"/>
          <a:lstStyle/>
          <a:p>
            <a:pPr marL="0" indent="0" algn="ctr">
              <a:buNone/>
            </a:pPr>
            <a:r>
              <a:rPr lang="en-US" sz="2000" b="1" dirty="0">
                <a:solidFill>
                  <a:srgbClr val="5C33BE"/>
                </a:solidFill>
                <a:latin typeface="Segoe UI" panose="020B0502040204020203" pitchFamily="34" charset="0"/>
                <a:ea typeface="Calibri" pitchFamily="34" charset="-122"/>
                <a:cs typeface="Segoe UI" panose="020B0502040204020203" pitchFamily="34" charset="0"/>
              </a:rPr>
              <a:t>0.2</a:t>
            </a:r>
            <a:endParaRPr lang="en-US" sz="2000" dirty="0">
              <a:latin typeface="Segoe UI" panose="020B0502040204020203" pitchFamily="34" charset="0"/>
              <a:cs typeface="Segoe UI" panose="020B0502040204020203" pitchFamily="34" charset="0"/>
            </a:endParaRPr>
          </a:p>
        </p:txBody>
      </p:sp>
      <p:sp>
        <p:nvSpPr>
          <p:cNvPr id="8" name="Text 6"/>
          <p:cNvSpPr/>
          <p:nvPr/>
        </p:nvSpPr>
        <p:spPr>
          <a:xfrm>
            <a:off x="274320" y="1463040"/>
            <a:ext cx="2011680" cy="347472"/>
          </a:xfrm>
          <a:prstGeom prst="rect">
            <a:avLst/>
          </a:prstGeom>
          <a:noFill/>
          <a:ln/>
        </p:spPr>
        <p:txBody>
          <a:bodyPr wrap="square" rtlCol="0" anchor="ctr"/>
          <a:lstStyle/>
          <a:p>
            <a:pPr marL="0" indent="0" algn="ctr">
              <a:buNone/>
            </a:pPr>
            <a:r>
              <a:rPr lang="en-US" sz="1100" dirty="0">
                <a:solidFill>
                  <a:srgbClr val="4B5563"/>
                </a:solidFill>
                <a:latin typeface="Segoe UI" panose="020B0502040204020203" pitchFamily="34" charset="0"/>
                <a:ea typeface="Calibri" pitchFamily="34" charset="-122"/>
                <a:cs typeface="Segoe UI" panose="020B0502040204020203" pitchFamily="34" charset="0"/>
              </a:rPr>
              <a:t>Paced gradient step</a:t>
            </a:r>
            <a:endParaRPr lang="en-US" sz="1100" dirty="0">
              <a:latin typeface="Segoe UI" panose="020B0502040204020203" pitchFamily="34" charset="0"/>
              <a:cs typeface="Segoe UI" panose="020B0502040204020203" pitchFamily="34" charset="0"/>
            </a:endParaRPr>
          </a:p>
        </p:txBody>
      </p:sp>
      <p:sp>
        <p:nvSpPr>
          <p:cNvPr id="9" name="Shape 7"/>
          <p:cNvSpPr/>
          <p:nvPr/>
        </p:nvSpPr>
        <p:spPr>
          <a:xfrm>
            <a:off x="2487168" y="713232"/>
            <a:ext cx="2011680" cy="1188720"/>
          </a:xfrm>
          <a:prstGeom prst="roundRect">
            <a:avLst>
              <a:gd name="adj" fmla="val 6154"/>
            </a:avLst>
          </a:prstGeom>
          <a:solidFill>
            <a:srgbClr val="EDE9FC"/>
          </a:solidFill>
          <a:ln w="1905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0" name="Text 8"/>
          <p:cNvSpPr/>
          <p:nvPr/>
        </p:nvSpPr>
        <p:spPr>
          <a:xfrm>
            <a:off x="2487168" y="768096"/>
            <a:ext cx="2011680" cy="219456"/>
          </a:xfrm>
          <a:prstGeom prst="rect">
            <a:avLst/>
          </a:prstGeom>
          <a:noFill/>
          <a:ln/>
        </p:spPr>
        <p:txBody>
          <a:bodyPr wrap="square" rtlCol="0" anchor="ctr"/>
          <a:lstStyle/>
          <a:p>
            <a:pPr algn="ctr"/>
            <a:r>
              <a:rPr lang="en-US" sz="1000" i="1" dirty="0">
                <a:solidFill>
                  <a:srgbClr val="4B5563"/>
                </a:solidFill>
                <a:latin typeface="Segoe UI" panose="020B0502040204020203" pitchFamily="34" charset="0"/>
                <a:ea typeface="Calibri" pitchFamily="34" charset="-122"/>
                <a:cs typeface="Segoe UI" panose="020B0502040204020203" pitchFamily="34" charset="0"/>
              </a:rPr>
              <a:t>max_depth</a:t>
            </a:r>
          </a:p>
        </p:txBody>
      </p:sp>
      <p:sp>
        <p:nvSpPr>
          <p:cNvPr id="11" name="Text 9"/>
          <p:cNvSpPr/>
          <p:nvPr/>
        </p:nvSpPr>
        <p:spPr>
          <a:xfrm>
            <a:off x="2487168" y="969264"/>
            <a:ext cx="2011680" cy="502920"/>
          </a:xfrm>
          <a:prstGeom prst="rect">
            <a:avLst/>
          </a:prstGeom>
          <a:noFill/>
          <a:ln/>
        </p:spPr>
        <p:txBody>
          <a:bodyPr wrap="square" rtlCol="0" anchor="ctr"/>
          <a:lstStyle/>
          <a:p>
            <a:pPr marL="0" indent="0" algn="ctr">
              <a:buNone/>
            </a:pPr>
            <a:r>
              <a:rPr lang="en-US" sz="2000" b="1" dirty="0">
                <a:solidFill>
                  <a:srgbClr val="5C33BE"/>
                </a:solidFill>
                <a:latin typeface="Segoe UI" panose="020B0502040204020203" pitchFamily="34" charset="0"/>
                <a:ea typeface="Calibri" pitchFamily="34" charset="-122"/>
                <a:cs typeface="Segoe UI" panose="020B0502040204020203" pitchFamily="34" charset="0"/>
              </a:rPr>
              <a:t>3</a:t>
            </a:r>
            <a:endParaRPr lang="en-US" sz="2000" dirty="0">
              <a:latin typeface="Segoe UI" panose="020B0502040204020203" pitchFamily="34" charset="0"/>
              <a:cs typeface="Segoe UI" panose="020B0502040204020203" pitchFamily="34" charset="0"/>
            </a:endParaRPr>
          </a:p>
        </p:txBody>
      </p:sp>
      <p:sp>
        <p:nvSpPr>
          <p:cNvPr id="12" name="Text 10"/>
          <p:cNvSpPr/>
          <p:nvPr/>
        </p:nvSpPr>
        <p:spPr>
          <a:xfrm>
            <a:off x="2487168" y="1463040"/>
            <a:ext cx="2011680" cy="347472"/>
          </a:xfrm>
          <a:prstGeom prst="rect">
            <a:avLst/>
          </a:prstGeom>
          <a:noFill/>
          <a:ln/>
        </p:spPr>
        <p:txBody>
          <a:bodyPr wrap="square" rtlCol="0" anchor="ctr"/>
          <a:lstStyle/>
          <a:p>
            <a:pPr algn="ctr"/>
            <a:r>
              <a:rPr lang="en-US" sz="1100" dirty="0">
                <a:solidFill>
                  <a:srgbClr val="4B5563"/>
                </a:solidFill>
                <a:latin typeface="Segoe UI" panose="020B0502040204020203" pitchFamily="34" charset="0"/>
                <a:ea typeface="Calibri" pitchFamily="34" charset="-122"/>
                <a:cs typeface="Segoe UI" panose="020B0502040204020203" pitchFamily="34" charset="0"/>
              </a:rPr>
              <a:t>Controlled tree depth</a:t>
            </a:r>
          </a:p>
        </p:txBody>
      </p:sp>
      <p:sp>
        <p:nvSpPr>
          <p:cNvPr id="13" name="Shape 11"/>
          <p:cNvSpPr/>
          <p:nvPr/>
        </p:nvSpPr>
        <p:spPr>
          <a:xfrm>
            <a:off x="4700016" y="713232"/>
            <a:ext cx="2011680" cy="1188720"/>
          </a:xfrm>
          <a:prstGeom prst="roundRect">
            <a:avLst>
              <a:gd name="adj" fmla="val 6154"/>
            </a:avLst>
          </a:prstGeom>
          <a:solidFill>
            <a:srgbClr val="EDE9FC"/>
          </a:solidFill>
          <a:ln w="1905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4" name="Text 12"/>
          <p:cNvSpPr/>
          <p:nvPr/>
        </p:nvSpPr>
        <p:spPr>
          <a:xfrm>
            <a:off x="4700016" y="768096"/>
            <a:ext cx="2011680" cy="219456"/>
          </a:xfrm>
          <a:prstGeom prst="rect">
            <a:avLst/>
          </a:prstGeom>
          <a:noFill/>
          <a:ln/>
        </p:spPr>
        <p:txBody>
          <a:bodyPr wrap="square" rtlCol="0" anchor="ctr"/>
          <a:lstStyle/>
          <a:p>
            <a:pPr indent="0" algn="ctr">
              <a:buNone/>
            </a:pPr>
            <a:r>
              <a:rPr lang="en-US" sz="1000" i="1" dirty="0">
                <a:solidFill>
                  <a:srgbClr val="4B5563"/>
                </a:solidFill>
                <a:latin typeface="Segoe UI" panose="020B0502040204020203" pitchFamily="34" charset="0"/>
                <a:ea typeface="Calibri" pitchFamily="34" charset="-122"/>
                <a:cs typeface="Segoe UI" panose="020B0502040204020203" pitchFamily="34" charset="0"/>
              </a:rPr>
              <a:t>n_estimators</a:t>
            </a:r>
          </a:p>
        </p:txBody>
      </p:sp>
      <p:sp>
        <p:nvSpPr>
          <p:cNvPr id="15" name="Text 13"/>
          <p:cNvSpPr/>
          <p:nvPr/>
        </p:nvSpPr>
        <p:spPr>
          <a:xfrm>
            <a:off x="4700016" y="969264"/>
            <a:ext cx="2011680" cy="502920"/>
          </a:xfrm>
          <a:prstGeom prst="rect">
            <a:avLst/>
          </a:prstGeom>
          <a:noFill/>
          <a:ln/>
        </p:spPr>
        <p:txBody>
          <a:bodyPr wrap="square" rtlCol="0" anchor="ctr"/>
          <a:lstStyle/>
          <a:p>
            <a:pPr marL="0" indent="0" algn="ctr">
              <a:buNone/>
            </a:pPr>
            <a:r>
              <a:rPr lang="en-US" sz="2000" b="1" dirty="0">
                <a:solidFill>
                  <a:srgbClr val="5C33BE"/>
                </a:solidFill>
                <a:latin typeface="Segoe UI" panose="020B0502040204020203" pitchFamily="34" charset="0"/>
                <a:ea typeface="Calibri" pitchFamily="34" charset="-122"/>
                <a:cs typeface="Segoe UI" panose="020B0502040204020203" pitchFamily="34" charset="0"/>
              </a:rPr>
              <a:t>200</a:t>
            </a:r>
            <a:endParaRPr lang="en-US" sz="2000" dirty="0">
              <a:latin typeface="Segoe UI" panose="020B0502040204020203" pitchFamily="34" charset="0"/>
              <a:cs typeface="Segoe UI" panose="020B0502040204020203" pitchFamily="34" charset="0"/>
            </a:endParaRPr>
          </a:p>
        </p:txBody>
      </p:sp>
      <p:sp>
        <p:nvSpPr>
          <p:cNvPr id="16" name="Text 14"/>
          <p:cNvSpPr/>
          <p:nvPr/>
        </p:nvSpPr>
        <p:spPr>
          <a:xfrm>
            <a:off x="4700016" y="1463040"/>
            <a:ext cx="2011680" cy="347472"/>
          </a:xfrm>
          <a:prstGeom prst="rect">
            <a:avLst/>
          </a:prstGeom>
          <a:noFill/>
          <a:ln/>
        </p:spPr>
        <p:txBody>
          <a:bodyPr wrap="square" rtlCol="0" anchor="ctr"/>
          <a:lstStyle/>
          <a:p>
            <a:pPr indent="0" algn="ctr">
              <a:buNone/>
            </a:pPr>
            <a:r>
              <a:rPr lang="en-US" sz="1100" dirty="0">
                <a:solidFill>
                  <a:srgbClr val="4B5563"/>
                </a:solidFill>
                <a:latin typeface="Segoe UI" panose="020B0502040204020203" pitchFamily="34" charset="0"/>
                <a:ea typeface="Calibri" pitchFamily="34" charset="-122"/>
                <a:cs typeface="Segoe UI" panose="020B0502040204020203" pitchFamily="34" charset="0"/>
              </a:rPr>
              <a:t>Boosting rounds</a:t>
            </a:r>
          </a:p>
        </p:txBody>
      </p:sp>
      <p:sp>
        <p:nvSpPr>
          <p:cNvPr id="17" name="Shape 15"/>
          <p:cNvSpPr/>
          <p:nvPr/>
        </p:nvSpPr>
        <p:spPr>
          <a:xfrm>
            <a:off x="6912864" y="713232"/>
            <a:ext cx="1956816" cy="1188720"/>
          </a:xfrm>
          <a:prstGeom prst="roundRect">
            <a:avLst>
              <a:gd name="adj" fmla="val 6154"/>
            </a:avLst>
          </a:prstGeom>
          <a:solidFill>
            <a:srgbClr val="EDE9FC"/>
          </a:solidFill>
          <a:ln w="1905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8" name="Text 16"/>
          <p:cNvSpPr/>
          <p:nvPr/>
        </p:nvSpPr>
        <p:spPr>
          <a:xfrm>
            <a:off x="6912864" y="768096"/>
            <a:ext cx="2011680" cy="219456"/>
          </a:xfrm>
          <a:prstGeom prst="rect">
            <a:avLst/>
          </a:prstGeom>
          <a:noFill/>
          <a:ln/>
        </p:spPr>
        <p:txBody>
          <a:bodyPr wrap="square" rtlCol="0" anchor="ctr"/>
          <a:lstStyle/>
          <a:p>
            <a:pPr algn="ctr"/>
            <a:r>
              <a:rPr lang="en-US" sz="1000" i="1" dirty="0">
                <a:solidFill>
                  <a:srgbClr val="4B5563"/>
                </a:solidFill>
                <a:latin typeface="Segoe UI" panose="020B0502040204020203" pitchFamily="34" charset="0"/>
                <a:ea typeface="Calibri" pitchFamily="34" charset="-122"/>
                <a:cs typeface="Segoe UI" panose="020B0502040204020203" pitchFamily="34" charset="0"/>
              </a:rPr>
              <a:t>subsample</a:t>
            </a:r>
          </a:p>
        </p:txBody>
      </p:sp>
      <p:sp>
        <p:nvSpPr>
          <p:cNvPr id="19" name="Text 17"/>
          <p:cNvSpPr/>
          <p:nvPr/>
        </p:nvSpPr>
        <p:spPr>
          <a:xfrm>
            <a:off x="6912864" y="969264"/>
            <a:ext cx="2011680" cy="502920"/>
          </a:xfrm>
          <a:prstGeom prst="rect">
            <a:avLst/>
          </a:prstGeom>
          <a:noFill/>
          <a:ln/>
        </p:spPr>
        <p:txBody>
          <a:bodyPr wrap="square" rtlCol="0" anchor="ctr"/>
          <a:lstStyle/>
          <a:p>
            <a:pPr marL="0" indent="0" algn="ctr">
              <a:buNone/>
            </a:pPr>
            <a:r>
              <a:rPr lang="en-US" sz="2000" b="1" dirty="0">
                <a:solidFill>
                  <a:srgbClr val="5C33BE"/>
                </a:solidFill>
                <a:latin typeface="Segoe UI" panose="020B0502040204020203" pitchFamily="34" charset="0"/>
                <a:ea typeface="Calibri" pitchFamily="34" charset="-122"/>
                <a:cs typeface="Segoe UI" panose="020B0502040204020203" pitchFamily="34" charset="0"/>
              </a:rPr>
              <a:t>0.8</a:t>
            </a:r>
            <a:endParaRPr lang="en-US" sz="2000" dirty="0">
              <a:latin typeface="Segoe UI" panose="020B0502040204020203" pitchFamily="34" charset="0"/>
              <a:cs typeface="Segoe UI" panose="020B0502040204020203" pitchFamily="34" charset="0"/>
            </a:endParaRPr>
          </a:p>
        </p:txBody>
      </p:sp>
      <p:sp>
        <p:nvSpPr>
          <p:cNvPr id="20" name="Text 18"/>
          <p:cNvSpPr/>
          <p:nvPr/>
        </p:nvSpPr>
        <p:spPr>
          <a:xfrm>
            <a:off x="6912864" y="1463040"/>
            <a:ext cx="2011680" cy="347472"/>
          </a:xfrm>
          <a:prstGeom prst="rect">
            <a:avLst/>
          </a:prstGeom>
          <a:noFill/>
          <a:ln/>
        </p:spPr>
        <p:txBody>
          <a:bodyPr wrap="square" rtlCol="0" anchor="ctr"/>
          <a:lstStyle/>
          <a:p>
            <a:pPr algn="ctr"/>
            <a:r>
              <a:rPr lang="en-US" sz="1100" dirty="0">
                <a:solidFill>
                  <a:srgbClr val="4B5563"/>
                </a:solidFill>
                <a:latin typeface="Segoe UI" panose="020B0502040204020203" pitchFamily="34" charset="0"/>
                <a:ea typeface="Calibri" pitchFamily="34" charset="-122"/>
                <a:cs typeface="Segoe UI" panose="020B0502040204020203" pitchFamily="34" charset="0"/>
              </a:rPr>
              <a:t>Row sampling per tree</a:t>
            </a:r>
          </a:p>
        </p:txBody>
      </p:sp>
      <p:sp>
        <p:nvSpPr>
          <p:cNvPr id="21" name="Shape 19"/>
          <p:cNvSpPr/>
          <p:nvPr/>
        </p:nvSpPr>
        <p:spPr>
          <a:xfrm>
            <a:off x="237744" y="2039991"/>
            <a:ext cx="4114800" cy="2596896"/>
          </a:xfrm>
          <a:prstGeom prst="roundRect">
            <a:avLst>
              <a:gd name="adj" fmla="val 2817"/>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22" name="Text 20"/>
          <p:cNvSpPr/>
          <p:nvPr/>
        </p:nvSpPr>
        <p:spPr>
          <a:xfrm>
            <a:off x="384048" y="2086239"/>
            <a:ext cx="3895344" cy="237744"/>
          </a:xfrm>
          <a:prstGeom prst="rect">
            <a:avLst/>
          </a:prstGeom>
          <a:noFill/>
          <a:ln/>
        </p:spPr>
        <p:txBody>
          <a:bodyPr wrap="square" rtlCol="0" anchor="ctr"/>
          <a:lstStyle/>
          <a:p>
            <a:pPr marL="0" indent="0">
              <a:buNone/>
            </a:pPr>
            <a:r>
              <a:rPr lang="en-US" sz="1100" b="1" dirty="0">
                <a:solidFill>
                  <a:srgbClr val="1E1B4B"/>
                </a:solidFill>
                <a:latin typeface="Calibri" pitchFamily="34" charset="0"/>
                <a:ea typeface="Calibri" pitchFamily="34" charset="-122"/>
                <a:cs typeface="Calibri" pitchFamily="34" charset="-120"/>
              </a:rPr>
              <a:t>Search Configuration</a:t>
            </a:r>
            <a:endParaRPr lang="en-US" sz="1100" dirty="0"/>
          </a:p>
        </p:txBody>
      </p:sp>
      <p:sp>
        <p:nvSpPr>
          <p:cNvPr id="23" name="Text 21"/>
          <p:cNvSpPr/>
          <p:nvPr/>
        </p:nvSpPr>
        <p:spPr>
          <a:xfrm>
            <a:off x="384048" y="2406279"/>
            <a:ext cx="1371600" cy="274320"/>
          </a:xfrm>
          <a:prstGeom prst="rect">
            <a:avLst/>
          </a:prstGeom>
          <a:noFill/>
          <a:ln/>
        </p:spPr>
        <p:txBody>
          <a:bodyPr wrap="square" rtlCol="0" anchor="ctr"/>
          <a:lstStyle/>
          <a:p>
            <a:pPr marL="0" indent="0">
              <a:buNone/>
            </a:pPr>
            <a:r>
              <a:rPr lang="en-US" sz="900" b="1" dirty="0">
                <a:solidFill>
                  <a:srgbClr val="4B5563"/>
                </a:solidFill>
                <a:latin typeface="Calibri" pitchFamily="34" charset="0"/>
                <a:ea typeface="Calibri" pitchFamily="34" charset="-122"/>
                <a:cs typeface="Calibri" pitchFamily="34" charset="-120"/>
              </a:rPr>
              <a:t>Method:</a:t>
            </a:r>
            <a:endParaRPr lang="en-US" sz="900" dirty="0"/>
          </a:p>
        </p:txBody>
      </p:sp>
      <p:sp>
        <p:nvSpPr>
          <p:cNvPr id="24" name="Text 22"/>
          <p:cNvSpPr/>
          <p:nvPr/>
        </p:nvSpPr>
        <p:spPr>
          <a:xfrm>
            <a:off x="1042416" y="2419556"/>
            <a:ext cx="2505456" cy="274320"/>
          </a:xfrm>
          <a:prstGeom prst="rect">
            <a:avLst/>
          </a:prstGeom>
          <a:noFill/>
          <a:ln/>
        </p:spPr>
        <p:txBody>
          <a:bodyPr wrap="square" rtlCol="0" anchor="ctr"/>
          <a:lstStyle/>
          <a:p>
            <a:pPr marL="0" indent="0">
              <a:buNone/>
            </a:pPr>
            <a:r>
              <a:rPr lang="en-US" sz="900" dirty="0">
                <a:solidFill>
                  <a:srgbClr val="1E1B4B"/>
                </a:solidFill>
                <a:latin typeface="Calibri" pitchFamily="34" charset="0"/>
                <a:ea typeface="Calibri" pitchFamily="34" charset="-122"/>
                <a:cs typeface="Calibri" pitchFamily="34" charset="-120"/>
              </a:rPr>
              <a:t>GridSearchCV — exhaustive grid</a:t>
            </a:r>
            <a:endParaRPr lang="en-US" sz="900" dirty="0"/>
          </a:p>
        </p:txBody>
      </p:sp>
      <p:sp>
        <p:nvSpPr>
          <p:cNvPr id="25" name="Text 23"/>
          <p:cNvSpPr/>
          <p:nvPr/>
        </p:nvSpPr>
        <p:spPr>
          <a:xfrm>
            <a:off x="384048" y="2724912"/>
            <a:ext cx="1371600" cy="274320"/>
          </a:xfrm>
          <a:prstGeom prst="rect">
            <a:avLst/>
          </a:prstGeom>
          <a:noFill/>
          <a:ln/>
        </p:spPr>
        <p:txBody>
          <a:bodyPr wrap="square" rtlCol="0" anchor="ctr"/>
          <a:lstStyle/>
          <a:p>
            <a:pPr marL="0" indent="0">
              <a:buNone/>
            </a:pPr>
            <a:r>
              <a:rPr lang="en-US" sz="900" b="1" dirty="0">
                <a:solidFill>
                  <a:srgbClr val="4B5563"/>
                </a:solidFill>
                <a:latin typeface="Calibri" pitchFamily="34" charset="0"/>
                <a:ea typeface="Calibri" pitchFamily="34" charset="-122"/>
                <a:cs typeface="Calibri" pitchFamily="34" charset="-120"/>
              </a:rPr>
              <a:t>Grid:</a:t>
            </a:r>
            <a:endParaRPr lang="en-US" sz="900" dirty="0"/>
          </a:p>
        </p:txBody>
      </p:sp>
      <p:sp>
        <p:nvSpPr>
          <p:cNvPr id="26" name="Text 24"/>
          <p:cNvSpPr/>
          <p:nvPr/>
        </p:nvSpPr>
        <p:spPr>
          <a:xfrm>
            <a:off x="1069848" y="2724912"/>
            <a:ext cx="2505456" cy="274320"/>
          </a:xfrm>
          <a:prstGeom prst="rect">
            <a:avLst/>
          </a:prstGeom>
          <a:noFill/>
          <a:ln/>
        </p:spPr>
        <p:txBody>
          <a:bodyPr wrap="square" rtlCol="0" anchor="ctr"/>
          <a:lstStyle/>
          <a:p>
            <a:pPr marL="0" indent="0">
              <a:buNone/>
            </a:pPr>
            <a:r>
              <a:rPr lang="en-US" sz="900" dirty="0">
                <a:solidFill>
                  <a:srgbClr val="1E1B4B"/>
                </a:solidFill>
                <a:latin typeface="Calibri" pitchFamily="34" charset="0"/>
                <a:ea typeface="Calibri" pitchFamily="34" charset="-122"/>
                <a:cs typeface="Calibri" pitchFamily="34" charset="-120"/>
              </a:rPr>
              <a:t>n_estimators [100,200,300]</a:t>
            </a:r>
            <a:endParaRPr lang="en-US" sz="900" dirty="0"/>
          </a:p>
        </p:txBody>
      </p:sp>
      <p:sp>
        <p:nvSpPr>
          <p:cNvPr id="27" name="Text 25"/>
          <p:cNvSpPr/>
          <p:nvPr/>
        </p:nvSpPr>
        <p:spPr>
          <a:xfrm>
            <a:off x="1069848" y="2929069"/>
            <a:ext cx="3438144" cy="274320"/>
          </a:xfrm>
          <a:prstGeom prst="rect">
            <a:avLst/>
          </a:prstGeom>
          <a:noFill/>
          <a:ln/>
        </p:spPr>
        <p:txBody>
          <a:bodyPr wrap="square" rtlCol="0" anchor="ctr"/>
          <a:lstStyle/>
          <a:p>
            <a:pPr marL="0" indent="0">
              <a:buNone/>
            </a:pPr>
            <a:r>
              <a:rPr lang="en-US" sz="900" dirty="0">
                <a:solidFill>
                  <a:srgbClr val="1E1B4B"/>
                </a:solidFill>
                <a:latin typeface="Calibri" pitchFamily="34" charset="0"/>
                <a:ea typeface="Calibri" pitchFamily="34" charset="-122"/>
                <a:cs typeface="Calibri" pitchFamily="34" charset="-120"/>
              </a:rPr>
              <a:t>max_depth [2, 3, 4, 5, 7]</a:t>
            </a:r>
            <a:endParaRPr lang="en-US" sz="900" dirty="0"/>
          </a:p>
        </p:txBody>
      </p:sp>
      <p:sp>
        <p:nvSpPr>
          <p:cNvPr id="28" name="Text 26"/>
          <p:cNvSpPr/>
          <p:nvPr/>
        </p:nvSpPr>
        <p:spPr>
          <a:xfrm>
            <a:off x="1060704" y="3200400"/>
            <a:ext cx="3438144" cy="274320"/>
          </a:xfrm>
          <a:prstGeom prst="rect">
            <a:avLst/>
          </a:prstGeom>
          <a:noFill/>
          <a:ln/>
        </p:spPr>
        <p:txBody>
          <a:bodyPr wrap="square" rtlCol="0" anchor="ctr"/>
          <a:lstStyle/>
          <a:p>
            <a:pPr marL="0" indent="0">
              <a:buNone/>
            </a:pPr>
            <a:r>
              <a:rPr lang="en-US" sz="900" dirty="0">
                <a:solidFill>
                  <a:srgbClr val="1E1B4B"/>
                </a:solidFill>
                <a:latin typeface="Calibri" pitchFamily="34" charset="0"/>
                <a:ea typeface="Calibri" pitchFamily="34" charset="-122"/>
                <a:cs typeface="Calibri" pitchFamily="34" charset="-120"/>
              </a:rPr>
              <a:t>learning_rate [0.01, 0.1, 0.2, 0.3]</a:t>
            </a:r>
            <a:endParaRPr lang="en-US" sz="900" dirty="0"/>
          </a:p>
        </p:txBody>
      </p:sp>
      <p:sp>
        <p:nvSpPr>
          <p:cNvPr id="29" name="Text 27"/>
          <p:cNvSpPr/>
          <p:nvPr/>
        </p:nvSpPr>
        <p:spPr>
          <a:xfrm>
            <a:off x="1069848" y="3453003"/>
            <a:ext cx="3438144" cy="274320"/>
          </a:xfrm>
          <a:prstGeom prst="rect">
            <a:avLst/>
          </a:prstGeom>
          <a:noFill/>
          <a:ln/>
        </p:spPr>
        <p:txBody>
          <a:bodyPr wrap="square" rtlCol="0" anchor="ctr"/>
          <a:lstStyle/>
          <a:p>
            <a:pPr marL="0" indent="0">
              <a:buNone/>
            </a:pPr>
            <a:r>
              <a:rPr lang="en-US" sz="900" dirty="0">
                <a:solidFill>
                  <a:srgbClr val="1E1B4B"/>
                </a:solidFill>
                <a:latin typeface="Calibri" pitchFamily="34" charset="0"/>
                <a:ea typeface="Calibri" pitchFamily="34" charset="-122"/>
                <a:cs typeface="Calibri" pitchFamily="34" charset="-120"/>
              </a:rPr>
              <a:t>subsample [0.7, 0.8, 1.0]</a:t>
            </a:r>
            <a:endParaRPr lang="en-US" sz="900" dirty="0"/>
          </a:p>
        </p:txBody>
      </p:sp>
      <p:sp>
        <p:nvSpPr>
          <p:cNvPr id="30" name="Text 28"/>
          <p:cNvSpPr/>
          <p:nvPr/>
        </p:nvSpPr>
        <p:spPr>
          <a:xfrm>
            <a:off x="329184" y="3706309"/>
            <a:ext cx="1371600" cy="274320"/>
          </a:xfrm>
          <a:prstGeom prst="rect">
            <a:avLst/>
          </a:prstGeom>
          <a:noFill/>
          <a:ln/>
        </p:spPr>
        <p:txBody>
          <a:bodyPr wrap="square" rtlCol="0" anchor="ctr"/>
          <a:lstStyle/>
          <a:p>
            <a:pPr marL="0" indent="0">
              <a:buNone/>
            </a:pPr>
            <a:r>
              <a:rPr lang="en-US" sz="900" b="1" dirty="0">
                <a:solidFill>
                  <a:srgbClr val="4B5563"/>
                </a:solidFill>
                <a:latin typeface="Calibri" pitchFamily="34" charset="0"/>
                <a:ea typeface="Calibri" pitchFamily="34" charset="-122"/>
                <a:cs typeface="Calibri" pitchFamily="34" charset="-120"/>
              </a:rPr>
              <a:t>Total Fits:</a:t>
            </a:r>
            <a:endParaRPr lang="en-US" sz="900" dirty="0"/>
          </a:p>
        </p:txBody>
      </p:sp>
      <p:sp>
        <p:nvSpPr>
          <p:cNvPr id="31" name="Text 29"/>
          <p:cNvSpPr/>
          <p:nvPr/>
        </p:nvSpPr>
        <p:spPr>
          <a:xfrm>
            <a:off x="1078992" y="3707716"/>
            <a:ext cx="2505456" cy="274320"/>
          </a:xfrm>
          <a:prstGeom prst="rect">
            <a:avLst/>
          </a:prstGeom>
          <a:noFill/>
          <a:ln/>
        </p:spPr>
        <p:txBody>
          <a:bodyPr wrap="square" rtlCol="0" anchor="ctr"/>
          <a:lstStyle/>
          <a:p>
            <a:pPr marL="0" indent="0">
              <a:buNone/>
            </a:pPr>
            <a:r>
              <a:rPr lang="en-US" sz="900" dirty="0">
                <a:solidFill>
                  <a:srgbClr val="1E1B4B"/>
                </a:solidFill>
                <a:latin typeface="Calibri" pitchFamily="34" charset="0"/>
                <a:ea typeface="Calibri" pitchFamily="34" charset="-122"/>
                <a:cs typeface="Calibri" pitchFamily="34" charset="-120"/>
              </a:rPr>
              <a:t>180 combos × 5 folds = 900</a:t>
            </a:r>
            <a:endParaRPr lang="en-US" sz="900" dirty="0"/>
          </a:p>
        </p:txBody>
      </p:sp>
      <p:sp>
        <p:nvSpPr>
          <p:cNvPr id="32" name="Text 30"/>
          <p:cNvSpPr/>
          <p:nvPr/>
        </p:nvSpPr>
        <p:spPr>
          <a:xfrm>
            <a:off x="356616" y="4000324"/>
            <a:ext cx="1371600" cy="274320"/>
          </a:xfrm>
          <a:prstGeom prst="rect">
            <a:avLst/>
          </a:prstGeom>
          <a:noFill/>
          <a:ln/>
        </p:spPr>
        <p:txBody>
          <a:bodyPr wrap="square" rtlCol="0" anchor="ctr"/>
          <a:lstStyle/>
          <a:p>
            <a:pPr marL="0" indent="0">
              <a:buNone/>
            </a:pPr>
            <a:r>
              <a:rPr lang="en-US" sz="900" b="1" dirty="0">
                <a:solidFill>
                  <a:srgbClr val="4B5563"/>
                </a:solidFill>
                <a:latin typeface="Calibri" pitchFamily="34" charset="0"/>
                <a:ea typeface="Calibri" pitchFamily="34" charset="-122"/>
                <a:cs typeface="Calibri" pitchFamily="34" charset="-120"/>
              </a:rPr>
              <a:t>Scoring:</a:t>
            </a:r>
            <a:endParaRPr lang="en-US" sz="900" dirty="0"/>
          </a:p>
        </p:txBody>
      </p:sp>
      <p:sp>
        <p:nvSpPr>
          <p:cNvPr id="33" name="Text 31"/>
          <p:cNvSpPr/>
          <p:nvPr/>
        </p:nvSpPr>
        <p:spPr>
          <a:xfrm>
            <a:off x="1078992" y="3997599"/>
            <a:ext cx="2505456" cy="274320"/>
          </a:xfrm>
          <a:prstGeom prst="rect">
            <a:avLst/>
          </a:prstGeom>
          <a:noFill/>
          <a:ln/>
        </p:spPr>
        <p:txBody>
          <a:bodyPr wrap="square" rtlCol="0" anchor="ctr"/>
          <a:lstStyle/>
          <a:p>
            <a:pPr marL="0" indent="0">
              <a:buNone/>
            </a:pPr>
            <a:r>
              <a:rPr lang="en-US" sz="900" dirty="0">
                <a:solidFill>
                  <a:srgbClr val="1E1B4B"/>
                </a:solidFill>
                <a:latin typeface="Calibri" pitchFamily="34" charset="0"/>
                <a:ea typeface="Calibri" pitchFamily="34" charset="-122"/>
                <a:cs typeface="Calibri" pitchFamily="34" charset="-120"/>
              </a:rPr>
              <a:t>R² (coefficient of determination)</a:t>
            </a:r>
            <a:endParaRPr lang="en-US" sz="900" dirty="0"/>
          </a:p>
        </p:txBody>
      </p:sp>
      <p:sp>
        <p:nvSpPr>
          <p:cNvPr id="34" name="Text 32"/>
          <p:cNvSpPr/>
          <p:nvPr/>
        </p:nvSpPr>
        <p:spPr>
          <a:xfrm>
            <a:off x="365760" y="4329421"/>
            <a:ext cx="1371600" cy="274320"/>
          </a:xfrm>
          <a:prstGeom prst="rect">
            <a:avLst/>
          </a:prstGeom>
          <a:noFill/>
          <a:ln/>
        </p:spPr>
        <p:txBody>
          <a:bodyPr wrap="square" rtlCol="0" anchor="ctr"/>
          <a:lstStyle/>
          <a:p>
            <a:pPr marL="0" indent="0">
              <a:buNone/>
            </a:pPr>
            <a:r>
              <a:rPr lang="en-US" sz="900" b="1" dirty="0">
                <a:solidFill>
                  <a:srgbClr val="4B5563"/>
                </a:solidFill>
                <a:latin typeface="Calibri" pitchFamily="34" charset="0"/>
                <a:ea typeface="Calibri" pitchFamily="34" charset="-122"/>
                <a:cs typeface="Calibri" pitchFamily="34" charset="-120"/>
              </a:rPr>
              <a:t>Parallel:</a:t>
            </a:r>
            <a:endParaRPr lang="en-US" sz="900" dirty="0"/>
          </a:p>
        </p:txBody>
      </p:sp>
      <p:sp>
        <p:nvSpPr>
          <p:cNvPr id="35" name="Text 33"/>
          <p:cNvSpPr/>
          <p:nvPr/>
        </p:nvSpPr>
        <p:spPr>
          <a:xfrm>
            <a:off x="1069848" y="4305770"/>
            <a:ext cx="2505456" cy="274320"/>
          </a:xfrm>
          <a:prstGeom prst="rect">
            <a:avLst/>
          </a:prstGeom>
          <a:noFill/>
          <a:ln/>
        </p:spPr>
        <p:txBody>
          <a:bodyPr wrap="square" rtlCol="0" anchor="ctr"/>
          <a:lstStyle/>
          <a:p>
            <a:pPr marL="0" indent="0">
              <a:buNone/>
            </a:pPr>
            <a:r>
              <a:rPr lang="en-US" sz="900" dirty="0">
                <a:solidFill>
                  <a:srgbClr val="1E1B4B"/>
                </a:solidFill>
                <a:latin typeface="Calibri" pitchFamily="34" charset="0"/>
                <a:ea typeface="Calibri" pitchFamily="34" charset="-122"/>
                <a:cs typeface="Calibri" pitchFamily="34" charset="-120"/>
              </a:rPr>
              <a:t>n_jobs=−1  (all CPU cores)</a:t>
            </a:r>
            <a:endParaRPr lang="en-US" sz="900" dirty="0"/>
          </a:p>
        </p:txBody>
      </p:sp>
      <p:sp>
        <p:nvSpPr>
          <p:cNvPr id="36" name="Shape 34"/>
          <p:cNvSpPr/>
          <p:nvPr/>
        </p:nvSpPr>
        <p:spPr>
          <a:xfrm>
            <a:off x="4572000" y="2048256"/>
            <a:ext cx="4297680" cy="2596896"/>
          </a:xfrm>
          <a:prstGeom prst="roundRect">
            <a:avLst>
              <a:gd name="adj" fmla="val 2817"/>
            </a:avLst>
          </a:prstGeom>
          <a:solidFill>
            <a:srgbClr val="EDE9FC"/>
          </a:solidFill>
          <a:ln w="254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37" name="Text 35"/>
          <p:cNvSpPr/>
          <p:nvPr/>
        </p:nvSpPr>
        <p:spPr>
          <a:xfrm>
            <a:off x="4681728" y="2121408"/>
            <a:ext cx="4078224" cy="237744"/>
          </a:xfrm>
          <a:prstGeom prst="rect">
            <a:avLst/>
          </a:prstGeom>
          <a:noFill/>
          <a:ln/>
        </p:spPr>
        <p:txBody>
          <a:bodyPr wrap="square" rtlCol="0" anchor="ctr"/>
          <a:lstStyle/>
          <a:p>
            <a:pPr marL="0" indent="0">
              <a:buNone/>
            </a:pPr>
            <a:r>
              <a:rPr lang="en-US" sz="1100" b="1" dirty="0">
                <a:solidFill>
                  <a:srgbClr val="3B1E8E"/>
                </a:solidFill>
                <a:latin typeface="Calibri" pitchFamily="34" charset="0"/>
                <a:ea typeface="Calibri" pitchFamily="34" charset="-122"/>
                <a:cs typeface="Calibri" pitchFamily="34" charset="-120"/>
              </a:rPr>
              <a:t>Tuning Impact: Baseline → Tuned</a:t>
            </a:r>
            <a:endParaRPr lang="en-US" sz="1100" dirty="0"/>
          </a:p>
        </p:txBody>
      </p:sp>
      <p:sp>
        <p:nvSpPr>
          <p:cNvPr id="38" name="Shape 36"/>
          <p:cNvSpPr/>
          <p:nvPr/>
        </p:nvSpPr>
        <p:spPr>
          <a:xfrm>
            <a:off x="4663440" y="2414016"/>
            <a:ext cx="4114800" cy="384048"/>
          </a:xfrm>
          <a:prstGeom prst="rect">
            <a:avLst/>
          </a:prstGeom>
          <a:solidFill>
            <a:srgbClr val="5C33BE"/>
          </a:solidFill>
          <a:ln w="3810">
            <a:solidFill>
              <a:srgbClr val="DDD6FE"/>
            </a:solidFill>
            <a:prstDash val="solid"/>
          </a:ln>
        </p:spPr>
        <p:txBody>
          <a:bodyPr/>
          <a:lstStyle/>
          <a:p>
            <a:endParaRPr lang="en-IN">
              <a:latin typeface="Segoe UI" panose="020B0502040204020203" pitchFamily="34" charset="0"/>
              <a:cs typeface="Segoe UI" panose="020B0502040204020203" pitchFamily="34" charset="0"/>
            </a:endParaRPr>
          </a:p>
        </p:txBody>
      </p:sp>
      <p:sp>
        <p:nvSpPr>
          <p:cNvPr id="39" name="Text 37"/>
          <p:cNvSpPr/>
          <p:nvPr/>
        </p:nvSpPr>
        <p:spPr>
          <a:xfrm>
            <a:off x="4663440" y="2414016"/>
            <a:ext cx="1024128" cy="384048"/>
          </a:xfrm>
          <a:prstGeom prst="rect">
            <a:avLst/>
          </a:prstGeom>
          <a:noFill/>
          <a:ln/>
        </p:spPr>
        <p:txBody>
          <a:bodyPr wrap="square" rtlCol="0" anchor="ctr"/>
          <a:lstStyle/>
          <a:p>
            <a:pPr marL="0" indent="0" algn="ctr">
              <a:buNone/>
            </a:pPr>
            <a:endParaRPr lang="en-US" sz="950" dirty="0"/>
          </a:p>
        </p:txBody>
      </p:sp>
      <p:sp>
        <p:nvSpPr>
          <p:cNvPr id="40" name="Text 38"/>
          <p:cNvSpPr/>
          <p:nvPr/>
        </p:nvSpPr>
        <p:spPr>
          <a:xfrm>
            <a:off x="5687568" y="2414016"/>
            <a:ext cx="1024128" cy="384048"/>
          </a:xfrm>
          <a:prstGeom prst="rect">
            <a:avLst/>
          </a:prstGeom>
          <a:noFill/>
          <a:ln/>
        </p:spPr>
        <p:txBody>
          <a:bodyPr wrap="square" rtlCol="0" anchor="ctr"/>
          <a:lstStyle/>
          <a:p>
            <a:pPr marL="0" indent="0" algn="ctr">
              <a:buNone/>
            </a:pPr>
            <a:r>
              <a:rPr lang="en-US" sz="1050" b="1" dirty="0">
                <a:solidFill>
                  <a:srgbClr val="FFFFFF"/>
                </a:solidFill>
                <a:latin typeface="Segoe UI" panose="020B0502040204020203" pitchFamily="34" charset="0"/>
                <a:ea typeface="Calibri" pitchFamily="34" charset="-122"/>
                <a:cs typeface="Segoe UI" panose="020B0502040204020203" pitchFamily="34" charset="0"/>
              </a:rPr>
              <a:t>Baseline</a:t>
            </a:r>
            <a:endParaRPr lang="en-US" sz="1050" dirty="0">
              <a:latin typeface="Segoe UI" panose="020B0502040204020203" pitchFamily="34" charset="0"/>
              <a:cs typeface="Segoe UI" panose="020B0502040204020203" pitchFamily="34" charset="0"/>
            </a:endParaRPr>
          </a:p>
        </p:txBody>
      </p:sp>
      <p:sp>
        <p:nvSpPr>
          <p:cNvPr id="41" name="Text 39"/>
          <p:cNvSpPr/>
          <p:nvPr/>
        </p:nvSpPr>
        <p:spPr>
          <a:xfrm>
            <a:off x="6711696" y="2414016"/>
            <a:ext cx="1024128" cy="384048"/>
          </a:xfrm>
          <a:prstGeom prst="rect">
            <a:avLst/>
          </a:prstGeom>
          <a:noFill/>
          <a:ln/>
        </p:spPr>
        <p:txBody>
          <a:bodyPr wrap="square" rtlCol="0" anchor="ctr"/>
          <a:lstStyle/>
          <a:p>
            <a:pPr marL="0" indent="0" algn="ctr">
              <a:buNone/>
            </a:pPr>
            <a:r>
              <a:rPr lang="en-US" sz="1050" b="1" dirty="0">
                <a:solidFill>
                  <a:srgbClr val="FFFFFF"/>
                </a:solidFill>
                <a:latin typeface="Segoe UI" panose="020B0502040204020203" pitchFamily="34" charset="0"/>
                <a:ea typeface="Calibri" pitchFamily="34" charset="-122"/>
                <a:cs typeface="Segoe UI" panose="020B0502040204020203" pitchFamily="34" charset="0"/>
              </a:rPr>
              <a:t>Tuned</a:t>
            </a:r>
          </a:p>
        </p:txBody>
      </p:sp>
      <p:sp>
        <p:nvSpPr>
          <p:cNvPr id="42" name="Text 40"/>
          <p:cNvSpPr/>
          <p:nvPr/>
        </p:nvSpPr>
        <p:spPr>
          <a:xfrm>
            <a:off x="7735824" y="2414016"/>
            <a:ext cx="1024128" cy="384048"/>
          </a:xfrm>
          <a:prstGeom prst="rect">
            <a:avLst/>
          </a:prstGeom>
          <a:noFill/>
          <a:ln/>
        </p:spPr>
        <p:txBody>
          <a:bodyPr wrap="square" rtlCol="0" anchor="ctr"/>
          <a:lstStyle/>
          <a:p>
            <a:pPr algn="ctr"/>
            <a:r>
              <a:rPr lang="en-US" sz="1050" b="1" dirty="0">
                <a:solidFill>
                  <a:srgbClr val="FFFFFF"/>
                </a:solidFill>
                <a:latin typeface="Segoe UI" panose="020B0502040204020203" pitchFamily="34" charset="0"/>
                <a:ea typeface="Calibri" pitchFamily="34" charset="-122"/>
                <a:cs typeface="Segoe UI" panose="020B0502040204020203" pitchFamily="34" charset="0"/>
              </a:rPr>
              <a:t>Change</a:t>
            </a:r>
          </a:p>
        </p:txBody>
      </p:sp>
      <p:sp>
        <p:nvSpPr>
          <p:cNvPr id="43" name="Shape 41"/>
          <p:cNvSpPr/>
          <p:nvPr/>
        </p:nvSpPr>
        <p:spPr>
          <a:xfrm>
            <a:off x="4663440" y="2816352"/>
            <a:ext cx="4114800" cy="384048"/>
          </a:xfrm>
          <a:prstGeom prst="rect">
            <a:avLst/>
          </a:prstGeom>
          <a:solidFill>
            <a:srgbClr val="EDE9FC"/>
          </a:solidFill>
          <a:ln w="3810">
            <a:solidFill>
              <a:srgbClr val="DDD6FE"/>
            </a:solidFill>
            <a:prstDash val="solid"/>
          </a:ln>
        </p:spPr>
        <p:txBody>
          <a:bodyPr/>
          <a:lstStyle/>
          <a:p>
            <a:endParaRPr lang="en-IN">
              <a:latin typeface="Segoe UI" panose="020B0502040204020203" pitchFamily="34" charset="0"/>
              <a:cs typeface="Segoe UI" panose="020B0502040204020203" pitchFamily="34" charset="0"/>
            </a:endParaRPr>
          </a:p>
        </p:txBody>
      </p:sp>
      <p:sp>
        <p:nvSpPr>
          <p:cNvPr id="44" name="Text 42"/>
          <p:cNvSpPr/>
          <p:nvPr/>
        </p:nvSpPr>
        <p:spPr>
          <a:xfrm>
            <a:off x="4663440" y="2816352"/>
            <a:ext cx="1024128" cy="384048"/>
          </a:xfrm>
          <a:prstGeom prst="rect">
            <a:avLst/>
          </a:prstGeom>
          <a:noFill/>
          <a:ln/>
        </p:spPr>
        <p:txBody>
          <a:bodyPr wrap="square" rtlCol="0" anchor="ctr"/>
          <a:lstStyle/>
          <a:p>
            <a:pPr marL="0" indent="0" algn="ctr">
              <a:buNone/>
            </a:pPr>
            <a:r>
              <a:rPr lang="en-US" sz="950" dirty="0">
                <a:solidFill>
                  <a:srgbClr val="1E1B4B"/>
                </a:solidFill>
                <a:latin typeface="Segoe UI" panose="020B0502040204020203" pitchFamily="34" charset="0"/>
                <a:ea typeface="Calibri" pitchFamily="34" charset="-122"/>
                <a:cs typeface="Segoe UI" panose="020B0502040204020203" pitchFamily="34" charset="0"/>
              </a:rPr>
              <a:t>CV R²</a:t>
            </a:r>
            <a:endParaRPr lang="en-US" sz="950" dirty="0">
              <a:latin typeface="Segoe UI" panose="020B0502040204020203" pitchFamily="34" charset="0"/>
              <a:cs typeface="Segoe UI" panose="020B0502040204020203" pitchFamily="34" charset="0"/>
            </a:endParaRPr>
          </a:p>
        </p:txBody>
      </p:sp>
      <p:sp>
        <p:nvSpPr>
          <p:cNvPr id="45" name="Text 43"/>
          <p:cNvSpPr/>
          <p:nvPr/>
        </p:nvSpPr>
        <p:spPr>
          <a:xfrm>
            <a:off x="5687568" y="2816352"/>
            <a:ext cx="1024128" cy="384048"/>
          </a:xfrm>
          <a:prstGeom prst="rect">
            <a:avLst/>
          </a:prstGeom>
          <a:noFill/>
          <a:ln/>
        </p:spPr>
        <p:txBody>
          <a:bodyPr wrap="square" rtlCol="0" anchor="ctr"/>
          <a:lstStyle/>
          <a:p>
            <a:pPr marL="0" indent="0" algn="ctr">
              <a:buNone/>
            </a:pPr>
            <a:r>
              <a:rPr lang="en-US" sz="950" dirty="0">
                <a:solidFill>
                  <a:srgbClr val="1E1B4B"/>
                </a:solidFill>
                <a:latin typeface="Segoe UI" panose="020B0502040204020203" pitchFamily="34" charset="0"/>
                <a:ea typeface="Calibri" pitchFamily="34" charset="-122"/>
                <a:cs typeface="Segoe UI" panose="020B0502040204020203" pitchFamily="34" charset="0"/>
              </a:rPr>
              <a:t>0.8809</a:t>
            </a:r>
          </a:p>
        </p:txBody>
      </p:sp>
      <p:sp>
        <p:nvSpPr>
          <p:cNvPr id="46" name="Text 44"/>
          <p:cNvSpPr/>
          <p:nvPr/>
        </p:nvSpPr>
        <p:spPr>
          <a:xfrm>
            <a:off x="6711696" y="2816352"/>
            <a:ext cx="1024128" cy="384048"/>
          </a:xfrm>
          <a:prstGeom prst="rect">
            <a:avLst/>
          </a:prstGeom>
          <a:noFill/>
          <a:ln/>
        </p:spPr>
        <p:txBody>
          <a:bodyPr wrap="square" rtlCol="0" anchor="ctr"/>
          <a:lstStyle/>
          <a:p>
            <a:pPr marL="0" indent="0" algn="ctr">
              <a:buNone/>
            </a:pPr>
            <a:r>
              <a:rPr lang="en-US" sz="950" dirty="0">
                <a:solidFill>
                  <a:srgbClr val="1E1B4B"/>
                </a:solidFill>
                <a:latin typeface="Segoe UI" panose="020B0502040204020203" pitchFamily="34" charset="0"/>
                <a:ea typeface="Calibri" pitchFamily="34" charset="-122"/>
                <a:cs typeface="Segoe UI" panose="020B0502040204020203" pitchFamily="34" charset="0"/>
              </a:rPr>
              <a:t>0.9100</a:t>
            </a:r>
            <a:endParaRPr lang="en-US" sz="950" dirty="0">
              <a:latin typeface="Segoe UI" panose="020B0502040204020203" pitchFamily="34" charset="0"/>
              <a:cs typeface="Segoe UI" panose="020B0502040204020203" pitchFamily="34" charset="0"/>
            </a:endParaRPr>
          </a:p>
        </p:txBody>
      </p:sp>
      <p:sp>
        <p:nvSpPr>
          <p:cNvPr id="47" name="Text 45"/>
          <p:cNvSpPr/>
          <p:nvPr/>
        </p:nvSpPr>
        <p:spPr>
          <a:xfrm>
            <a:off x="7735824" y="2816352"/>
            <a:ext cx="1024128" cy="384048"/>
          </a:xfrm>
          <a:prstGeom prst="rect">
            <a:avLst/>
          </a:prstGeom>
          <a:noFill/>
          <a:ln/>
        </p:spPr>
        <p:txBody>
          <a:bodyPr wrap="square" rtlCol="0" anchor="ctr"/>
          <a:lstStyle/>
          <a:p>
            <a:pPr marL="0" indent="0" algn="ctr">
              <a:buNone/>
            </a:pPr>
            <a:r>
              <a:rPr lang="en-US" sz="950" b="1" dirty="0">
                <a:solidFill>
                  <a:srgbClr val="16A34A"/>
                </a:solidFill>
                <a:latin typeface="Segoe UI" panose="020B0502040204020203" pitchFamily="34" charset="0"/>
                <a:ea typeface="Calibri" pitchFamily="34" charset="-122"/>
                <a:cs typeface="Segoe UI" panose="020B0502040204020203" pitchFamily="34" charset="0"/>
              </a:rPr>
              <a:t>+0.0291 </a:t>
            </a:r>
            <a:endParaRPr lang="en-US" sz="950" dirty="0">
              <a:latin typeface="Segoe UI" panose="020B0502040204020203" pitchFamily="34" charset="0"/>
              <a:cs typeface="Segoe UI" panose="020B0502040204020203" pitchFamily="34" charset="0"/>
            </a:endParaRPr>
          </a:p>
        </p:txBody>
      </p:sp>
      <p:sp>
        <p:nvSpPr>
          <p:cNvPr id="48" name="Shape 46"/>
          <p:cNvSpPr/>
          <p:nvPr/>
        </p:nvSpPr>
        <p:spPr>
          <a:xfrm>
            <a:off x="4663440" y="3218688"/>
            <a:ext cx="4114800" cy="384048"/>
          </a:xfrm>
          <a:prstGeom prst="rect">
            <a:avLst/>
          </a:prstGeom>
          <a:solidFill>
            <a:srgbClr val="FFFFFF"/>
          </a:solidFill>
          <a:ln w="3810">
            <a:solidFill>
              <a:srgbClr val="DDD6FE"/>
            </a:solidFill>
            <a:prstDash val="solid"/>
          </a:ln>
        </p:spPr>
        <p:txBody>
          <a:bodyPr/>
          <a:lstStyle/>
          <a:p>
            <a:endParaRPr lang="en-IN">
              <a:latin typeface="Segoe UI" panose="020B0502040204020203" pitchFamily="34" charset="0"/>
              <a:cs typeface="Segoe UI" panose="020B0502040204020203" pitchFamily="34" charset="0"/>
            </a:endParaRPr>
          </a:p>
        </p:txBody>
      </p:sp>
      <p:sp>
        <p:nvSpPr>
          <p:cNvPr id="49" name="Text 47"/>
          <p:cNvSpPr/>
          <p:nvPr/>
        </p:nvSpPr>
        <p:spPr>
          <a:xfrm>
            <a:off x="4663440" y="3218688"/>
            <a:ext cx="1024128" cy="384048"/>
          </a:xfrm>
          <a:prstGeom prst="rect">
            <a:avLst/>
          </a:prstGeom>
          <a:noFill/>
          <a:ln/>
        </p:spPr>
        <p:txBody>
          <a:bodyPr wrap="square" rtlCol="0" anchor="ctr"/>
          <a:lstStyle/>
          <a:p>
            <a:pPr algn="ctr"/>
            <a:r>
              <a:rPr lang="en-US" sz="950" dirty="0">
                <a:solidFill>
                  <a:srgbClr val="1E1B4B"/>
                </a:solidFill>
                <a:latin typeface="Segoe UI" panose="020B0502040204020203" pitchFamily="34" charset="0"/>
                <a:ea typeface="Calibri" pitchFamily="34" charset="-122"/>
                <a:cs typeface="Segoe UI" panose="020B0502040204020203" pitchFamily="34" charset="0"/>
              </a:rPr>
              <a:t>Test R²</a:t>
            </a:r>
          </a:p>
        </p:txBody>
      </p:sp>
      <p:sp>
        <p:nvSpPr>
          <p:cNvPr id="50" name="Text 48"/>
          <p:cNvSpPr/>
          <p:nvPr/>
        </p:nvSpPr>
        <p:spPr>
          <a:xfrm>
            <a:off x="5687568" y="3218688"/>
            <a:ext cx="1024128" cy="384048"/>
          </a:xfrm>
          <a:prstGeom prst="rect">
            <a:avLst/>
          </a:prstGeom>
          <a:noFill/>
          <a:ln/>
        </p:spPr>
        <p:txBody>
          <a:bodyPr wrap="square" rtlCol="0" anchor="ctr"/>
          <a:lstStyle/>
          <a:p>
            <a:pPr algn="ctr"/>
            <a:r>
              <a:rPr lang="en-US" sz="950" dirty="0">
                <a:solidFill>
                  <a:srgbClr val="1E1B4B"/>
                </a:solidFill>
                <a:latin typeface="Segoe UI" panose="020B0502040204020203" pitchFamily="34" charset="0"/>
                <a:ea typeface="Calibri" pitchFamily="34" charset="-122"/>
                <a:cs typeface="Segoe UI" panose="020B0502040204020203" pitchFamily="34" charset="0"/>
              </a:rPr>
              <a:t>0.8241</a:t>
            </a:r>
          </a:p>
        </p:txBody>
      </p:sp>
      <p:sp>
        <p:nvSpPr>
          <p:cNvPr id="51" name="Text 49"/>
          <p:cNvSpPr/>
          <p:nvPr/>
        </p:nvSpPr>
        <p:spPr>
          <a:xfrm>
            <a:off x="6711696" y="3218688"/>
            <a:ext cx="1024128" cy="384048"/>
          </a:xfrm>
          <a:prstGeom prst="rect">
            <a:avLst/>
          </a:prstGeom>
          <a:noFill/>
          <a:ln/>
        </p:spPr>
        <p:txBody>
          <a:bodyPr wrap="square" rtlCol="0" anchor="ctr"/>
          <a:lstStyle/>
          <a:p>
            <a:pPr marL="0" indent="0" algn="ctr">
              <a:buNone/>
            </a:pPr>
            <a:r>
              <a:rPr lang="en-US" sz="950" dirty="0">
                <a:solidFill>
                  <a:srgbClr val="1E1B4B"/>
                </a:solidFill>
                <a:latin typeface="Segoe UI" panose="020B0502040204020203" pitchFamily="34" charset="0"/>
                <a:ea typeface="Calibri" pitchFamily="34" charset="-122"/>
                <a:cs typeface="Segoe UI" panose="020B0502040204020203" pitchFamily="34" charset="0"/>
              </a:rPr>
              <a:t>0.7868</a:t>
            </a:r>
            <a:endParaRPr lang="en-US" sz="950" dirty="0">
              <a:latin typeface="Segoe UI" panose="020B0502040204020203" pitchFamily="34" charset="0"/>
              <a:cs typeface="Segoe UI" panose="020B0502040204020203" pitchFamily="34" charset="0"/>
            </a:endParaRPr>
          </a:p>
        </p:txBody>
      </p:sp>
      <p:sp>
        <p:nvSpPr>
          <p:cNvPr id="52" name="Text 50"/>
          <p:cNvSpPr/>
          <p:nvPr/>
        </p:nvSpPr>
        <p:spPr>
          <a:xfrm>
            <a:off x="7735824" y="3218688"/>
            <a:ext cx="1024128" cy="384048"/>
          </a:xfrm>
          <a:prstGeom prst="rect">
            <a:avLst/>
          </a:prstGeom>
          <a:noFill/>
          <a:ln/>
        </p:spPr>
        <p:txBody>
          <a:bodyPr wrap="square" rtlCol="0" anchor="ctr"/>
          <a:lstStyle/>
          <a:p>
            <a:pPr algn="ctr"/>
            <a:r>
              <a:rPr lang="en-US" sz="950" b="1" dirty="0">
                <a:solidFill>
                  <a:srgbClr val="DC2626"/>
                </a:solidFill>
                <a:latin typeface="Segoe UI" panose="020B0502040204020203" pitchFamily="34" charset="0"/>
                <a:ea typeface="Calibri" pitchFamily="34" charset="-122"/>
                <a:cs typeface="Segoe UI" panose="020B0502040204020203" pitchFamily="34" charset="0"/>
              </a:rPr>
              <a:t>-0.0373  </a:t>
            </a:r>
            <a:endParaRPr lang="en-US" sz="950" dirty="0">
              <a:solidFill>
                <a:srgbClr val="DC2626"/>
              </a:solidFill>
              <a:latin typeface="Segoe UI" panose="020B0502040204020203" pitchFamily="34" charset="0"/>
              <a:cs typeface="Segoe UI" panose="020B0502040204020203" pitchFamily="34" charset="0"/>
            </a:endParaRPr>
          </a:p>
        </p:txBody>
      </p:sp>
      <p:sp>
        <p:nvSpPr>
          <p:cNvPr id="53" name="Shape 51"/>
          <p:cNvSpPr/>
          <p:nvPr/>
        </p:nvSpPr>
        <p:spPr>
          <a:xfrm>
            <a:off x="4663440" y="3621024"/>
            <a:ext cx="4114800" cy="384048"/>
          </a:xfrm>
          <a:prstGeom prst="rect">
            <a:avLst/>
          </a:prstGeom>
          <a:solidFill>
            <a:srgbClr val="EDE9FC"/>
          </a:solidFill>
          <a:ln w="3810">
            <a:solidFill>
              <a:srgbClr val="DDD6FE"/>
            </a:solidFill>
            <a:prstDash val="solid"/>
          </a:ln>
        </p:spPr>
        <p:txBody>
          <a:bodyPr/>
          <a:lstStyle/>
          <a:p>
            <a:endParaRPr lang="en-IN">
              <a:latin typeface="Segoe UI" panose="020B0502040204020203" pitchFamily="34" charset="0"/>
              <a:cs typeface="Segoe UI" panose="020B0502040204020203" pitchFamily="34" charset="0"/>
            </a:endParaRPr>
          </a:p>
        </p:txBody>
      </p:sp>
      <p:sp>
        <p:nvSpPr>
          <p:cNvPr id="54" name="Text 52"/>
          <p:cNvSpPr/>
          <p:nvPr/>
        </p:nvSpPr>
        <p:spPr>
          <a:xfrm>
            <a:off x="4663440" y="3621024"/>
            <a:ext cx="1024128" cy="384048"/>
          </a:xfrm>
          <a:prstGeom prst="rect">
            <a:avLst/>
          </a:prstGeom>
          <a:noFill/>
          <a:ln/>
        </p:spPr>
        <p:txBody>
          <a:bodyPr wrap="square" rtlCol="0" anchor="ctr"/>
          <a:lstStyle/>
          <a:p>
            <a:pPr indent="0" algn="ctr">
              <a:buNone/>
            </a:pPr>
            <a:r>
              <a:rPr lang="en-US" sz="950" dirty="0">
                <a:solidFill>
                  <a:srgbClr val="1E1B4B"/>
                </a:solidFill>
                <a:latin typeface="Segoe UI" panose="020B0502040204020203" pitchFamily="34" charset="0"/>
                <a:ea typeface="Calibri" pitchFamily="34" charset="-122"/>
                <a:cs typeface="Segoe UI" panose="020B0502040204020203" pitchFamily="34" charset="0"/>
              </a:rPr>
              <a:t>RMSE</a:t>
            </a:r>
          </a:p>
        </p:txBody>
      </p:sp>
      <p:sp>
        <p:nvSpPr>
          <p:cNvPr id="55" name="Text 53"/>
          <p:cNvSpPr/>
          <p:nvPr/>
        </p:nvSpPr>
        <p:spPr>
          <a:xfrm>
            <a:off x="5687568" y="3621024"/>
            <a:ext cx="1024128" cy="384048"/>
          </a:xfrm>
          <a:prstGeom prst="rect">
            <a:avLst/>
          </a:prstGeom>
          <a:noFill/>
          <a:ln/>
        </p:spPr>
        <p:txBody>
          <a:bodyPr wrap="square" rtlCol="0" anchor="ctr"/>
          <a:lstStyle/>
          <a:p>
            <a:pPr indent="0" algn="ctr">
              <a:buNone/>
            </a:pPr>
            <a:r>
              <a:rPr lang="en-US" sz="950" dirty="0">
                <a:solidFill>
                  <a:srgbClr val="1E1B4B"/>
                </a:solidFill>
                <a:latin typeface="Segoe UI" panose="020B0502040204020203" pitchFamily="34" charset="0"/>
                <a:ea typeface="Calibri" pitchFamily="34" charset="-122"/>
                <a:cs typeface="Segoe UI" panose="020B0502040204020203" pitchFamily="34" charset="0"/>
              </a:rPr>
              <a:t>₹3,793</a:t>
            </a:r>
          </a:p>
        </p:txBody>
      </p:sp>
      <p:sp>
        <p:nvSpPr>
          <p:cNvPr id="56" name="Text 54"/>
          <p:cNvSpPr/>
          <p:nvPr/>
        </p:nvSpPr>
        <p:spPr>
          <a:xfrm>
            <a:off x="6711696" y="3621024"/>
            <a:ext cx="1024128" cy="384048"/>
          </a:xfrm>
          <a:prstGeom prst="rect">
            <a:avLst/>
          </a:prstGeom>
          <a:noFill/>
          <a:ln/>
        </p:spPr>
        <p:txBody>
          <a:bodyPr wrap="square" rtlCol="0" anchor="ctr"/>
          <a:lstStyle/>
          <a:p>
            <a:pPr algn="ctr"/>
            <a:r>
              <a:rPr lang="en-US" sz="950" dirty="0">
                <a:solidFill>
                  <a:srgbClr val="1E1B4B"/>
                </a:solidFill>
                <a:latin typeface="Segoe UI" panose="020B0502040204020203" pitchFamily="34" charset="0"/>
                <a:ea typeface="Calibri" pitchFamily="34" charset="-122"/>
                <a:cs typeface="Segoe UI" panose="020B0502040204020203" pitchFamily="34" charset="0"/>
              </a:rPr>
              <a:t>₹4,176</a:t>
            </a:r>
          </a:p>
        </p:txBody>
      </p:sp>
      <p:sp>
        <p:nvSpPr>
          <p:cNvPr id="57" name="Text 55"/>
          <p:cNvSpPr/>
          <p:nvPr/>
        </p:nvSpPr>
        <p:spPr>
          <a:xfrm>
            <a:off x="7735824" y="3621024"/>
            <a:ext cx="1024128" cy="384048"/>
          </a:xfrm>
          <a:prstGeom prst="rect">
            <a:avLst/>
          </a:prstGeom>
          <a:noFill/>
          <a:ln/>
        </p:spPr>
        <p:txBody>
          <a:bodyPr wrap="square" rtlCol="0" anchor="ctr"/>
          <a:lstStyle/>
          <a:p>
            <a:pPr marL="0" indent="0" algn="ctr">
              <a:buNone/>
            </a:pPr>
            <a:r>
              <a:rPr lang="en-US" sz="950" b="1" dirty="0">
                <a:solidFill>
                  <a:srgbClr val="DC2626"/>
                </a:solidFill>
                <a:latin typeface="Segoe UI" panose="020B0502040204020203" pitchFamily="34" charset="0"/>
                <a:ea typeface="Calibri" pitchFamily="34" charset="-122"/>
                <a:cs typeface="Segoe UI" panose="020B0502040204020203" pitchFamily="34" charset="0"/>
              </a:rPr>
              <a:t>−₹383 </a:t>
            </a:r>
            <a:endParaRPr lang="en-US" sz="950" dirty="0">
              <a:solidFill>
                <a:srgbClr val="DC2626"/>
              </a:solidFill>
              <a:latin typeface="Segoe UI" panose="020B0502040204020203" pitchFamily="34" charset="0"/>
              <a:cs typeface="Segoe UI" panose="020B0502040204020203" pitchFamily="34" charset="0"/>
            </a:endParaRPr>
          </a:p>
        </p:txBody>
      </p:sp>
      <p:sp>
        <p:nvSpPr>
          <p:cNvPr id="58" name="Shape 56"/>
          <p:cNvSpPr/>
          <p:nvPr/>
        </p:nvSpPr>
        <p:spPr>
          <a:xfrm>
            <a:off x="4663440" y="4023360"/>
            <a:ext cx="4114800" cy="384048"/>
          </a:xfrm>
          <a:prstGeom prst="rect">
            <a:avLst/>
          </a:prstGeom>
          <a:solidFill>
            <a:srgbClr val="FFFFFF"/>
          </a:solidFill>
          <a:ln w="3810">
            <a:solidFill>
              <a:srgbClr val="DDD6FE"/>
            </a:solidFill>
            <a:prstDash val="solid"/>
          </a:ln>
        </p:spPr>
        <p:txBody>
          <a:bodyPr/>
          <a:lstStyle/>
          <a:p>
            <a:endParaRPr lang="en-IN">
              <a:latin typeface="Segoe UI" panose="020B0502040204020203" pitchFamily="34" charset="0"/>
              <a:cs typeface="Segoe UI" panose="020B0502040204020203" pitchFamily="34" charset="0"/>
            </a:endParaRPr>
          </a:p>
        </p:txBody>
      </p:sp>
      <p:sp>
        <p:nvSpPr>
          <p:cNvPr id="59" name="Text 57"/>
          <p:cNvSpPr/>
          <p:nvPr/>
        </p:nvSpPr>
        <p:spPr>
          <a:xfrm>
            <a:off x="4663440" y="4023360"/>
            <a:ext cx="1024128" cy="384048"/>
          </a:xfrm>
          <a:prstGeom prst="rect">
            <a:avLst/>
          </a:prstGeom>
          <a:noFill/>
          <a:ln/>
        </p:spPr>
        <p:txBody>
          <a:bodyPr wrap="square" rtlCol="0" anchor="ctr"/>
          <a:lstStyle/>
          <a:p>
            <a:pPr algn="ctr"/>
            <a:r>
              <a:rPr lang="en-US" sz="950" dirty="0">
                <a:solidFill>
                  <a:srgbClr val="1E1B4B"/>
                </a:solidFill>
                <a:latin typeface="Segoe UI" panose="020B0502040204020203" pitchFamily="34" charset="0"/>
                <a:ea typeface="Calibri" pitchFamily="34" charset="-122"/>
                <a:cs typeface="Segoe UI" panose="020B0502040204020203" pitchFamily="34" charset="0"/>
              </a:rPr>
              <a:t>MAE</a:t>
            </a:r>
          </a:p>
        </p:txBody>
      </p:sp>
      <p:sp>
        <p:nvSpPr>
          <p:cNvPr id="60" name="Text 58"/>
          <p:cNvSpPr/>
          <p:nvPr/>
        </p:nvSpPr>
        <p:spPr>
          <a:xfrm>
            <a:off x="5687568" y="4023360"/>
            <a:ext cx="1024128" cy="384048"/>
          </a:xfrm>
          <a:prstGeom prst="rect">
            <a:avLst/>
          </a:prstGeom>
          <a:noFill/>
          <a:ln/>
        </p:spPr>
        <p:txBody>
          <a:bodyPr wrap="square" rtlCol="0" anchor="ctr"/>
          <a:lstStyle/>
          <a:p>
            <a:pPr algn="ctr"/>
            <a:r>
              <a:rPr lang="en-US" sz="950" dirty="0">
                <a:solidFill>
                  <a:srgbClr val="1E1B4B"/>
                </a:solidFill>
                <a:latin typeface="Segoe UI" panose="020B0502040204020203" pitchFamily="34" charset="0"/>
                <a:ea typeface="Calibri" pitchFamily="34" charset="-122"/>
                <a:cs typeface="Segoe UI" panose="020B0502040204020203" pitchFamily="34" charset="0"/>
              </a:rPr>
              <a:t>₹1,194</a:t>
            </a:r>
          </a:p>
        </p:txBody>
      </p:sp>
      <p:sp>
        <p:nvSpPr>
          <p:cNvPr id="61" name="Text 59"/>
          <p:cNvSpPr/>
          <p:nvPr/>
        </p:nvSpPr>
        <p:spPr>
          <a:xfrm>
            <a:off x="6711696" y="4023360"/>
            <a:ext cx="1024128" cy="384048"/>
          </a:xfrm>
          <a:prstGeom prst="rect">
            <a:avLst/>
          </a:prstGeom>
          <a:noFill/>
          <a:ln/>
        </p:spPr>
        <p:txBody>
          <a:bodyPr wrap="square" rtlCol="0" anchor="ctr"/>
          <a:lstStyle/>
          <a:p>
            <a:pPr indent="0" algn="ctr">
              <a:buNone/>
            </a:pPr>
            <a:r>
              <a:rPr lang="en-US" sz="950" dirty="0">
                <a:solidFill>
                  <a:srgbClr val="1E1B4B"/>
                </a:solidFill>
                <a:latin typeface="Segoe UI" panose="020B0502040204020203" pitchFamily="34" charset="0"/>
                <a:ea typeface="Calibri" pitchFamily="34" charset="-122"/>
                <a:cs typeface="Segoe UI" panose="020B0502040204020203" pitchFamily="34" charset="0"/>
              </a:rPr>
              <a:t>₹1,558</a:t>
            </a:r>
          </a:p>
        </p:txBody>
      </p:sp>
      <p:sp>
        <p:nvSpPr>
          <p:cNvPr id="62" name="Text 60"/>
          <p:cNvSpPr/>
          <p:nvPr/>
        </p:nvSpPr>
        <p:spPr>
          <a:xfrm>
            <a:off x="7735824" y="4023360"/>
            <a:ext cx="1024128" cy="384048"/>
          </a:xfrm>
          <a:prstGeom prst="rect">
            <a:avLst/>
          </a:prstGeom>
          <a:noFill/>
          <a:ln/>
        </p:spPr>
        <p:txBody>
          <a:bodyPr wrap="square" rtlCol="0" anchor="ctr"/>
          <a:lstStyle/>
          <a:p>
            <a:pPr marL="0" indent="0" algn="ctr">
              <a:buNone/>
            </a:pPr>
            <a:r>
              <a:rPr lang="en-US" sz="950" b="1" dirty="0">
                <a:solidFill>
                  <a:srgbClr val="DC2626"/>
                </a:solidFill>
                <a:latin typeface="Segoe UI" panose="020B0502040204020203" pitchFamily="34" charset="0"/>
                <a:ea typeface="Calibri" pitchFamily="34" charset="-122"/>
                <a:cs typeface="Segoe UI" panose="020B0502040204020203" pitchFamily="34" charset="0"/>
              </a:rPr>
              <a:t>−₹364 </a:t>
            </a:r>
            <a:endParaRPr lang="en-US" sz="950" dirty="0">
              <a:solidFill>
                <a:srgbClr val="DC2626"/>
              </a:solidFill>
              <a:latin typeface="Segoe UI" panose="020B0502040204020203" pitchFamily="34" charset="0"/>
              <a:cs typeface="Segoe UI" panose="020B0502040204020203" pitchFamily="34" charset="0"/>
            </a:endParaRPr>
          </a:p>
        </p:txBody>
      </p:sp>
      <p:sp>
        <p:nvSpPr>
          <p:cNvPr id="63" name="Shape 61"/>
          <p:cNvSpPr/>
          <p:nvPr/>
        </p:nvSpPr>
        <p:spPr>
          <a:xfrm>
            <a:off x="914400" y="914400"/>
            <a:ext cx="914400" cy="914400"/>
          </a:xfrm>
          <a:prstGeom prst="line">
            <a:avLst/>
          </a:prstGeom>
          <a:noFill/>
          <a:ln/>
        </p:spPr>
        <p:txBody>
          <a:bodyPr/>
          <a:lstStyle/>
          <a:p>
            <a:endParaRPr lang="en-IN"/>
          </a:p>
        </p:txBody>
      </p:sp>
      <p:sp>
        <p:nvSpPr>
          <p:cNvPr id="66" name="Shape 12">
            <a:extLst>
              <a:ext uri="{FF2B5EF4-FFF2-40B4-BE49-F238E27FC236}">
                <a16:creationId xmlns:a16="http://schemas.microsoft.com/office/drawing/2014/main" id="{80D437CF-AEFE-2E5B-6632-553448E722B0}"/>
              </a:ext>
            </a:extLst>
          </p:cNvPr>
          <p:cNvSpPr/>
          <p:nvPr/>
        </p:nvSpPr>
        <p:spPr>
          <a:xfrm>
            <a:off x="237744" y="4710039"/>
            <a:ext cx="8631936" cy="399610"/>
          </a:xfrm>
          <a:prstGeom prst="roundRect">
            <a:avLst>
              <a:gd name="adj" fmla="val 16000"/>
            </a:avLst>
          </a:prstGeom>
          <a:solidFill>
            <a:schemeClr val="accent6">
              <a:lumMod val="20000"/>
              <a:lumOff val="80000"/>
            </a:schemeClr>
          </a:solidFill>
          <a:ln w="12700">
            <a:solidFill>
              <a:srgbClr val="00B050"/>
            </a:solidFill>
            <a:prstDash val="solid"/>
          </a:ln>
          <a:effectLst>
            <a:outerShdw blurRad="76200" dist="25400" dir="2700000" algn="bl" rotWithShape="0">
              <a:srgbClr val="000000">
                <a:alpha val="8000"/>
              </a:srgbClr>
            </a:outerShdw>
          </a:effectLst>
        </p:spPr>
        <p:txBody>
          <a:bodyPr/>
          <a:lstStyle/>
          <a:p>
            <a:pPr algn="ctr"/>
            <a:r>
              <a:rPr lang="en-IN" sz="1100" b="1" i="1" dirty="0">
                <a:solidFill>
                  <a:srgbClr val="4B5563"/>
                </a:solidFill>
                <a:latin typeface="Segoe UI" panose="020B0502040204020203" pitchFamily="34" charset="0"/>
                <a:ea typeface="Calibri" pitchFamily="34" charset="-122"/>
                <a:cs typeface="Segoe UI" panose="020B0502040204020203" pitchFamily="34" charset="0"/>
              </a:rPr>
              <a:t>Decisive metric for final model selection </a:t>
            </a:r>
            <a:r>
              <a:rPr lang="en-IN" sz="1100" i="1" dirty="0">
                <a:solidFill>
                  <a:srgbClr val="4B5563"/>
                </a:solidFill>
                <a:latin typeface="Segoe UI" panose="020B0502040204020203" pitchFamily="34" charset="0"/>
                <a:ea typeface="Calibri" pitchFamily="34" charset="-122"/>
                <a:cs typeface="Segoe UI" panose="020B0502040204020203" pitchFamily="34" charset="0"/>
              </a:rPr>
              <a:t>— </a:t>
            </a:r>
          </a:p>
          <a:p>
            <a:pPr algn="ctr"/>
            <a:r>
              <a:rPr lang="en-IN" sz="1100" i="1" dirty="0">
                <a:solidFill>
                  <a:srgbClr val="4B5563"/>
                </a:solidFill>
                <a:latin typeface="Segoe UI" panose="020B0502040204020203" pitchFamily="34" charset="0"/>
                <a:ea typeface="Calibri" pitchFamily="34" charset="-122"/>
                <a:cs typeface="Segoe UI" panose="020B0502040204020203" pitchFamily="34" charset="0"/>
              </a:rPr>
              <a:t>The tuned model achieved the </a:t>
            </a:r>
            <a:r>
              <a:rPr lang="en-IN" sz="1100" b="1" i="1" dirty="0">
                <a:solidFill>
                  <a:srgbClr val="4B5563"/>
                </a:solidFill>
                <a:latin typeface="Segoe UI" panose="020B0502040204020203" pitchFamily="34" charset="0"/>
                <a:ea typeface="Calibri" pitchFamily="34" charset="-122"/>
                <a:cs typeface="Segoe UI" panose="020B0502040204020203" pitchFamily="34" charset="0"/>
              </a:rPr>
              <a:t>highest Cross-Validated R² (0.9100) </a:t>
            </a:r>
            <a:r>
              <a:rPr lang="en-IN" sz="1100" i="1" dirty="0">
                <a:solidFill>
                  <a:srgbClr val="4B5563"/>
                </a:solidFill>
                <a:latin typeface="Segoe UI" panose="020B0502040204020203" pitchFamily="34" charset="0"/>
                <a:ea typeface="Calibri" pitchFamily="34" charset="-122"/>
                <a:cs typeface="Segoe UI" panose="020B0502040204020203" pitchFamily="34" charset="0"/>
              </a:rPr>
              <a:t>among all evaluated models.</a:t>
            </a:r>
          </a:p>
          <a:p>
            <a:pPr algn="ctr"/>
            <a:endParaRPr lang="en-IN" sz="1100" i="1" dirty="0">
              <a:solidFill>
                <a:srgbClr val="4B5563"/>
              </a:solidFill>
              <a:latin typeface="Segoe UI" panose="020B0502040204020203" pitchFamily="34" charset="0"/>
              <a:ea typeface="Calibri" pitchFamily="34" charset="-122"/>
              <a:cs typeface="Segoe UI" panose="020B05020402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456090" cy="594360"/>
          </a:xfrm>
          <a:prstGeom prst="rect">
            <a:avLst/>
          </a:prstGeom>
          <a:noFill/>
          <a:ln/>
        </p:spPr>
        <p:txBody>
          <a:bodyPr wrap="square" rtlCol="0" anchor="ctr"/>
          <a:lstStyle/>
          <a:p>
            <a:pPr algn="ctr"/>
            <a:r>
              <a:rPr lang="en-IN" sz="2800" b="1" dirty="0">
                <a:solidFill>
                  <a:srgbClr val="FFFFFF"/>
                </a:solidFill>
                <a:latin typeface="Bahnschrift" panose="020B0502040204020203" pitchFamily="34" charset="0"/>
                <a:ea typeface="Calibri" pitchFamily="34" charset="-122"/>
                <a:cs typeface="Calibri" pitchFamily="34" charset="-120"/>
              </a:rPr>
              <a:t>Model Comparison — The Verdict</a:t>
            </a:r>
            <a:endParaRPr lang="en-US" sz="2800" b="1" dirty="0">
              <a:solidFill>
                <a:srgbClr val="FFFFFF"/>
              </a:solidFill>
              <a:latin typeface="Bahnschrift" panose="020B0502040204020203" pitchFamily="34" charset="0"/>
              <a:ea typeface="Calibri" pitchFamily="34" charset="-122"/>
              <a:cs typeface="Calibri" pitchFamily="34" charset="-120"/>
            </a:endParaRPr>
          </a:p>
        </p:txBody>
      </p:sp>
      <p:sp>
        <p:nvSpPr>
          <p:cNvPr id="6" name="Text 4"/>
          <p:cNvSpPr/>
          <p:nvPr/>
        </p:nvSpPr>
        <p:spPr>
          <a:xfrm>
            <a:off x="914400" y="777240"/>
            <a:ext cx="7315200" cy="4005072"/>
          </a:xfrm>
          <a:prstGeom prst="rect">
            <a:avLst/>
          </a:prstGeom>
          <a:noFill/>
          <a:ln/>
        </p:spPr>
        <p:txBody>
          <a:bodyPr wrap="square" rtlCol="0" anchor="ctr"/>
          <a:lstStyle/>
          <a:p>
            <a:pPr marL="0" indent="0" algn="ctr">
              <a:buNone/>
            </a:pPr>
            <a:endParaRPr lang="en-US" sz="1300" dirty="0"/>
          </a:p>
        </p:txBody>
      </p:sp>
      <p:sp>
        <p:nvSpPr>
          <p:cNvPr id="7" name="Shape 5"/>
          <p:cNvSpPr/>
          <p:nvPr/>
        </p:nvSpPr>
        <p:spPr>
          <a:xfrm>
            <a:off x="914400" y="914400"/>
            <a:ext cx="914400" cy="914400"/>
          </a:xfrm>
          <a:prstGeom prst="line">
            <a:avLst/>
          </a:prstGeom>
          <a:noFill/>
          <a:ln/>
        </p:spPr>
        <p:txBody>
          <a:bodyPr/>
          <a:lstStyle/>
          <a:p>
            <a:endParaRPr lang="en-IN"/>
          </a:p>
        </p:txBody>
      </p:sp>
      <p:pic>
        <p:nvPicPr>
          <p:cNvPr id="10" name="Picture 9">
            <a:extLst>
              <a:ext uri="{FF2B5EF4-FFF2-40B4-BE49-F238E27FC236}">
                <a16:creationId xmlns:a16="http://schemas.microsoft.com/office/drawing/2014/main" id="{BC21F32E-23F2-9560-E664-116ED6B7F331}"/>
              </a:ext>
            </a:extLst>
          </p:cNvPr>
          <p:cNvPicPr>
            <a:picLocks noChangeAspect="1"/>
          </p:cNvPicPr>
          <p:nvPr/>
        </p:nvPicPr>
        <p:blipFill>
          <a:blip r:embed="rId3"/>
          <a:stretch>
            <a:fillRect/>
          </a:stretch>
        </p:blipFill>
        <p:spPr>
          <a:xfrm>
            <a:off x="329184" y="717452"/>
            <a:ext cx="8420313" cy="42477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449056"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Feature Importance Analysis</a:t>
            </a:r>
            <a:endParaRPr lang="en-US" sz="2800" dirty="0">
              <a:latin typeface="Bahnschrift" panose="020B0502040204020203" pitchFamily="34" charset="0"/>
            </a:endParaRPr>
          </a:p>
        </p:txBody>
      </p:sp>
      <p:graphicFrame>
        <p:nvGraphicFramePr>
          <p:cNvPr id="23" name="Table 22">
            <a:extLst>
              <a:ext uri="{FF2B5EF4-FFF2-40B4-BE49-F238E27FC236}">
                <a16:creationId xmlns:a16="http://schemas.microsoft.com/office/drawing/2014/main" id="{F5B39BBB-D5C1-DCC4-2442-89FC11E0F0CD}"/>
              </a:ext>
            </a:extLst>
          </p:cNvPr>
          <p:cNvGraphicFramePr>
            <a:graphicFrameLocks noGrp="1"/>
          </p:cNvGraphicFramePr>
          <p:nvPr>
            <p:extLst>
              <p:ext uri="{D42A27DB-BD31-4B8C-83A1-F6EECF244321}">
                <p14:modId xmlns:p14="http://schemas.microsoft.com/office/powerpoint/2010/main" val="232287905"/>
              </p:ext>
            </p:extLst>
          </p:nvPr>
        </p:nvGraphicFramePr>
        <p:xfrm>
          <a:off x="147711" y="1562542"/>
          <a:ext cx="4628269" cy="3433722"/>
        </p:xfrm>
        <a:graphic>
          <a:graphicData uri="http://schemas.openxmlformats.org/drawingml/2006/table">
            <a:tbl>
              <a:tblPr/>
              <a:tblGrid>
                <a:gridCol w="998806">
                  <a:extLst>
                    <a:ext uri="{9D8B030D-6E8A-4147-A177-3AD203B41FA5}">
                      <a16:colId xmlns:a16="http://schemas.microsoft.com/office/drawing/2014/main" val="1926941878"/>
                    </a:ext>
                  </a:extLst>
                </a:gridCol>
                <a:gridCol w="1259058">
                  <a:extLst>
                    <a:ext uri="{9D8B030D-6E8A-4147-A177-3AD203B41FA5}">
                      <a16:colId xmlns:a16="http://schemas.microsoft.com/office/drawing/2014/main" val="2349385977"/>
                    </a:ext>
                  </a:extLst>
                </a:gridCol>
                <a:gridCol w="1090247">
                  <a:extLst>
                    <a:ext uri="{9D8B030D-6E8A-4147-A177-3AD203B41FA5}">
                      <a16:colId xmlns:a16="http://schemas.microsoft.com/office/drawing/2014/main" val="1892575691"/>
                    </a:ext>
                  </a:extLst>
                </a:gridCol>
                <a:gridCol w="1280158">
                  <a:extLst>
                    <a:ext uri="{9D8B030D-6E8A-4147-A177-3AD203B41FA5}">
                      <a16:colId xmlns:a16="http://schemas.microsoft.com/office/drawing/2014/main" val="2966102882"/>
                    </a:ext>
                  </a:extLst>
                </a:gridCol>
              </a:tblGrid>
              <a:tr h="433450">
                <a:tc>
                  <a:txBody>
                    <a:bodyPr/>
                    <a:lstStyle/>
                    <a:p>
                      <a:pPr algn="ctr" fontAlgn="ctr">
                        <a:buNone/>
                      </a:pPr>
                      <a:r>
                        <a:rPr lang="en-IN" sz="1100" b="1" i="0" u="none" strike="noStrike" dirty="0">
                          <a:solidFill>
                            <a:srgbClr val="F5F4FB"/>
                          </a:solidFill>
                          <a:effectLst/>
                          <a:latin typeface="Segoe UI" panose="020B0502040204020203" pitchFamily="34" charset="0"/>
                        </a:rPr>
                        <a:t>Tier</a:t>
                      </a:r>
                    </a:p>
                  </a:txBody>
                  <a:tcPr marL="7620" marR="7620" marT="7620" marB="0" anchor="ctr">
                    <a:lnL>
                      <a:noFill/>
                    </a:lnL>
                    <a:lnR>
                      <a:noFill/>
                    </a:lnR>
                    <a:lnT>
                      <a:noFill/>
                    </a:lnT>
                    <a:lnB>
                      <a:noFill/>
                    </a:lnB>
                    <a:solidFill>
                      <a:srgbClr val="1E1B4B"/>
                    </a:solidFill>
                  </a:tcPr>
                </a:tc>
                <a:tc>
                  <a:txBody>
                    <a:bodyPr/>
                    <a:lstStyle/>
                    <a:p>
                      <a:pPr algn="ctr" fontAlgn="ctr">
                        <a:buNone/>
                      </a:pPr>
                      <a:r>
                        <a:rPr lang="en-IN" sz="1100" b="1" i="0" u="none" strike="noStrike" dirty="0">
                          <a:solidFill>
                            <a:srgbClr val="F5F4FB"/>
                          </a:solidFill>
                          <a:effectLst/>
                          <a:latin typeface="Segoe UI" panose="020B0502040204020203" pitchFamily="34" charset="0"/>
                        </a:rPr>
                        <a:t>Feature</a:t>
                      </a:r>
                    </a:p>
                  </a:txBody>
                  <a:tcPr marL="7620" marR="7620" marT="7620" marB="0" anchor="ctr">
                    <a:lnL>
                      <a:noFill/>
                    </a:lnL>
                    <a:lnR>
                      <a:noFill/>
                    </a:lnR>
                    <a:lnT>
                      <a:noFill/>
                    </a:lnT>
                    <a:lnB>
                      <a:noFill/>
                    </a:lnB>
                    <a:solidFill>
                      <a:srgbClr val="1E1B4B"/>
                    </a:solidFill>
                  </a:tcPr>
                </a:tc>
                <a:tc>
                  <a:txBody>
                    <a:bodyPr/>
                    <a:lstStyle/>
                    <a:p>
                      <a:pPr algn="ctr" fontAlgn="ctr">
                        <a:buNone/>
                      </a:pPr>
                      <a:r>
                        <a:rPr lang="en-IN" sz="1100" b="1" i="0" u="none" strike="noStrike" dirty="0">
                          <a:solidFill>
                            <a:srgbClr val="F5F4FB"/>
                          </a:solidFill>
                          <a:effectLst/>
                          <a:latin typeface="Segoe UI" panose="020B0502040204020203" pitchFamily="34" charset="0"/>
                        </a:rPr>
                        <a:t>Built-in Rank</a:t>
                      </a:r>
                    </a:p>
                  </a:txBody>
                  <a:tcPr marL="7620" marR="7620" marT="7620" marB="0" anchor="ctr">
                    <a:lnL>
                      <a:noFill/>
                    </a:lnL>
                    <a:lnR>
                      <a:noFill/>
                    </a:lnR>
                    <a:lnT>
                      <a:noFill/>
                    </a:lnT>
                    <a:lnB>
                      <a:noFill/>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Permutation Importance</a:t>
                      </a:r>
                    </a:p>
                  </a:txBody>
                  <a:tcPr marL="7620" marR="7620" marT="7620" marB="0" anchor="ctr">
                    <a:lnL>
                      <a:noFill/>
                    </a:lnL>
                    <a:lnR>
                      <a:noFill/>
                    </a:lnR>
                    <a:lnT>
                      <a:noFill/>
                    </a:lnT>
                    <a:lnB>
                      <a:noFill/>
                    </a:lnB>
                    <a:solidFill>
                      <a:srgbClr val="1E1B4B"/>
                    </a:solidFill>
                  </a:tcPr>
                </a:tc>
                <a:extLst>
                  <a:ext uri="{0D108BD9-81ED-4DB2-BD59-A6C34878D82A}">
                    <a16:rowId xmlns:a16="http://schemas.microsoft.com/office/drawing/2014/main" val="3185042339"/>
                  </a:ext>
                </a:extLst>
              </a:tr>
              <a:tr h="272752">
                <a:tc>
                  <a:txBody>
                    <a:bodyPr/>
                    <a:lstStyle/>
                    <a:p>
                      <a:pPr algn="ctr" fontAlgn="ctr">
                        <a:buNone/>
                      </a:pPr>
                      <a:r>
                        <a:rPr lang="en-IN" sz="950" b="1" i="0" u="none" strike="noStrike" dirty="0">
                          <a:solidFill>
                            <a:srgbClr val="F5F4FB"/>
                          </a:solidFill>
                          <a:effectLst/>
                          <a:latin typeface="Segoe UI" panose="020B0502040204020203" pitchFamily="34" charset="0"/>
                        </a:rPr>
                        <a:t>Critical</a:t>
                      </a:r>
                    </a:p>
                  </a:txBody>
                  <a:tcPr marL="7620" marR="7620" marT="7620" marB="0" anchor="ctr">
                    <a:lnL>
                      <a:noFill/>
                    </a:lnL>
                    <a:lnR>
                      <a:noFill/>
                    </a:lnR>
                    <a:lnT>
                      <a:noFill/>
                    </a:lnT>
                    <a:lnB>
                      <a:noFill/>
                    </a:lnB>
                    <a:solidFill>
                      <a:srgbClr val="39A866"/>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Front_Camera_MP</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#1   ➖ 42.02%</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#1   ➖   0.3629</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2861156986"/>
                  </a:ext>
                </a:extLst>
              </a:tr>
              <a:tr h="272752">
                <a:tc>
                  <a:txBody>
                    <a:bodyPr/>
                    <a:lstStyle/>
                    <a:p>
                      <a:pPr algn="ctr" fontAlgn="ctr">
                        <a:buNone/>
                      </a:pPr>
                      <a:r>
                        <a:rPr lang="en-IN" sz="950" b="1" i="0" u="none" strike="noStrike" dirty="0">
                          <a:solidFill>
                            <a:srgbClr val="4B5563"/>
                          </a:solidFill>
                          <a:effectLst/>
                          <a:latin typeface="Segoe UI" panose="020B0502040204020203" pitchFamily="34" charset="0"/>
                        </a:rPr>
                        <a:t>High</a:t>
                      </a:r>
                    </a:p>
                  </a:txBody>
                  <a:tcPr marL="7620" marR="7620" marT="7620" marB="0" anchor="ctr">
                    <a:lnL>
                      <a:noFill/>
                    </a:lnL>
                    <a:lnR>
                      <a:noFill/>
                    </a:lnR>
                    <a:lnT>
                      <a:noFill/>
                    </a:lnT>
                    <a:lnB>
                      <a:noFill/>
                    </a:lnB>
                    <a:solidFill>
                      <a:srgbClr val="92D050"/>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Model_Encoded</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#4   ➖   8.60%</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#2   ➖   0.2367</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2997539629"/>
                  </a:ext>
                </a:extLst>
              </a:tr>
              <a:tr h="272752">
                <a:tc>
                  <a:txBody>
                    <a:bodyPr/>
                    <a:lstStyle/>
                    <a:p>
                      <a:pPr algn="ctr" fontAlgn="ctr">
                        <a:buNone/>
                      </a:pPr>
                      <a:r>
                        <a:rPr lang="en-IN" sz="950" b="1" i="0" u="none" strike="noStrike" dirty="0">
                          <a:solidFill>
                            <a:srgbClr val="4B5563"/>
                          </a:solidFill>
                          <a:effectLst/>
                          <a:latin typeface="Segoe UI" panose="020B0502040204020203" pitchFamily="34" charset="0"/>
                        </a:rPr>
                        <a:t>Moderate</a:t>
                      </a:r>
                    </a:p>
                  </a:txBody>
                  <a:tcPr marL="7620" marR="7620" marT="7620" marB="0" anchor="ctr">
                    <a:lnL>
                      <a:noFill/>
                    </a:lnL>
                    <a:lnR>
                      <a:noFill/>
                    </a:lnR>
                    <a:lnT>
                      <a:noFill/>
                    </a:lnT>
                    <a:lnB>
                      <a:noFill/>
                    </a:lnB>
                    <a:solidFill>
                      <a:srgbClr val="FFCC66"/>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RAM</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#6   ➖   6.32%</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#3   ➖   0.0814</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276923830"/>
                  </a:ext>
                </a:extLst>
              </a:tr>
              <a:tr h="272752">
                <a:tc>
                  <a:txBody>
                    <a:bodyPr/>
                    <a:lstStyle/>
                    <a:p>
                      <a:pPr algn="ctr" fontAlgn="ctr">
                        <a:buNone/>
                      </a:pPr>
                      <a:r>
                        <a:rPr lang="en-IN" sz="950" b="1" i="0" u="none" strike="noStrike" dirty="0">
                          <a:solidFill>
                            <a:srgbClr val="4B5563"/>
                          </a:solidFill>
                          <a:effectLst/>
                          <a:latin typeface="Segoe UI" panose="020B0502040204020203" pitchFamily="34" charset="0"/>
                        </a:rPr>
                        <a:t>Moderate</a:t>
                      </a:r>
                    </a:p>
                  </a:txBody>
                  <a:tcPr marL="7620" marR="7620" marT="7620" marB="0" anchor="ctr">
                    <a:lnL>
                      <a:noFill/>
                    </a:lnL>
                    <a:lnR>
                      <a:noFill/>
                    </a:lnR>
                    <a:lnT>
                      <a:noFill/>
                    </a:lnT>
                    <a:lnB>
                      <a:noFill/>
                    </a:lnB>
                    <a:solidFill>
                      <a:srgbClr val="FFCC66"/>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Battery_mAh</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#3   ➖ 10.50%</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#4   ➖   0.0748</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364827840"/>
                  </a:ext>
                </a:extLst>
              </a:tr>
              <a:tr h="272752">
                <a:tc>
                  <a:txBody>
                    <a:bodyPr/>
                    <a:lstStyle/>
                    <a:p>
                      <a:pPr algn="ctr" fontAlgn="ctr">
                        <a:buNone/>
                      </a:pPr>
                      <a:r>
                        <a:rPr lang="en-IN" sz="950" b="1" i="0" u="none" strike="noStrike" dirty="0">
                          <a:solidFill>
                            <a:srgbClr val="4B5563"/>
                          </a:solidFill>
                          <a:effectLst/>
                          <a:latin typeface="Segoe UI" panose="020B0502040204020203" pitchFamily="34" charset="0"/>
                        </a:rPr>
                        <a:t>Moderate</a:t>
                      </a:r>
                    </a:p>
                  </a:txBody>
                  <a:tcPr marL="7620" marR="7620" marT="7620" marB="0" anchor="ctr">
                    <a:lnL>
                      <a:noFill/>
                    </a:lnL>
                    <a:lnR>
                      <a:noFill/>
                    </a:lnR>
                    <a:lnT>
                      <a:noFill/>
                    </a:lnT>
                    <a:lnB>
                      <a:noFill/>
                    </a:lnB>
                    <a:solidFill>
                      <a:srgbClr val="FFCC66"/>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Memory</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#2   ➖ 15.88%</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#5   ➖   0.0628</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3156823737"/>
                  </a:ext>
                </a:extLst>
              </a:tr>
              <a:tr h="272752">
                <a:tc>
                  <a:txBody>
                    <a:bodyPr/>
                    <a:lstStyle/>
                    <a:p>
                      <a:pPr algn="ctr" fontAlgn="ctr">
                        <a:buNone/>
                      </a:pPr>
                      <a:r>
                        <a:rPr lang="en-IN" sz="950" b="1" i="0" u="none" strike="noStrike">
                          <a:solidFill>
                            <a:srgbClr val="4B5563"/>
                          </a:solidFill>
                          <a:effectLst/>
                          <a:latin typeface="Segoe UI" panose="020B0502040204020203" pitchFamily="34" charset="0"/>
                        </a:rPr>
                        <a:t>Moderate</a:t>
                      </a:r>
                    </a:p>
                  </a:txBody>
                  <a:tcPr marL="7620" marR="7620" marT="7620" marB="0" anchor="ctr">
                    <a:lnL>
                      <a:noFill/>
                    </a:lnL>
                    <a:lnR>
                      <a:noFill/>
                    </a:lnR>
                    <a:lnT>
                      <a:noFill/>
                    </a:lnT>
                    <a:lnB>
                      <a:noFill/>
                    </a:lnB>
                    <a:solidFill>
                      <a:srgbClr val="FFCC66"/>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Mobile Height</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#8   ➖   1.92%</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#6   ➖   0.0375</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6501064"/>
                  </a:ext>
                </a:extLst>
              </a:tr>
              <a:tr h="272752">
                <a:tc>
                  <a:txBody>
                    <a:bodyPr/>
                    <a:lstStyle/>
                    <a:p>
                      <a:pPr algn="ctr" fontAlgn="ctr">
                        <a:buNone/>
                      </a:pPr>
                      <a:r>
                        <a:rPr lang="en-IN" sz="950" b="1" i="0" u="none" strike="noStrike" dirty="0">
                          <a:solidFill>
                            <a:srgbClr val="F5F4FB"/>
                          </a:solidFill>
                          <a:effectLst/>
                          <a:latin typeface="Segoe UI" panose="020B0502040204020203" pitchFamily="34" charset="0"/>
                        </a:rPr>
                        <a:t>Low</a:t>
                      </a:r>
                    </a:p>
                  </a:txBody>
                  <a:tcPr marL="7620" marR="7620" marT="7620" marB="0" anchor="ctr">
                    <a:lnL>
                      <a:noFill/>
                    </a:lnL>
                    <a:lnR>
                      <a:noFill/>
                    </a:lnR>
                    <a:lnT>
                      <a:noFill/>
                    </a:lnT>
                    <a:lnB>
                      <a:noFill/>
                    </a:lnB>
                    <a:solidFill>
                      <a:srgbClr val="808080"/>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Rear_Camera_MP</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#5   ➖   6.65%</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#7   ➖   0.0182</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3958526675"/>
                  </a:ext>
                </a:extLst>
              </a:tr>
              <a:tr h="272752">
                <a:tc>
                  <a:txBody>
                    <a:bodyPr/>
                    <a:lstStyle/>
                    <a:p>
                      <a:pPr algn="ctr" fontAlgn="ctr">
                        <a:buNone/>
                      </a:pPr>
                      <a:r>
                        <a:rPr lang="en-IN" sz="950" b="1" i="0" u="none" strike="noStrike" dirty="0">
                          <a:solidFill>
                            <a:srgbClr val="4B5563"/>
                          </a:solidFill>
                          <a:effectLst/>
                          <a:latin typeface="Segoe UI" panose="020B0502040204020203" pitchFamily="34" charset="0"/>
                        </a:rPr>
                        <a:t>Negligible</a:t>
                      </a:r>
                    </a:p>
                  </a:txBody>
                  <a:tcPr marL="7620" marR="7620" marT="7620" marB="0" anchor="ctr">
                    <a:lnL>
                      <a:noFill/>
                    </a:lnL>
                    <a:lnR>
                      <a:noFill/>
                    </a:lnR>
                    <a:lnT>
                      <a:noFill/>
                    </a:lnT>
                    <a:lnB>
                      <a:noFill/>
                    </a:lnB>
                    <a:solidFill>
                      <a:srgbClr val="DBDBDB"/>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Proc_Mediatek</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#7   ➖   4.44%</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#8   ➖   0.0062</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1054032373"/>
                  </a:ext>
                </a:extLst>
              </a:tr>
              <a:tr h="272752">
                <a:tc>
                  <a:txBody>
                    <a:bodyPr/>
                    <a:lstStyle/>
                    <a:p>
                      <a:pPr algn="ctr" fontAlgn="ctr">
                        <a:buNone/>
                      </a:pPr>
                      <a:r>
                        <a:rPr lang="en-IN" sz="950" b="1" i="0" u="none" strike="noStrike">
                          <a:solidFill>
                            <a:srgbClr val="4B5563"/>
                          </a:solidFill>
                          <a:effectLst/>
                          <a:latin typeface="Segoe UI" panose="020B0502040204020203" pitchFamily="34" charset="0"/>
                        </a:rPr>
                        <a:t>Negligible</a:t>
                      </a:r>
                    </a:p>
                  </a:txBody>
                  <a:tcPr marL="7620" marR="7620" marT="7620" marB="0" anchor="ctr">
                    <a:lnL>
                      <a:noFill/>
                    </a:lnL>
                    <a:lnR>
                      <a:noFill/>
                    </a:lnR>
                    <a:lnT>
                      <a:noFill/>
                    </a:lnT>
                    <a:lnB>
                      <a:noFill/>
                    </a:lnB>
                    <a:solidFill>
                      <a:srgbClr val="DBDBDB"/>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Proc_Qualcomm</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#9   ➖   1.46%</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#9   ➖   0.0034</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1361610682"/>
                  </a:ext>
                </a:extLst>
              </a:tr>
              <a:tr h="272752">
                <a:tc>
                  <a:txBody>
                    <a:bodyPr/>
                    <a:lstStyle/>
                    <a:p>
                      <a:pPr algn="ctr" fontAlgn="ctr">
                        <a:buNone/>
                      </a:pPr>
                      <a:r>
                        <a:rPr lang="en-IN" sz="950" b="1" i="0" u="none" strike="noStrike" dirty="0">
                          <a:solidFill>
                            <a:srgbClr val="4B5563"/>
                          </a:solidFill>
                          <a:effectLst/>
                          <a:latin typeface="Segoe UI" panose="020B0502040204020203" pitchFamily="34" charset="0"/>
                        </a:rPr>
                        <a:t>Negligible</a:t>
                      </a:r>
                    </a:p>
                  </a:txBody>
                  <a:tcPr marL="7620" marR="7620" marT="7620" marB="0" anchor="ctr">
                    <a:lnL>
                      <a:noFill/>
                    </a:lnL>
                    <a:lnR>
                      <a:noFill/>
                    </a:lnR>
                    <a:lnT>
                      <a:noFill/>
                    </a:lnT>
                    <a:lnB>
                      <a:noFill/>
                    </a:lnB>
                    <a:solidFill>
                      <a:srgbClr val="DBDBDB"/>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Proc_Unisoc</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#11 ➖   0.81%</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#10 ➖   0.0000</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2663007298"/>
                  </a:ext>
                </a:extLst>
              </a:tr>
              <a:tr h="272752">
                <a:tc>
                  <a:txBody>
                    <a:bodyPr/>
                    <a:lstStyle/>
                    <a:p>
                      <a:pPr algn="ctr" fontAlgn="ctr">
                        <a:buNone/>
                      </a:pPr>
                      <a:r>
                        <a:rPr lang="en-IN" sz="950" b="1" i="0" u="none" strike="noStrike" dirty="0">
                          <a:solidFill>
                            <a:srgbClr val="4B5563"/>
                          </a:solidFill>
                          <a:effectLst/>
                          <a:latin typeface="Segoe UI" panose="020B0502040204020203" pitchFamily="34" charset="0"/>
                        </a:rPr>
                        <a:t>Negligible</a:t>
                      </a:r>
                    </a:p>
                  </a:txBody>
                  <a:tcPr marL="7620" marR="7620" marT="7620" marB="0" anchor="ctr">
                    <a:lnL>
                      <a:noFill/>
                    </a:lnL>
                    <a:lnR>
                      <a:noFill/>
                    </a:lnR>
                    <a:lnT>
                      <a:noFill/>
                    </a:lnT>
                    <a:lnB>
                      <a:noFill/>
                    </a:lnB>
                    <a:solidFill>
                      <a:srgbClr val="DBDBDB"/>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Proc_Google</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a:solidFill>
                            <a:srgbClr val="4B5563"/>
                          </a:solidFill>
                          <a:effectLst/>
                          <a:latin typeface="Segoe UI" panose="020B0502040204020203" pitchFamily="34" charset="0"/>
                        </a:rPr>
                        <a:t>#10 ➖   1.41%</a:t>
                      </a:r>
                    </a:p>
                  </a:txBody>
                  <a:tcPr marL="7620" marR="7620" marT="7620" marB="0" anchor="ctr">
                    <a:lnL>
                      <a:noFill/>
                    </a:lnL>
                    <a:lnR>
                      <a:noFill/>
                    </a:lnR>
                    <a:lnT>
                      <a:noFill/>
                    </a:lnT>
                    <a:lnB>
                      <a:noFill/>
                    </a:lnB>
                    <a:solidFill>
                      <a:srgbClr val="F5F4FB"/>
                    </a:solidFill>
                  </a:tcPr>
                </a:tc>
                <a:tc>
                  <a:txBody>
                    <a:bodyPr/>
                    <a:lstStyle/>
                    <a:p>
                      <a:pPr algn="l" fontAlgn="ctr">
                        <a:buNone/>
                      </a:pPr>
                      <a:r>
                        <a:rPr lang="en-IN" sz="950" b="0" i="0" u="none" strike="noStrike" dirty="0">
                          <a:solidFill>
                            <a:srgbClr val="4B5563"/>
                          </a:solidFill>
                          <a:effectLst/>
                          <a:latin typeface="Segoe UI" panose="020B0502040204020203" pitchFamily="34" charset="0"/>
                        </a:rPr>
                        <a:t>#11 ➖  -0.0052</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165181595"/>
                  </a:ext>
                </a:extLst>
              </a:tr>
            </a:tbl>
          </a:graphicData>
        </a:graphic>
      </p:graphicFrame>
      <p:sp>
        <p:nvSpPr>
          <p:cNvPr id="25" name="Shape 12">
            <a:extLst>
              <a:ext uri="{FF2B5EF4-FFF2-40B4-BE49-F238E27FC236}">
                <a16:creationId xmlns:a16="http://schemas.microsoft.com/office/drawing/2014/main" id="{A5B769B7-4A27-441C-D8D1-0BF37376AC81}"/>
              </a:ext>
            </a:extLst>
          </p:cNvPr>
          <p:cNvSpPr/>
          <p:nvPr/>
        </p:nvSpPr>
        <p:spPr>
          <a:xfrm>
            <a:off x="147710" y="655248"/>
            <a:ext cx="4628271" cy="846405"/>
          </a:xfrm>
          <a:prstGeom prst="roundRect">
            <a:avLst>
              <a:gd name="adj" fmla="val 5263"/>
            </a:avLst>
          </a:prstGeom>
          <a:solidFill>
            <a:srgbClr val="E7E7F5"/>
          </a:solidFill>
          <a:ln w="19050">
            <a:solidFill>
              <a:srgbClr val="6200C4"/>
            </a:solidFill>
            <a:prstDash val="solid"/>
          </a:ln>
          <a:effectLst>
            <a:outerShdw blurRad="76200" dist="25400" dir="2700000" algn="bl" rotWithShape="0">
              <a:srgbClr val="000000">
                <a:alpha val="8000"/>
              </a:srgbClr>
            </a:outerShdw>
          </a:effectLst>
        </p:spPr>
        <p:txBody>
          <a:bodyPr/>
          <a:lstStyle/>
          <a:p>
            <a:pPr fontAlgn="ctr"/>
            <a:endParaRPr lang="en-IN" sz="1000" dirty="0">
              <a:solidFill>
                <a:srgbClr val="39A866"/>
              </a:solidFill>
              <a:latin typeface="Segoe UI" panose="020B0502040204020203" pitchFamily="34" charset="0"/>
            </a:endParaRPr>
          </a:p>
        </p:txBody>
      </p:sp>
      <p:graphicFrame>
        <p:nvGraphicFramePr>
          <p:cNvPr id="31" name="Table 30">
            <a:extLst>
              <a:ext uri="{FF2B5EF4-FFF2-40B4-BE49-F238E27FC236}">
                <a16:creationId xmlns:a16="http://schemas.microsoft.com/office/drawing/2014/main" id="{194DEA34-E067-3DE4-50FC-3DB9DCCCDB94}"/>
              </a:ext>
            </a:extLst>
          </p:cNvPr>
          <p:cNvGraphicFramePr>
            <a:graphicFrameLocks noGrp="1"/>
          </p:cNvGraphicFramePr>
          <p:nvPr>
            <p:extLst>
              <p:ext uri="{D42A27DB-BD31-4B8C-83A1-F6EECF244321}">
                <p14:modId xmlns:p14="http://schemas.microsoft.com/office/powerpoint/2010/main" val="2885339485"/>
              </p:ext>
            </p:extLst>
          </p:nvPr>
        </p:nvGraphicFramePr>
        <p:xfrm>
          <a:off x="370840" y="710418"/>
          <a:ext cx="4292600" cy="400667"/>
        </p:xfrm>
        <a:graphic>
          <a:graphicData uri="http://schemas.openxmlformats.org/drawingml/2006/table">
            <a:tbl>
              <a:tblPr/>
              <a:tblGrid>
                <a:gridCol w="4292600">
                  <a:extLst>
                    <a:ext uri="{9D8B030D-6E8A-4147-A177-3AD203B41FA5}">
                      <a16:colId xmlns:a16="http://schemas.microsoft.com/office/drawing/2014/main" val="2795592977"/>
                    </a:ext>
                  </a:extLst>
                </a:gridCol>
              </a:tblGrid>
              <a:tr h="400667">
                <a:tc>
                  <a:txBody>
                    <a:bodyPr/>
                    <a:lstStyle/>
                    <a:p>
                      <a:pPr marR="0" indent="0" algn="ctr" fontAlgn="ctr">
                        <a:spcBef>
                          <a:spcPts val="300"/>
                        </a:spcBef>
                      </a:pPr>
                      <a:r>
                        <a:rPr lang="en-IN" sz="1200" b="1" dirty="0">
                          <a:solidFill>
                            <a:srgbClr val="1E1B4B"/>
                          </a:solidFill>
                          <a:latin typeface="Segoe UI" panose="020B0502040204020203" pitchFamily="34" charset="0"/>
                        </a:rPr>
                        <a:t>FEATURE IMPORTANCE SYNTHESIS </a:t>
                      </a:r>
                    </a:p>
                    <a:p>
                      <a:pPr marR="0" indent="0" algn="ctr" fontAlgn="ctr">
                        <a:spcBef>
                          <a:spcPts val="300"/>
                        </a:spcBef>
                      </a:pPr>
                      <a:r>
                        <a:rPr lang="en-IN" sz="1000" b="0" i="1" dirty="0">
                          <a:solidFill>
                            <a:srgbClr val="1E1B4B"/>
                          </a:solidFill>
                          <a:latin typeface="Segoe UI" panose="020B0502040204020203" pitchFamily="34" charset="0"/>
                        </a:rPr>
                        <a:t>Final Feature Ranking (Permutation-Based)</a:t>
                      </a:r>
                    </a:p>
                  </a:txBody>
                  <a:tcPr marL="7620" marR="7620" marT="7620" marB="0" anchor="ctr">
                    <a:lnL>
                      <a:noFill/>
                    </a:lnL>
                    <a:lnR>
                      <a:noFill/>
                    </a:lnR>
                    <a:lnT>
                      <a:noFill/>
                    </a:lnT>
                    <a:lnB>
                      <a:noFill/>
                    </a:lnB>
                    <a:noFill/>
                  </a:tcPr>
                </a:tc>
                <a:extLst>
                  <a:ext uri="{0D108BD9-81ED-4DB2-BD59-A6C34878D82A}">
                    <a16:rowId xmlns:a16="http://schemas.microsoft.com/office/drawing/2014/main" val="2414246874"/>
                  </a:ext>
                </a:extLst>
              </a:tr>
            </a:tbl>
          </a:graphicData>
        </a:graphic>
      </p:graphicFrame>
      <p:sp>
        <p:nvSpPr>
          <p:cNvPr id="35" name="TextBox 34">
            <a:extLst>
              <a:ext uri="{FF2B5EF4-FFF2-40B4-BE49-F238E27FC236}">
                <a16:creationId xmlns:a16="http://schemas.microsoft.com/office/drawing/2014/main" id="{7FE8AECA-BB38-A5E5-EE00-989403B434F1}"/>
              </a:ext>
            </a:extLst>
          </p:cNvPr>
          <p:cNvSpPr txBox="1"/>
          <p:nvPr/>
        </p:nvSpPr>
        <p:spPr>
          <a:xfrm>
            <a:off x="147710" y="1192266"/>
            <a:ext cx="4628269" cy="230832"/>
          </a:xfrm>
          <a:prstGeom prst="rect">
            <a:avLst/>
          </a:prstGeom>
          <a:noFill/>
        </p:spPr>
        <p:txBody>
          <a:bodyPr wrap="square">
            <a:spAutoFit/>
          </a:bodyPr>
          <a:lstStyle/>
          <a:p>
            <a:pPr algn="ctr"/>
            <a:r>
              <a:rPr lang="en-IN" sz="900" b="0" i="1" dirty="0">
                <a:solidFill>
                  <a:srgbClr val="4B5563"/>
                </a:solidFill>
                <a:effectLst/>
                <a:latin typeface="Segoe UI" panose="020B0502040204020203" pitchFamily="34" charset="0"/>
                <a:cs typeface="Segoe UI" panose="020B0502040204020203" pitchFamily="34" charset="0"/>
              </a:rPr>
              <a:t>Built-in rank is shown for reference only. Final ranking is based on Permutation R² Drop.</a:t>
            </a:r>
            <a:endParaRPr lang="en-IN" sz="900" dirty="0">
              <a:solidFill>
                <a:srgbClr val="4B5563"/>
              </a:solidFill>
              <a:latin typeface="Segoe UI" panose="020B0502040204020203" pitchFamily="34" charset="0"/>
              <a:cs typeface="Segoe UI" panose="020B0502040204020203" pitchFamily="34" charset="0"/>
            </a:endParaRPr>
          </a:p>
        </p:txBody>
      </p:sp>
      <p:sp>
        <p:nvSpPr>
          <p:cNvPr id="37" name="Shape 12">
            <a:extLst>
              <a:ext uri="{FF2B5EF4-FFF2-40B4-BE49-F238E27FC236}">
                <a16:creationId xmlns:a16="http://schemas.microsoft.com/office/drawing/2014/main" id="{5C3FCE6D-2117-D81A-C6A7-BA4FE2ED4FC8}"/>
              </a:ext>
            </a:extLst>
          </p:cNvPr>
          <p:cNvSpPr/>
          <p:nvPr/>
        </p:nvSpPr>
        <p:spPr>
          <a:xfrm>
            <a:off x="5444198" y="651732"/>
            <a:ext cx="3207434" cy="763172"/>
          </a:xfrm>
          <a:prstGeom prst="roundRect">
            <a:avLst>
              <a:gd name="adj" fmla="val 16000"/>
            </a:avLst>
          </a:prstGeom>
          <a:solidFill>
            <a:schemeClr val="accent5">
              <a:lumMod val="20000"/>
              <a:lumOff val="80000"/>
            </a:schemeClr>
          </a:solidFill>
          <a:ln w="12700">
            <a:solidFill>
              <a:schemeClr val="accent5">
                <a:lumMod val="75000"/>
              </a:schemeClr>
            </a:solidFill>
            <a:prstDash val="solid"/>
          </a:ln>
          <a:effectLst>
            <a:outerShdw blurRad="76200" dist="25400" dir="2700000" algn="bl" rotWithShape="0">
              <a:srgbClr val="000000">
                <a:alpha val="8000"/>
              </a:srgbClr>
            </a:outerShdw>
          </a:effectLst>
        </p:spPr>
        <p:txBody>
          <a:bodyPr/>
          <a:lstStyle/>
          <a:p>
            <a:endParaRPr lang="en-IN" sz="1000" dirty="0"/>
          </a:p>
          <a:p>
            <a:r>
              <a:rPr lang="en-IN" sz="1000" dirty="0"/>
              <a:t>🟦 </a:t>
            </a:r>
            <a:r>
              <a:rPr lang="en-IN" sz="1000" dirty="0">
                <a:solidFill>
                  <a:srgbClr val="4B5563"/>
                </a:solidFill>
                <a:latin typeface="Segoe UI" panose="020B0502040204020203" pitchFamily="34" charset="0"/>
                <a:cs typeface="Segoe UI" panose="020B0502040204020203" pitchFamily="34" charset="0"/>
              </a:rPr>
              <a:t>Front Camera remained the most influential feature across both importance methods.</a:t>
            </a:r>
          </a:p>
        </p:txBody>
      </p:sp>
      <p:sp>
        <p:nvSpPr>
          <p:cNvPr id="39" name="Shape 12">
            <a:extLst>
              <a:ext uri="{FF2B5EF4-FFF2-40B4-BE49-F238E27FC236}">
                <a16:creationId xmlns:a16="http://schemas.microsoft.com/office/drawing/2014/main" id="{CBE7AE15-3FA4-532B-649F-669C990F71F7}"/>
              </a:ext>
            </a:extLst>
          </p:cNvPr>
          <p:cNvSpPr/>
          <p:nvPr/>
        </p:nvSpPr>
        <p:spPr>
          <a:xfrm>
            <a:off x="5444198" y="1609797"/>
            <a:ext cx="3207434" cy="907516"/>
          </a:xfrm>
          <a:prstGeom prst="roundRect">
            <a:avLst>
              <a:gd name="adj" fmla="val 16000"/>
            </a:avLst>
          </a:prstGeom>
          <a:solidFill>
            <a:schemeClr val="accent5">
              <a:lumMod val="20000"/>
              <a:lumOff val="80000"/>
            </a:schemeClr>
          </a:solidFill>
          <a:ln w="12700">
            <a:solidFill>
              <a:schemeClr val="accent5">
                <a:lumMod val="75000"/>
              </a:schemeClr>
            </a:solidFill>
            <a:prstDash val="solid"/>
          </a:ln>
          <a:effectLst>
            <a:outerShdw blurRad="76200" dist="25400" dir="2700000" algn="bl" rotWithShape="0">
              <a:srgbClr val="000000">
                <a:alpha val="8000"/>
              </a:srgbClr>
            </a:outerShdw>
          </a:effectLst>
        </p:spPr>
        <p:txBody>
          <a:bodyPr/>
          <a:lstStyle/>
          <a:p>
            <a:endParaRPr lang="en-IN" sz="1000" dirty="0"/>
          </a:p>
          <a:p>
            <a:r>
              <a:rPr lang="en-IN" sz="1000" dirty="0"/>
              <a:t>🟦 </a:t>
            </a:r>
            <a:r>
              <a:rPr lang="en-IN" sz="1000" dirty="0">
                <a:solidFill>
                  <a:srgbClr val="4B5563"/>
                </a:solidFill>
                <a:latin typeface="Segoe UI" panose="020B0502040204020203" pitchFamily="34" charset="0"/>
                <a:cs typeface="Segoe UI" panose="020B0502040204020203" pitchFamily="34" charset="0"/>
              </a:rPr>
              <a:t>Smartphone Model identity ranked second after permutation testing, highlighting strong brand effects beyond hardware alone.</a:t>
            </a:r>
          </a:p>
        </p:txBody>
      </p:sp>
      <p:sp>
        <p:nvSpPr>
          <p:cNvPr id="43" name="Shape 12">
            <a:extLst>
              <a:ext uri="{FF2B5EF4-FFF2-40B4-BE49-F238E27FC236}">
                <a16:creationId xmlns:a16="http://schemas.microsoft.com/office/drawing/2014/main" id="{D02D5A57-B35A-5302-6A90-990703566064}"/>
              </a:ext>
            </a:extLst>
          </p:cNvPr>
          <p:cNvSpPr/>
          <p:nvPr/>
        </p:nvSpPr>
        <p:spPr>
          <a:xfrm>
            <a:off x="5444198" y="2715575"/>
            <a:ext cx="3207434" cy="1226239"/>
          </a:xfrm>
          <a:prstGeom prst="roundRect">
            <a:avLst>
              <a:gd name="adj" fmla="val 16000"/>
            </a:avLst>
          </a:prstGeom>
          <a:solidFill>
            <a:schemeClr val="accent5">
              <a:lumMod val="20000"/>
              <a:lumOff val="80000"/>
            </a:schemeClr>
          </a:solidFill>
          <a:ln w="12700">
            <a:solidFill>
              <a:schemeClr val="accent5">
                <a:lumMod val="75000"/>
              </a:schemeClr>
            </a:solidFill>
            <a:prstDash val="solid"/>
          </a:ln>
          <a:effectLst>
            <a:outerShdw blurRad="76200" dist="25400" dir="2700000" algn="bl" rotWithShape="0">
              <a:srgbClr val="000000">
                <a:alpha val="8000"/>
              </a:srgbClr>
            </a:outerShdw>
          </a:effectLst>
        </p:spPr>
        <p:txBody>
          <a:bodyPr/>
          <a:lstStyle/>
          <a:p>
            <a:endParaRPr lang="en-IN" sz="1000" dirty="0"/>
          </a:p>
          <a:p>
            <a:r>
              <a:rPr lang="en-IN" sz="1000" dirty="0"/>
              <a:t>🟦</a:t>
            </a:r>
            <a:r>
              <a:rPr lang="en-IN" sz="1000" dirty="0">
                <a:solidFill>
                  <a:srgbClr val="4B5563"/>
                </a:solidFill>
                <a:latin typeface="Segoe UI" panose="020B0502040204020203" pitchFamily="34" charset="0"/>
                <a:cs typeface="Segoe UI" panose="020B0502040204020203" pitchFamily="34" charset="0"/>
              </a:rPr>
              <a:t> Memory's rank drops in Permutation Importance due to its strong correlation with RAM (r≈0.60) — RAM partially substitutes for Memory's signal when shuffled, understating its true contribution.</a:t>
            </a:r>
            <a:endParaRPr lang="en-IN" sz="1000" dirty="0"/>
          </a:p>
        </p:txBody>
      </p:sp>
      <p:sp>
        <p:nvSpPr>
          <p:cNvPr id="45" name="Shape 12">
            <a:extLst>
              <a:ext uri="{FF2B5EF4-FFF2-40B4-BE49-F238E27FC236}">
                <a16:creationId xmlns:a16="http://schemas.microsoft.com/office/drawing/2014/main" id="{77B862B4-B3D5-E276-5A66-4A67ED852BD4}"/>
              </a:ext>
            </a:extLst>
          </p:cNvPr>
          <p:cNvSpPr/>
          <p:nvPr/>
        </p:nvSpPr>
        <p:spPr>
          <a:xfrm>
            <a:off x="5444198" y="4140076"/>
            <a:ext cx="3207434" cy="846405"/>
          </a:xfrm>
          <a:prstGeom prst="roundRect">
            <a:avLst>
              <a:gd name="adj" fmla="val 16000"/>
            </a:avLst>
          </a:prstGeom>
          <a:solidFill>
            <a:schemeClr val="accent5">
              <a:lumMod val="20000"/>
              <a:lumOff val="80000"/>
            </a:schemeClr>
          </a:solidFill>
          <a:ln w="12700">
            <a:solidFill>
              <a:schemeClr val="accent5">
                <a:lumMod val="75000"/>
              </a:schemeClr>
            </a:solidFill>
            <a:prstDash val="solid"/>
          </a:ln>
          <a:effectLst>
            <a:outerShdw blurRad="76200" dist="25400" dir="2700000" algn="bl" rotWithShape="0">
              <a:srgbClr val="000000">
                <a:alpha val="8000"/>
              </a:srgbClr>
            </a:outerShdw>
          </a:effectLst>
        </p:spPr>
        <p:txBody>
          <a:bodyPr/>
          <a:lstStyle/>
          <a:p>
            <a:endParaRPr lang="en-IN" sz="1000" dirty="0"/>
          </a:p>
          <a:p>
            <a:r>
              <a:rPr lang="en-IN" sz="1000" dirty="0"/>
              <a:t>🟦 </a:t>
            </a:r>
            <a:r>
              <a:rPr lang="en-IN" sz="1000" dirty="0">
                <a:solidFill>
                  <a:srgbClr val="4B5563"/>
                </a:solidFill>
                <a:latin typeface="Segoe UI" panose="020B0502040204020203" pitchFamily="34" charset="0"/>
                <a:cs typeface="Segoe UI" panose="020B0502040204020203" pitchFamily="34" charset="0"/>
              </a:rPr>
              <a:t>Processor features contributed little additional information after accounting for core hardware specifications.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463124" cy="594360"/>
          </a:xfrm>
          <a:prstGeom prst="rect">
            <a:avLst/>
          </a:prstGeom>
          <a:noFill/>
          <a:ln/>
        </p:spPr>
        <p:txBody>
          <a:bodyPr wrap="square" rtlCol="0" anchor="ctr"/>
          <a:lstStyle/>
          <a:p>
            <a:pPr algn="ctr"/>
            <a:r>
              <a:rPr lang="en-IN" sz="2800" b="1" dirty="0">
                <a:solidFill>
                  <a:srgbClr val="FFFFFF"/>
                </a:solidFill>
                <a:latin typeface="Bahnschrift" panose="020B0502040204020203" pitchFamily="34" charset="0"/>
                <a:ea typeface="Calibri" pitchFamily="34" charset="-122"/>
                <a:cs typeface="Calibri" pitchFamily="34" charset="-120"/>
              </a:rPr>
              <a:t>Final Model</a:t>
            </a:r>
            <a:r>
              <a:rPr lang="en-US" sz="2800" b="1" dirty="0">
                <a:solidFill>
                  <a:srgbClr val="FFFFFF"/>
                </a:solidFill>
                <a:latin typeface="Bahnschrift" panose="020B0502040204020203" pitchFamily="34" charset="0"/>
                <a:ea typeface="Calibri" pitchFamily="34" charset="-122"/>
                <a:cs typeface="Calibri" pitchFamily="34" charset="-120"/>
              </a:rPr>
              <a:t> — </a:t>
            </a:r>
            <a:r>
              <a:rPr lang="en-IN" sz="2800" b="1" dirty="0">
                <a:solidFill>
                  <a:srgbClr val="FFFFFF"/>
                </a:solidFill>
                <a:latin typeface="Bahnschrift" panose="020B0502040204020203" pitchFamily="34" charset="0"/>
                <a:ea typeface="Calibri" pitchFamily="34" charset="-122"/>
                <a:cs typeface="Calibri" pitchFamily="34" charset="-120"/>
              </a:rPr>
              <a:t>Retraining &amp; FCTs</a:t>
            </a:r>
            <a:endParaRPr lang="en-US" sz="2800" b="1" dirty="0">
              <a:solidFill>
                <a:srgbClr val="FFFFFF"/>
              </a:solidFill>
              <a:latin typeface="Bahnschrift" panose="020B0502040204020203" pitchFamily="34" charset="0"/>
              <a:ea typeface="Calibri" pitchFamily="34" charset="-122"/>
              <a:cs typeface="Calibri" pitchFamily="34" charset="-120"/>
            </a:endParaRPr>
          </a:p>
        </p:txBody>
      </p:sp>
      <p:sp>
        <p:nvSpPr>
          <p:cNvPr id="60" name="Shape 12">
            <a:extLst>
              <a:ext uri="{FF2B5EF4-FFF2-40B4-BE49-F238E27FC236}">
                <a16:creationId xmlns:a16="http://schemas.microsoft.com/office/drawing/2014/main" id="{F1286B29-94A5-AA32-381E-2C7CD68C11A2}"/>
              </a:ext>
            </a:extLst>
          </p:cNvPr>
          <p:cNvSpPr/>
          <p:nvPr/>
        </p:nvSpPr>
        <p:spPr>
          <a:xfrm>
            <a:off x="203982" y="707606"/>
            <a:ext cx="8785273" cy="452979"/>
          </a:xfrm>
          <a:prstGeom prst="roundRect">
            <a:avLst>
              <a:gd name="adj" fmla="val 5263"/>
            </a:avLst>
          </a:prstGeom>
          <a:solidFill>
            <a:srgbClr val="E7E7F5"/>
          </a:solidFill>
          <a:ln w="19050">
            <a:solidFill>
              <a:srgbClr val="6200C4"/>
            </a:solidFill>
            <a:prstDash val="solid"/>
          </a:ln>
          <a:effectLst>
            <a:outerShdw blurRad="76200" dist="25400" dir="2700000" algn="bl" rotWithShape="0">
              <a:srgbClr val="000000">
                <a:alpha val="8000"/>
              </a:srgbClr>
            </a:outerShdw>
          </a:effectLst>
        </p:spPr>
        <p:txBody>
          <a:bodyPr/>
          <a:lstStyle/>
          <a:p>
            <a:pPr algn="ctr"/>
            <a:r>
              <a:rPr lang="en-IN" sz="1000" i="1" dirty="0">
                <a:solidFill>
                  <a:srgbClr val="4B5563"/>
                </a:solidFill>
                <a:latin typeface="Segoe UI" panose="020B0502040204020203" pitchFamily="34" charset="0"/>
                <a:cs typeface="Segoe UI" panose="020B0502040204020203" pitchFamily="34" charset="0"/>
              </a:rPr>
              <a:t>Retrained on all 531 samples using the tuned hyperparameters </a:t>
            </a:r>
          </a:p>
          <a:p>
            <a:pPr algn="ctr"/>
            <a:r>
              <a:rPr lang="en-IN" sz="1000" i="1" dirty="0">
                <a:solidFill>
                  <a:srgbClr val="4B5563"/>
                </a:solidFill>
                <a:latin typeface="Segoe UI" panose="020B0502040204020203" pitchFamily="34" charset="0"/>
                <a:cs typeface="Segoe UI" panose="020B0502040204020203" pitchFamily="34" charset="0"/>
              </a:rPr>
              <a:t>(</a:t>
            </a:r>
            <a:r>
              <a:rPr lang="en-IN" sz="1000" b="1" i="1" dirty="0">
                <a:solidFill>
                  <a:srgbClr val="4B5563"/>
                </a:solidFill>
                <a:latin typeface="Segoe UI" panose="020B0502040204020203" pitchFamily="34" charset="0"/>
                <a:cs typeface="Segoe UI" panose="020B0502040204020203" pitchFamily="34" charset="0"/>
              </a:rPr>
              <a:t>learning_rate=0.2, max_depth=3, n_estimators=200, subsample=0.8</a:t>
            </a:r>
            <a:r>
              <a:rPr lang="en-IN" sz="1000" i="1" dirty="0">
                <a:solidFill>
                  <a:srgbClr val="4B5563"/>
                </a:solidFill>
                <a:latin typeface="Segoe UI" panose="020B0502040204020203" pitchFamily="34" charset="0"/>
                <a:cs typeface="Segoe UI" panose="020B0502040204020203" pitchFamily="34" charset="0"/>
              </a:rPr>
              <a:t>) — maximizing information available before deployment.</a:t>
            </a:r>
          </a:p>
        </p:txBody>
      </p:sp>
      <p:graphicFrame>
        <p:nvGraphicFramePr>
          <p:cNvPr id="64" name="Table 63">
            <a:extLst>
              <a:ext uri="{FF2B5EF4-FFF2-40B4-BE49-F238E27FC236}">
                <a16:creationId xmlns:a16="http://schemas.microsoft.com/office/drawing/2014/main" id="{F00C552F-E0B7-F8D6-420A-7CB10EC2B4A7}"/>
              </a:ext>
            </a:extLst>
          </p:cNvPr>
          <p:cNvGraphicFramePr>
            <a:graphicFrameLocks noGrp="1"/>
          </p:cNvGraphicFramePr>
          <p:nvPr>
            <p:extLst>
              <p:ext uri="{D42A27DB-BD31-4B8C-83A1-F6EECF244321}">
                <p14:modId xmlns:p14="http://schemas.microsoft.com/office/powerpoint/2010/main" val="3429113778"/>
              </p:ext>
            </p:extLst>
          </p:nvPr>
        </p:nvGraphicFramePr>
        <p:xfrm>
          <a:off x="2381445" y="1511458"/>
          <a:ext cx="4254500" cy="601980"/>
        </p:xfrm>
        <a:graphic>
          <a:graphicData uri="http://schemas.openxmlformats.org/drawingml/2006/table">
            <a:tbl>
              <a:tblPr/>
              <a:tblGrid>
                <a:gridCol w="1841500">
                  <a:extLst>
                    <a:ext uri="{9D8B030D-6E8A-4147-A177-3AD203B41FA5}">
                      <a16:colId xmlns:a16="http://schemas.microsoft.com/office/drawing/2014/main" val="3277545549"/>
                    </a:ext>
                  </a:extLst>
                </a:gridCol>
                <a:gridCol w="863600">
                  <a:extLst>
                    <a:ext uri="{9D8B030D-6E8A-4147-A177-3AD203B41FA5}">
                      <a16:colId xmlns:a16="http://schemas.microsoft.com/office/drawing/2014/main" val="971300424"/>
                    </a:ext>
                  </a:extLst>
                </a:gridCol>
                <a:gridCol w="774700">
                  <a:extLst>
                    <a:ext uri="{9D8B030D-6E8A-4147-A177-3AD203B41FA5}">
                      <a16:colId xmlns:a16="http://schemas.microsoft.com/office/drawing/2014/main" val="4021120641"/>
                    </a:ext>
                  </a:extLst>
                </a:gridCol>
                <a:gridCol w="774700">
                  <a:extLst>
                    <a:ext uri="{9D8B030D-6E8A-4147-A177-3AD203B41FA5}">
                      <a16:colId xmlns:a16="http://schemas.microsoft.com/office/drawing/2014/main" val="1656001881"/>
                    </a:ext>
                  </a:extLst>
                </a:gridCol>
              </a:tblGrid>
              <a:tr h="220980">
                <a:tc>
                  <a:txBody>
                    <a:bodyPr/>
                    <a:lstStyle/>
                    <a:p>
                      <a:pPr algn="ctr" fontAlgn="ctr">
                        <a:buNone/>
                      </a:pPr>
                      <a:r>
                        <a:rPr lang="en-IN" sz="1100" b="1" i="0" u="none" strike="noStrike" dirty="0">
                          <a:solidFill>
                            <a:srgbClr val="F5F4FB"/>
                          </a:solidFill>
                          <a:effectLst/>
                          <a:latin typeface="Segoe UI" panose="020B0502040204020203" pitchFamily="34" charset="0"/>
                        </a:rPr>
                        <a:t>Configuration</a:t>
                      </a:r>
                    </a:p>
                  </a:txBody>
                  <a:tcPr marL="7620" marR="7620" marT="7620" marB="0" anchor="ctr">
                    <a:lnL w="12700" cap="flat" cmpd="sng" algn="ctr">
                      <a:solidFill>
                        <a:srgbClr val="5C33BE"/>
                      </a:solidFill>
                      <a:prstDash val="solid"/>
                      <a:round/>
                      <a:headEnd type="none" w="med" len="med"/>
                      <a:tailEnd type="none" w="med" len="med"/>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MAE</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R²</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CV R²</a:t>
                      </a:r>
                    </a:p>
                  </a:txBody>
                  <a:tcPr marL="7620" marR="7620" marT="7620" marB="0" anchor="ctr">
                    <a:lnL>
                      <a:noFill/>
                    </a:lnL>
                    <a:lnR w="12700" cap="flat" cmpd="sng" algn="ctr">
                      <a:solidFill>
                        <a:srgbClr val="5C33BE"/>
                      </a:solidFill>
                      <a:prstDash val="solid"/>
                      <a:round/>
                      <a:headEnd type="none" w="med" len="med"/>
                      <a:tailEnd type="none" w="med" len="med"/>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extLst>
                  <a:ext uri="{0D108BD9-81ED-4DB2-BD59-A6C34878D82A}">
                    <a16:rowId xmlns:a16="http://schemas.microsoft.com/office/drawing/2014/main" val="377602035"/>
                  </a:ext>
                </a:extLst>
              </a:tr>
              <a:tr h="190500">
                <a:tc>
                  <a:txBody>
                    <a:bodyPr/>
                    <a:lstStyle/>
                    <a:p>
                      <a:pPr algn="ctr" fontAlgn="ctr">
                        <a:buNone/>
                      </a:pPr>
                      <a:r>
                        <a:rPr lang="en-IN" sz="950" b="0" i="0" u="none" strike="noStrike">
                          <a:solidFill>
                            <a:srgbClr val="4B5563"/>
                          </a:solidFill>
                          <a:effectLst/>
                          <a:latin typeface="Segoe UI" panose="020B0502040204020203" pitchFamily="34" charset="0"/>
                        </a:rPr>
                        <a:t>With Model_Encoded ✅</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1000" b="1" i="0" u="none" strike="noStrike">
                          <a:solidFill>
                            <a:srgbClr val="39A866"/>
                          </a:solidFill>
                          <a:effectLst/>
                          <a:latin typeface="Segoe UI" panose="020B0502040204020203" pitchFamily="34" charset="0"/>
                        </a:rPr>
                        <a:t>₹ 1,558</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1000" b="1" i="0" u="none" strike="noStrike">
                          <a:solidFill>
                            <a:srgbClr val="39A866"/>
                          </a:solidFill>
                          <a:effectLst/>
                          <a:latin typeface="Segoe UI" panose="020B0502040204020203" pitchFamily="34" charset="0"/>
                        </a:rPr>
                        <a:t>0.7868</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1000" b="1" i="0" u="none" strike="noStrike">
                          <a:solidFill>
                            <a:srgbClr val="39A866"/>
                          </a:solidFill>
                          <a:effectLst/>
                          <a:latin typeface="Segoe UI" panose="020B0502040204020203" pitchFamily="34" charset="0"/>
                        </a:rPr>
                        <a:t>0.9100</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extLst>
                  <a:ext uri="{0D108BD9-81ED-4DB2-BD59-A6C34878D82A}">
                    <a16:rowId xmlns:a16="http://schemas.microsoft.com/office/drawing/2014/main" val="1843469195"/>
                  </a:ext>
                </a:extLst>
              </a:tr>
              <a:tr h="190500">
                <a:tc>
                  <a:txBody>
                    <a:bodyPr/>
                    <a:lstStyle/>
                    <a:p>
                      <a:pPr algn="ctr" fontAlgn="ctr">
                        <a:buNone/>
                      </a:pPr>
                      <a:r>
                        <a:rPr lang="en-IN" sz="950" b="0" i="0" u="none" strike="noStrike" dirty="0">
                          <a:solidFill>
                            <a:srgbClr val="4B5563"/>
                          </a:solidFill>
                          <a:effectLst/>
                          <a:latin typeface="Segoe UI" panose="020B0502040204020203" pitchFamily="34" charset="0"/>
                        </a:rPr>
                        <a:t>Without Model_Encoded ❌</a:t>
                      </a:r>
                    </a:p>
                  </a:txBody>
                  <a:tcPr marL="7620" marR="7620" marT="7620" marB="0" anchor="ctr">
                    <a:lnL>
                      <a:noFill/>
                    </a:lnL>
                    <a:lnR>
                      <a:noFill/>
                    </a:lnR>
                    <a:lnT>
                      <a:noFill/>
                    </a:lnT>
                    <a:lnB>
                      <a:noFill/>
                    </a:lnB>
                    <a:solidFill>
                      <a:srgbClr val="F5F4FB"/>
                    </a:solidFill>
                  </a:tcPr>
                </a:tc>
                <a:tc>
                  <a:txBody>
                    <a:bodyPr/>
                    <a:lstStyle/>
                    <a:p>
                      <a:pPr algn="ctr" fontAlgn="ctr">
                        <a:buNone/>
                      </a:pPr>
                      <a:r>
                        <a:rPr lang="en-IN" sz="1000" b="1" i="0" u="none" strike="noStrike">
                          <a:solidFill>
                            <a:srgbClr val="F85149"/>
                          </a:solidFill>
                          <a:effectLst/>
                          <a:latin typeface="Segoe UI" panose="020B0502040204020203" pitchFamily="34" charset="0"/>
                        </a:rPr>
                        <a:t>₹ 1,744</a:t>
                      </a:r>
                    </a:p>
                  </a:txBody>
                  <a:tcPr marL="7620" marR="7620" marT="7620" marB="0" anchor="ctr">
                    <a:lnL>
                      <a:noFill/>
                    </a:lnL>
                    <a:lnR>
                      <a:noFill/>
                    </a:lnR>
                    <a:lnT>
                      <a:noFill/>
                    </a:lnT>
                    <a:lnB>
                      <a:noFill/>
                    </a:lnB>
                    <a:solidFill>
                      <a:srgbClr val="F5F4FB"/>
                    </a:solidFill>
                  </a:tcPr>
                </a:tc>
                <a:tc>
                  <a:txBody>
                    <a:bodyPr/>
                    <a:lstStyle/>
                    <a:p>
                      <a:pPr algn="ctr" fontAlgn="ctr">
                        <a:buNone/>
                      </a:pPr>
                      <a:r>
                        <a:rPr lang="en-IN" sz="1000" b="1" i="0" u="none" strike="noStrike" dirty="0">
                          <a:solidFill>
                            <a:srgbClr val="F85149"/>
                          </a:solidFill>
                          <a:effectLst/>
                          <a:latin typeface="Segoe UI" panose="020B0502040204020203" pitchFamily="34" charset="0"/>
                        </a:rPr>
                        <a:t>0.8440</a:t>
                      </a:r>
                    </a:p>
                  </a:txBody>
                  <a:tcPr marL="7620" marR="7620" marT="7620" marB="0" anchor="ctr">
                    <a:lnL>
                      <a:noFill/>
                    </a:lnL>
                    <a:lnR>
                      <a:noFill/>
                    </a:lnR>
                    <a:lnT>
                      <a:noFill/>
                    </a:lnT>
                    <a:lnB>
                      <a:noFill/>
                    </a:lnB>
                    <a:solidFill>
                      <a:srgbClr val="F5F4FB"/>
                    </a:solidFill>
                  </a:tcPr>
                </a:tc>
                <a:tc>
                  <a:txBody>
                    <a:bodyPr/>
                    <a:lstStyle/>
                    <a:p>
                      <a:pPr algn="ctr" fontAlgn="ctr">
                        <a:buNone/>
                      </a:pPr>
                      <a:r>
                        <a:rPr lang="en-IN" sz="1000" b="1" i="0" u="none" strike="noStrike" dirty="0">
                          <a:solidFill>
                            <a:srgbClr val="F85149"/>
                          </a:solidFill>
                          <a:effectLst/>
                          <a:latin typeface="Segoe UI" panose="020B0502040204020203" pitchFamily="34" charset="0"/>
                        </a:rPr>
                        <a:t>0.6794</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2998482709"/>
                  </a:ext>
                </a:extLst>
              </a:tr>
            </a:tbl>
          </a:graphicData>
        </a:graphic>
      </p:graphicFrame>
      <p:graphicFrame>
        <p:nvGraphicFramePr>
          <p:cNvPr id="66" name="Table 65">
            <a:extLst>
              <a:ext uri="{FF2B5EF4-FFF2-40B4-BE49-F238E27FC236}">
                <a16:creationId xmlns:a16="http://schemas.microsoft.com/office/drawing/2014/main" id="{5A352FA8-7AC2-8AFC-C79D-F9ADC31089B2}"/>
              </a:ext>
            </a:extLst>
          </p:cNvPr>
          <p:cNvGraphicFramePr>
            <a:graphicFrameLocks noGrp="1"/>
          </p:cNvGraphicFramePr>
          <p:nvPr>
            <p:extLst>
              <p:ext uri="{D42A27DB-BD31-4B8C-83A1-F6EECF244321}">
                <p14:modId xmlns:p14="http://schemas.microsoft.com/office/powerpoint/2010/main" val="2216838825"/>
              </p:ext>
            </p:extLst>
          </p:nvPr>
        </p:nvGraphicFramePr>
        <p:xfrm>
          <a:off x="2395514" y="2637629"/>
          <a:ext cx="4254500" cy="601980"/>
        </p:xfrm>
        <a:graphic>
          <a:graphicData uri="http://schemas.openxmlformats.org/drawingml/2006/table">
            <a:tbl>
              <a:tblPr/>
              <a:tblGrid>
                <a:gridCol w="1841500">
                  <a:extLst>
                    <a:ext uri="{9D8B030D-6E8A-4147-A177-3AD203B41FA5}">
                      <a16:colId xmlns:a16="http://schemas.microsoft.com/office/drawing/2014/main" val="2909346638"/>
                    </a:ext>
                  </a:extLst>
                </a:gridCol>
                <a:gridCol w="863600">
                  <a:extLst>
                    <a:ext uri="{9D8B030D-6E8A-4147-A177-3AD203B41FA5}">
                      <a16:colId xmlns:a16="http://schemas.microsoft.com/office/drawing/2014/main" val="1394978366"/>
                    </a:ext>
                  </a:extLst>
                </a:gridCol>
                <a:gridCol w="774700">
                  <a:extLst>
                    <a:ext uri="{9D8B030D-6E8A-4147-A177-3AD203B41FA5}">
                      <a16:colId xmlns:a16="http://schemas.microsoft.com/office/drawing/2014/main" val="2780288029"/>
                    </a:ext>
                  </a:extLst>
                </a:gridCol>
                <a:gridCol w="774700">
                  <a:extLst>
                    <a:ext uri="{9D8B030D-6E8A-4147-A177-3AD203B41FA5}">
                      <a16:colId xmlns:a16="http://schemas.microsoft.com/office/drawing/2014/main" val="4217315638"/>
                    </a:ext>
                  </a:extLst>
                </a:gridCol>
              </a:tblGrid>
              <a:tr h="220980">
                <a:tc>
                  <a:txBody>
                    <a:bodyPr/>
                    <a:lstStyle/>
                    <a:p>
                      <a:pPr algn="ctr" fontAlgn="ctr">
                        <a:buNone/>
                      </a:pPr>
                      <a:r>
                        <a:rPr lang="en-IN" sz="1100" b="1" i="0" u="none" strike="noStrike" dirty="0">
                          <a:solidFill>
                            <a:srgbClr val="F5F4FB"/>
                          </a:solidFill>
                          <a:effectLst/>
                          <a:latin typeface="Segoe UI" panose="020B0502040204020203" pitchFamily="34" charset="0"/>
                        </a:rPr>
                        <a:t>Configuration</a:t>
                      </a:r>
                    </a:p>
                  </a:txBody>
                  <a:tcPr marL="7620" marR="7620" marT="7620" marB="0" anchor="ctr">
                    <a:lnL w="12700" cap="flat" cmpd="sng" algn="ctr">
                      <a:solidFill>
                        <a:srgbClr val="5C33BE"/>
                      </a:solidFill>
                      <a:prstDash val="solid"/>
                      <a:round/>
                      <a:headEnd type="none" w="med" len="med"/>
                      <a:tailEnd type="none" w="med" len="med"/>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MAE</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R²</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CV R²</a:t>
                      </a:r>
                    </a:p>
                  </a:txBody>
                  <a:tcPr marL="7620" marR="7620" marT="7620" marB="0" anchor="ctr">
                    <a:lnL>
                      <a:noFill/>
                    </a:lnL>
                    <a:lnR w="12700" cap="flat" cmpd="sng" algn="ctr">
                      <a:solidFill>
                        <a:srgbClr val="5C33BE"/>
                      </a:solidFill>
                      <a:prstDash val="solid"/>
                      <a:round/>
                      <a:headEnd type="none" w="med" len="med"/>
                      <a:tailEnd type="none" w="med" len="med"/>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extLst>
                  <a:ext uri="{0D108BD9-81ED-4DB2-BD59-A6C34878D82A}">
                    <a16:rowId xmlns:a16="http://schemas.microsoft.com/office/drawing/2014/main" val="1379825393"/>
                  </a:ext>
                </a:extLst>
              </a:tr>
              <a:tr h="190500">
                <a:tc>
                  <a:txBody>
                    <a:bodyPr/>
                    <a:lstStyle/>
                    <a:p>
                      <a:pPr algn="ctr" fontAlgn="ctr">
                        <a:buNone/>
                      </a:pPr>
                      <a:r>
                        <a:rPr lang="en-IN" sz="950" b="0" i="0" u="none" strike="noStrike">
                          <a:solidFill>
                            <a:srgbClr val="4B5563"/>
                          </a:solidFill>
                          <a:effectLst/>
                          <a:latin typeface="Segoe UI" panose="020B0502040204020203" pitchFamily="34" charset="0"/>
                        </a:rPr>
                        <a:t>With Mobile Height ✅</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1000" b="1" i="0" u="none" strike="noStrike">
                          <a:solidFill>
                            <a:srgbClr val="39A866"/>
                          </a:solidFill>
                          <a:effectLst/>
                          <a:latin typeface="Segoe UI" panose="020B0502040204020203" pitchFamily="34" charset="0"/>
                        </a:rPr>
                        <a:t>₹ 1,558</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1000" b="1" i="0" u="none" strike="noStrike">
                          <a:solidFill>
                            <a:srgbClr val="39A866"/>
                          </a:solidFill>
                          <a:effectLst/>
                          <a:latin typeface="Segoe UI" panose="020B0502040204020203" pitchFamily="34" charset="0"/>
                        </a:rPr>
                        <a:t>0.7868</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1000" b="1" i="0" u="none" strike="noStrike">
                          <a:solidFill>
                            <a:srgbClr val="39A866"/>
                          </a:solidFill>
                          <a:effectLst/>
                          <a:latin typeface="Segoe UI" panose="020B0502040204020203" pitchFamily="34" charset="0"/>
                        </a:rPr>
                        <a:t>0.9100</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extLst>
                  <a:ext uri="{0D108BD9-81ED-4DB2-BD59-A6C34878D82A}">
                    <a16:rowId xmlns:a16="http://schemas.microsoft.com/office/drawing/2014/main" val="1094114875"/>
                  </a:ext>
                </a:extLst>
              </a:tr>
              <a:tr h="190500">
                <a:tc>
                  <a:txBody>
                    <a:bodyPr/>
                    <a:lstStyle/>
                    <a:p>
                      <a:pPr algn="ctr" fontAlgn="ctr">
                        <a:buNone/>
                      </a:pPr>
                      <a:r>
                        <a:rPr lang="en-IN" sz="950" b="0" i="0" u="none" strike="noStrike">
                          <a:solidFill>
                            <a:srgbClr val="4B5563"/>
                          </a:solidFill>
                          <a:effectLst/>
                          <a:latin typeface="Segoe UI" panose="020B0502040204020203" pitchFamily="34" charset="0"/>
                        </a:rPr>
                        <a:t>Without Mobile Height ❌</a:t>
                      </a:r>
                    </a:p>
                  </a:txBody>
                  <a:tcPr marL="7620" marR="7620" marT="7620" marB="0" anchor="ctr">
                    <a:lnL>
                      <a:noFill/>
                    </a:lnL>
                    <a:lnR>
                      <a:noFill/>
                    </a:lnR>
                    <a:lnT>
                      <a:noFill/>
                    </a:lnT>
                    <a:lnB>
                      <a:noFill/>
                    </a:lnB>
                    <a:solidFill>
                      <a:srgbClr val="F5F4FB"/>
                    </a:solidFill>
                  </a:tcPr>
                </a:tc>
                <a:tc>
                  <a:txBody>
                    <a:bodyPr/>
                    <a:lstStyle/>
                    <a:p>
                      <a:pPr algn="ctr" fontAlgn="ctr">
                        <a:buNone/>
                      </a:pPr>
                      <a:r>
                        <a:rPr lang="en-IN" sz="1000" b="1" i="0" u="none" strike="noStrike">
                          <a:solidFill>
                            <a:srgbClr val="F85149"/>
                          </a:solidFill>
                          <a:effectLst/>
                          <a:latin typeface="Segoe UI" panose="020B0502040204020203" pitchFamily="34" charset="0"/>
                        </a:rPr>
                        <a:t>₹ 1,574</a:t>
                      </a:r>
                    </a:p>
                  </a:txBody>
                  <a:tcPr marL="7620" marR="7620" marT="7620" marB="0" anchor="ctr">
                    <a:lnL>
                      <a:noFill/>
                    </a:lnL>
                    <a:lnR>
                      <a:noFill/>
                    </a:lnR>
                    <a:lnT>
                      <a:noFill/>
                    </a:lnT>
                    <a:lnB>
                      <a:noFill/>
                    </a:lnB>
                    <a:solidFill>
                      <a:srgbClr val="F5F4FB"/>
                    </a:solidFill>
                  </a:tcPr>
                </a:tc>
                <a:tc>
                  <a:txBody>
                    <a:bodyPr/>
                    <a:lstStyle/>
                    <a:p>
                      <a:pPr algn="ctr" fontAlgn="ctr">
                        <a:buNone/>
                      </a:pPr>
                      <a:r>
                        <a:rPr lang="en-IN" sz="1000" b="1" i="0" u="none" strike="noStrike">
                          <a:solidFill>
                            <a:srgbClr val="F85149"/>
                          </a:solidFill>
                          <a:effectLst/>
                          <a:latin typeface="Segoe UI" panose="020B0502040204020203" pitchFamily="34" charset="0"/>
                        </a:rPr>
                        <a:t>0.7826</a:t>
                      </a:r>
                    </a:p>
                  </a:txBody>
                  <a:tcPr marL="7620" marR="7620" marT="7620" marB="0" anchor="ctr">
                    <a:lnL>
                      <a:noFill/>
                    </a:lnL>
                    <a:lnR>
                      <a:noFill/>
                    </a:lnR>
                    <a:lnT>
                      <a:noFill/>
                    </a:lnT>
                    <a:lnB>
                      <a:noFill/>
                    </a:lnB>
                    <a:solidFill>
                      <a:srgbClr val="F5F4FB"/>
                    </a:solidFill>
                  </a:tcPr>
                </a:tc>
                <a:tc>
                  <a:txBody>
                    <a:bodyPr/>
                    <a:lstStyle/>
                    <a:p>
                      <a:pPr algn="ctr" fontAlgn="ctr">
                        <a:buNone/>
                      </a:pPr>
                      <a:r>
                        <a:rPr lang="en-IN" sz="1000" b="1" i="0" u="none" strike="noStrike" dirty="0">
                          <a:solidFill>
                            <a:srgbClr val="F85149"/>
                          </a:solidFill>
                          <a:effectLst/>
                          <a:latin typeface="Segoe UI" panose="020B0502040204020203" pitchFamily="34" charset="0"/>
                        </a:rPr>
                        <a:t>0.7582</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2578915123"/>
                  </a:ext>
                </a:extLst>
              </a:tr>
            </a:tbl>
          </a:graphicData>
        </a:graphic>
      </p:graphicFrame>
      <p:sp>
        <p:nvSpPr>
          <p:cNvPr id="68" name="Shape 12">
            <a:extLst>
              <a:ext uri="{FF2B5EF4-FFF2-40B4-BE49-F238E27FC236}">
                <a16:creationId xmlns:a16="http://schemas.microsoft.com/office/drawing/2014/main" id="{8112A702-79F9-09A9-B1FB-D52641E7AAF1}"/>
              </a:ext>
            </a:extLst>
          </p:cNvPr>
          <p:cNvSpPr/>
          <p:nvPr/>
        </p:nvSpPr>
        <p:spPr>
          <a:xfrm>
            <a:off x="2278967" y="3569322"/>
            <a:ext cx="4487594" cy="1289306"/>
          </a:xfrm>
          <a:prstGeom prst="roundRect">
            <a:avLst>
              <a:gd name="adj" fmla="val 16000"/>
            </a:avLst>
          </a:prstGeom>
          <a:solidFill>
            <a:schemeClr val="accent6">
              <a:lumMod val="20000"/>
              <a:lumOff val="80000"/>
            </a:schemeClr>
          </a:solidFill>
          <a:ln w="12700">
            <a:solidFill>
              <a:srgbClr val="00B050"/>
            </a:solidFill>
            <a:prstDash val="solid"/>
          </a:ln>
          <a:effectLst>
            <a:outerShdw blurRad="76200" dist="25400" dir="2700000" algn="bl" rotWithShape="0">
              <a:srgbClr val="000000">
                <a:alpha val="8000"/>
              </a:srgbClr>
            </a:outerShdw>
          </a:effectLst>
        </p:spPr>
        <p:txBody>
          <a:bodyPr/>
          <a:lstStyle/>
          <a:p>
            <a:pPr algn="ctr"/>
            <a:endParaRPr lang="en-IN" sz="1000" dirty="0">
              <a:solidFill>
                <a:srgbClr val="4B5563"/>
              </a:solidFill>
              <a:latin typeface="Segoe UI" panose="020B0502040204020203" pitchFamily="34" charset="0"/>
              <a:cs typeface="Segoe UI" panose="020B0502040204020203" pitchFamily="34" charset="0"/>
            </a:endParaRPr>
          </a:p>
          <a:p>
            <a:pPr algn="ctr"/>
            <a:r>
              <a:rPr lang="en-IN" sz="1000" dirty="0">
                <a:solidFill>
                  <a:srgbClr val="4B5563"/>
                </a:solidFill>
                <a:latin typeface="Segoe UI" panose="020B0502040204020203" pitchFamily="34" charset="0"/>
                <a:cs typeface="Segoe UI" panose="020B0502040204020203" pitchFamily="34" charset="0"/>
              </a:rPr>
              <a:t>Both features validated — </a:t>
            </a:r>
          </a:p>
          <a:p>
            <a:pPr algn="ctr"/>
            <a:r>
              <a:rPr lang="en-IN" sz="1000" b="1" dirty="0">
                <a:solidFill>
                  <a:srgbClr val="4B5563"/>
                </a:solidFill>
                <a:latin typeface="Segoe UI" panose="020B0502040204020203" pitchFamily="34" charset="0"/>
                <a:cs typeface="Segoe UI" panose="020B0502040204020203" pitchFamily="34" charset="0"/>
              </a:rPr>
              <a:t>Model_Encoded's</a:t>
            </a:r>
            <a:r>
              <a:rPr lang="en-IN" sz="1000" dirty="0">
                <a:solidFill>
                  <a:srgbClr val="4B5563"/>
                </a:solidFill>
                <a:latin typeface="Segoe UI" panose="020B0502040204020203" pitchFamily="34" charset="0"/>
                <a:cs typeface="Segoe UI" panose="020B0502040204020203" pitchFamily="34" charset="0"/>
              </a:rPr>
              <a:t> CV R² collapse (0.9100→0.6794) confirms it as the smartphone model's primary stabilising feature.</a:t>
            </a:r>
          </a:p>
          <a:p>
            <a:pPr algn="ctr"/>
            <a:endParaRPr lang="en-IN" sz="1000" dirty="0">
              <a:solidFill>
                <a:srgbClr val="4B5563"/>
              </a:solidFill>
              <a:latin typeface="Segoe UI" panose="020B0502040204020203" pitchFamily="34" charset="0"/>
              <a:cs typeface="Segoe UI" panose="020B0502040204020203" pitchFamily="34" charset="0"/>
            </a:endParaRPr>
          </a:p>
          <a:p>
            <a:pPr algn="ctr"/>
            <a:r>
              <a:rPr lang="en-IN" sz="1000" b="1" dirty="0">
                <a:solidFill>
                  <a:srgbClr val="4B5563"/>
                </a:solidFill>
                <a:latin typeface="Segoe UI" panose="020B0502040204020203" pitchFamily="34" charset="0"/>
                <a:cs typeface="Segoe UI" panose="020B0502040204020203" pitchFamily="34" charset="0"/>
              </a:rPr>
              <a:t>Mobile Height</a:t>
            </a:r>
            <a:r>
              <a:rPr lang="en-IN" sz="1000" dirty="0">
                <a:solidFill>
                  <a:srgbClr val="4B5563"/>
                </a:solidFill>
                <a:latin typeface="Segoe UI" panose="020B0502040204020203" pitchFamily="34" charset="0"/>
                <a:cs typeface="Segoe UI" panose="020B0502040204020203" pitchFamily="34" charset="0"/>
              </a:rPr>
              <a:t> shows a fully consistent decline across all three metrics.</a:t>
            </a:r>
          </a:p>
        </p:txBody>
      </p:sp>
      <p:sp>
        <p:nvSpPr>
          <p:cNvPr id="70" name="TextBox 69">
            <a:extLst>
              <a:ext uri="{FF2B5EF4-FFF2-40B4-BE49-F238E27FC236}">
                <a16:creationId xmlns:a16="http://schemas.microsoft.com/office/drawing/2014/main" id="{4EC3EF3E-1E15-F611-872F-FC8F4C9FCD00}"/>
              </a:ext>
            </a:extLst>
          </p:cNvPr>
          <p:cNvSpPr txBox="1"/>
          <p:nvPr/>
        </p:nvSpPr>
        <p:spPr>
          <a:xfrm>
            <a:off x="2282483" y="1214448"/>
            <a:ext cx="4579034" cy="261610"/>
          </a:xfrm>
          <a:prstGeom prst="rect">
            <a:avLst/>
          </a:prstGeom>
          <a:noFill/>
        </p:spPr>
        <p:txBody>
          <a:bodyPr wrap="square">
            <a:spAutoFit/>
          </a:bodyPr>
          <a:lstStyle/>
          <a:p>
            <a:pPr marL="0" indent="0">
              <a:buNone/>
            </a:pPr>
            <a:r>
              <a:rPr lang="en-US" sz="1100" b="1" dirty="0">
                <a:solidFill>
                  <a:srgbClr val="1E1B4B"/>
                </a:solidFill>
                <a:latin typeface="Segoe UI" panose="020B0502040204020203" pitchFamily="34" charset="0"/>
                <a:ea typeface="Calibri" pitchFamily="34" charset="-122"/>
                <a:cs typeface="Segoe UI" panose="020B0502040204020203" pitchFamily="34" charset="0"/>
              </a:rPr>
              <a:t>Feature Contribution Test – Model_Encoded </a:t>
            </a:r>
            <a:endParaRPr lang="en-US" sz="1100" dirty="0">
              <a:latin typeface="Segoe UI" panose="020B0502040204020203" pitchFamily="34" charset="0"/>
              <a:cs typeface="Segoe UI" panose="020B0502040204020203" pitchFamily="34" charset="0"/>
            </a:endParaRPr>
          </a:p>
        </p:txBody>
      </p:sp>
      <p:sp>
        <p:nvSpPr>
          <p:cNvPr id="72" name="TextBox 71">
            <a:extLst>
              <a:ext uri="{FF2B5EF4-FFF2-40B4-BE49-F238E27FC236}">
                <a16:creationId xmlns:a16="http://schemas.microsoft.com/office/drawing/2014/main" id="{0A25D84F-1401-2A61-D9B0-F86B0B580112}"/>
              </a:ext>
            </a:extLst>
          </p:cNvPr>
          <p:cNvSpPr txBox="1"/>
          <p:nvPr/>
        </p:nvSpPr>
        <p:spPr>
          <a:xfrm>
            <a:off x="2307101" y="2354859"/>
            <a:ext cx="4579034" cy="261610"/>
          </a:xfrm>
          <a:prstGeom prst="rect">
            <a:avLst/>
          </a:prstGeom>
          <a:noFill/>
        </p:spPr>
        <p:txBody>
          <a:bodyPr wrap="square">
            <a:spAutoFit/>
          </a:bodyPr>
          <a:lstStyle/>
          <a:p>
            <a:pPr marL="0" indent="0">
              <a:buNone/>
            </a:pPr>
            <a:r>
              <a:rPr lang="en-US" sz="1100" b="1" dirty="0">
                <a:solidFill>
                  <a:srgbClr val="1E1B4B"/>
                </a:solidFill>
                <a:latin typeface="Segoe UI" panose="020B0502040204020203" pitchFamily="34" charset="0"/>
                <a:ea typeface="Calibri" pitchFamily="34" charset="-122"/>
                <a:cs typeface="Segoe UI" panose="020B0502040204020203" pitchFamily="34" charset="0"/>
              </a:rPr>
              <a:t>Feature Contribution Test – Mobile Height </a:t>
            </a:r>
            <a:endParaRPr lang="en-US" sz="1100" dirty="0">
              <a:latin typeface="Segoe UI" panose="020B0502040204020203" pitchFamily="34" charset="0"/>
              <a:cs typeface="Segoe UI" panose="020B0502040204020203"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F5B825C-4314-90E2-C88C-34E7CD1B3AA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6318A4-D3CB-91F4-6F10-9092C135D8B5}"/>
              </a:ext>
            </a:extLst>
          </p:cNvPr>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a:extLst>
              <a:ext uri="{FF2B5EF4-FFF2-40B4-BE49-F238E27FC236}">
                <a16:creationId xmlns:a16="http://schemas.microsoft.com/office/drawing/2014/main" id="{3A554757-F87D-71DC-CA3E-94265E84F183}"/>
              </a:ext>
            </a:extLst>
          </p:cNvPr>
          <p:cNvSpPr/>
          <p:nvPr/>
        </p:nvSpPr>
        <p:spPr>
          <a:xfrm>
            <a:off x="329184" y="0"/>
            <a:ext cx="8442022" cy="594360"/>
          </a:xfrm>
          <a:prstGeom prst="rect">
            <a:avLst/>
          </a:prstGeom>
          <a:noFill/>
          <a:ln/>
        </p:spPr>
        <p:txBody>
          <a:bodyPr wrap="square" rtlCol="0" anchor="ctr"/>
          <a:lstStyle/>
          <a:p>
            <a:pPr algn="ctr"/>
            <a:r>
              <a:rPr lang="en-IN" sz="2800" b="1" dirty="0">
                <a:solidFill>
                  <a:srgbClr val="FFFFFF"/>
                </a:solidFill>
                <a:latin typeface="Bahnschrift" panose="020B0502040204020203" pitchFamily="34" charset="0"/>
                <a:ea typeface="Calibri" pitchFamily="34" charset="-122"/>
                <a:cs typeface="Calibri" pitchFamily="34" charset="-120"/>
              </a:rPr>
              <a:t>Final Model</a:t>
            </a:r>
            <a:r>
              <a:rPr lang="en-US" sz="2800" b="1" dirty="0">
                <a:solidFill>
                  <a:srgbClr val="FFFFFF"/>
                </a:solidFill>
                <a:latin typeface="Bahnschrift" panose="020B0502040204020203" pitchFamily="34" charset="0"/>
                <a:ea typeface="Calibri" pitchFamily="34" charset="-122"/>
                <a:cs typeface="Calibri" pitchFamily="34" charset="-120"/>
              </a:rPr>
              <a:t> — </a:t>
            </a:r>
            <a:r>
              <a:rPr lang="en-IN" sz="2800" b="1" dirty="0">
                <a:solidFill>
                  <a:srgbClr val="FFFFFF"/>
                </a:solidFill>
                <a:latin typeface="Bahnschrift" panose="020B0502040204020203" pitchFamily="34" charset="0"/>
                <a:ea typeface="Calibri" pitchFamily="34" charset="-122"/>
                <a:cs typeface="Calibri" pitchFamily="34" charset="-120"/>
              </a:rPr>
              <a:t>Predictions &amp; Validation</a:t>
            </a:r>
            <a:endParaRPr lang="en-US" sz="2800" b="1" dirty="0">
              <a:solidFill>
                <a:srgbClr val="FFFFFF"/>
              </a:solidFill>
              <a:latin typeface="Bahnschrift" panose="020B0502040204020203" pitchFamily="34" charset="0"/>
              <a:ea typeface="Calibri" pitchFamily="34" charset="-122"/>
              <a:cs typeface="Calibri" pitchFamily="34" charset="-120"/>
            </a:endParaRPr>
          </a:p>
        </p:txBody>
      </p:sp>
      <p:graphicFrame>
        <p:nvGraphicFramePr>
          <p:cNvPr id="60" name="Table 59">
            <a:extLst>
              <a:ext uri="{FF2B5EF4-FFF2-40B4-BE49-F238E27FC236}">
                <a16:creationId xmlns:a16="http://schemas.microsoft.com/office/drawing/2014/main" id="{8D878A9C-718D-8386-468B-23D2C6F1ACE4}"/>
              </a:ext>
            </a:extLst>
          </p:cNvPr>
          <p:cNvGraphicFramePr>
            <a:graphicFrameLocks noGrp="1"/>
          </p:cNvGraphicFramePr>
          <p:nvPr>
            <p:extLst>
              <p:ext uri="{D42A27DB-BD31-4B8C-83A1-F6EECF244321}">
                <p14:modId xmlns:p14="http://schemas.microsoft.com/office/powerpoint/2010/main" val="1284460673"/>
              </p:ext>
            </p:extLst>
          </p:nvPr>
        </p:nvGraphicFramePr>
        <p:xfrm>
          <a:off x="1441450" y="902360"/>
          <a:ext cx="6261100" cy="1557056"/>
        </p:xfrm>
        <a:graphic>
          <a:graphicData uri="http://schemas.openxmlformats.org/drawingml/2006/table">
            <a:tbl>
              <a:tblPr/>
              <a:tblGrid>
                <a:gridCol w="1612900">
                  <a:extLst>
                    <a:ext uri="{9D8B030D-6E8A-4147-A177-3AD203B41FA5}">
                      <a16:colId xmlns:a16="http://schemas.microsoft.com/office/drawing/2014/main" val="3837829023"/>
                    </a:ext>
                  </a:extLst>
                </a:gridCol>
                <a:gridCol w="635000">
                  <a:extLst>
                    <a:ext uri="{9D8B030D-6E8A-4147-A177-3AD203B41FA5}">
                      <a16:colId xmlns:a16="http://schemas.microsoft.com/office/drawing/2014/main" val="2257530359"/>
                    </a:ext>
                  </a:extLst>
                </a:gridCol>
                <a:gridCol w="774700">
                  <a:extLst>
                    <a:ext uri="{9D8B030D-6E8A-4147-A177-3AD203B41FA5}">
                      <a16:colId xmlns:a16="http://schemas.microsoft.com/office/drawing/2014/main" val="287964432"/>
                    </a:ext>
                  </a:extLst>
                </a:gridCol>
                <a:gridCol w="749300">
                  <a:extLst>
                    <a:ext uri="{9D8B030D-6E8A-4147-A177-3AD203B41FA5}">
                      <a16:colId xmlns:a16="http://schemas.microsoft.com/office/drawing/2014/main" val="1828290330"/>
                    </a:ext>
                  </a:extLst>
                </a:gridCol>
                <a:gridCol w="698500">
                  <a:extLst>
                    <a:ext uri="{9D8B030D-6E8A-4147-A177-3AD203B41FA5}">
                      <a16:colId xmlns:a16="http://schemas.microsoft.com/office/drawing/2014/main" val="1133690568"/>
                    </a:ext>
                  </a:extLst>
                </a:gridCol>
                <a:gridCol w="800100">
                  <a:extLst>
                    <a:ext uri="{9D8B030D-6E8A-4147-A177-3AD203B41FA5}">
                      <a16:colId xmlns:a16="http://schemas.microsoft.com/office/drawing/2014/main" val="2277777122"/>
                    </a:ext>
                  </a:extLst>
                </a:gridCol>
                <a:gridCol w="990600">
                  <a:extLst>
                    <a:ext uri="{9D8B030D-6E8A-4147-A177-3AD203B41FA5}">
                      <a16:colId xmlns:a16="http://schemas.microsoft.com/office/drawing/2014/main" val="3787929570"/>
                    </a:ext>
                  </a:extLst>
                </a:gridCol>
              </a:tblGrid>
              <a:tr h="459776">
                <a:tc>
                  <a:txBody>
                    <a:bodyPr/>
                    <a:lstStyle/>
                    <a:p>
                      <a:pPr algn="ctr" fontAlgn="ctr">
                        <a:buNone/>
                      </a:pPr>
                      <a:r>
                        <a:rPr lang="en-IN" sz="1100" b="1" i="0" u="none" strike="noStrike" dirty="0">
                          <a:solidFill>
                            <a:srgbClr val="F5F4FB"/>
                          </a:solidFill>
                          <a:effectLst/>
                          <a:latin typeface="Segoe UI" panose="020B0502040204020203" pitchFamily="34" charset="0"/>
                        </a:rPr>
                        <a:t>Profile</a:t>
                      </a:r>
                    </a:p>
                  </a:txBody>
                  <a:tcPr marL="7620" marR="7620" marT="7620" marB="0" anchor="ctr">
                    <a:lnL w="12700" cap="flat" cmpd="sng" algn="ctr">
                      <a:solidFill>
                        <a:srgbClr val="5C33BE"/>
                      </a:solidFill>
                      <a:prstDash val="solid"/>
                      <a:round/>
                      <a:headEnd type="none" w="med" len="med"/>
                      <a:tailEnd type="none" w="med" len="med"/>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RAM</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Storage</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dirty="0">
                          <a:solidFill>
                            <a:srgbClr val="F5F4FB"/>
                          </a:solidFill>
                          <a:effectLst/>
                          <a:latin typeface="Segoe UI" panose="020B0502040204020203" pitchFamily="34" charset="0"/>
                        </a:rPr>
                        <a:t>Front Camera</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dirty="0">
                          <a:solidFill>
                            <a:srgbClr val="F5F4FB"/>
                          </a:solidFill>
                          <a:effectLst/>
                          <a:latin typeface="Segoe UI" panose="020B0502040204020203" pitchFamily="34" charset="0"/>
                        </a:rPr>
                        <a:t>Rear Camera</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Battery</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Predicted Price (₹)</a:t>
                      </a:r>
                    </a:p>
                  </a:txBody>
                  <a:tcPr marL="7620" marR="7620" marT="7620" marB="0" anchor="ctr">
                    <a:lnL>
                      <a:noFill/>
                    </a:lnL>
                    <a:lnR w="12700" cap="flat" cmpd="sng" algn="ctr">
                      <a:solidFill>
                        <a:srgbClr val="5C33BE"/>
                      </a:solidFill>
                      <a:prstDash val="solid"/>
                      <a:round/>
                      <a:headEnd type="none" w="med" len="med"/>
                      <a:tailEnd type="none" w="med" len="med"/>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extLst>
                  <a:ext uri="{0D108BD9-81ED-4DB2-BD59-A6C34878D82A}">
                    <a16:rowId xmlns:a16="http://schemas.microsoft.com/office/drawing/2014/main" val="2214923166"/>
                  </a:ext>
                </a:extLst>
              </a:tr>
              <a:tr h="182880">
                <a:tc>
                  <a:txBody>
                    <a:bodyPr/>
                    <a:lstStyle/>
                    <a:p>
                      <a:pPr algn="l" fontAlgn="ctr">
                        <a:buNone/>
                      </a:pPr>
                      <a:r>
                        <a:rPr lang="en-IN" sz="950" b="1" i="0" u="none" strike="noStrike">
                          <a:solidFill>
                            <a:srgbClr val="4B5563"/>
                          </a:solidFill>
                          <a:effectLst/>
                          <a:latin typeface="Segoe UI" panose="020B0502040204020203" pitchFamily="34" charset="0"/>
                        </a:rPr>
                        <a:t>Entry Level</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4 GB</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64 GB</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5 MP</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13 MP</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4000 mAh</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950" b="1" i="0" u="none" strike="noStrike">
                          <a:solidFill>
                            <a:srgbClr val="4B5563"/>
                          </a:solidFill>
                          <a:effectLst/>
                          <a:latin typeface="Segoe UI" panose="020B0502040204020203" pitchFamily="34" charset="0"/>
                        </a:rPr>
                        <a:t>₹ 5,166</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extLst>
                  <a:ext uri="{0D108BD9-81ED-4DB2-BD59-A6C34878D82A}">
                    <a16:rowId xmlns:a16="http://schemas.microsoft.com/office/drawing/2014/main" val="4259673401"/>
                  </a:ext>
                </a:extLst>
              </a:tr>
              <a:tr h="182880">
                <a:tc>
                  <a:txBody>
                    <a:bodyPr/>
                    <a:lstStyle/>
                    <a:p>
                      <a:pPr algn="l" fontAlgn="ctr">
                        <a:buNone/>
                      </a:pPr>
                      <a:r>
                        <a:rPr lang="en-IN" sz="950" b="1" i="0" u="none" strike="noStrike">
                          <a:solidFill>
                            <a:srgbClr val="4B5563"/>
                          </a:solidFill>
                          <a:effectLst/>
                          <a:latin typeface="Segoe UI" panose="020B0502040204020203" pitchFamily="34" charset="0"/>
                        </a:rPr>
                        <a:t>Budget</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6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128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13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50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5000 mAh</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1" i="0" u="none" strike="noStrike">
                          <a:solidFill>
                            <a:srgbClr val="4B5563"/>
                          </a:solidFill>
                          <a:effectLst/>
                          <a:latin typeface="Segoe UI" panose="020B0502040204020203" pitchFamily="34" charset="0"/>
                        </a:rPr>
                        <a:t>₹ 15,160</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809810833"/>
                  </a:ext>
                </a:extLst>
              </a:tr>
              <a:tr h="182880">
                <a:tc>
                  <a:txBody>
                    <a:bodyPr/>
                    <a:lstStyle/>
                    <a:p>
                      <a:pPr algn="l" fontAlgn="ctr">
                        <a:buNone/>
                      </a:pPr>
                      <a:r>
                        <a:rPr lang="en-IN" sz="950" b="1" i="0" u="none" strike="noStrike">
                          <a:solidFill>
                            <a:srgbClr val="4B5563"/>
                          </a:solidFill>
                          <a:effectLst/>
                          <a:latin typeface="Segoe UI" panose="020B0502040204020203" pitchFamily="34" charset="0"/>
                        </a:rPr>
                        <a:t>Mid-Range</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8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128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20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64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4500 mAh</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1" i="0" u="none" strike="noStrike">
                          <a:solidFill>
                            <a:srgbClr val="4B5563"/>
                          </a:solidFill>
                          <a:effectLst/>
                          <a:latin typeface="Segoe UI" panose="020B0502040204020203" pitchFamily="34" charset="0"/>
                        </a:rPr>
                        <a:t>₹ 27,700</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1694103438"/>
                  </a:ext>
                </a:extLst>
              </a:tr>
              <a:tr h="182880">
                <a:tc>
                  <a:txBody>
                    <a:bodyPr/>
                    <a:lstStyle/>
                    <a:p>
                      <a:pPr algn="l" fontAlgn="ctr">
                        <a:buNone/>
                      </a:pPr>
                      <a:r>
                        <a:rPr lang="en-IN" sz="950" b="1" i="0" u="none" strike="noStrike">
                          <a:solidFill>
                            <a:srgbClr val="4B5563"/>
                          </a:solidFill>
                          <a:effectLst/>
                          <a:latin typeface="Segoe UI" panose="020B0502040204020203" pitchFamily="34" charset="0"/>
                        </a:rPr>
                        <a:t>Upper Mid</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12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256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32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108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4800 mAh</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1" i="0" u="none" strike="noStrike">
                          <a:solidFill>
                            <a:srgbClr val="4B5563"/>
                          </a:solidFill>
                          <a:effectLst/>
                          <a:latin typeface="Segoe UI" panose="020B0502040204020203" pitchFamily="34" charset="0"/>
                        </a:rPr>
                        <a:t>₹ 31,774</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580795883"/>
                  </a:ext>
                </a:extLst>
              </a:tr>
              <a:tr h="182880">
                <a:tc>
                  <a:txBody>
                    <a:bodyPr/>
                    <a:lstStyle/>
                    <a:p>
                      <a:pPr algn="l" fontAlgn="ctr">
                        <a:buNone/>
                      </a:pPr>
                      <a:r>
                        <a:rPr lang="en-IN" sz="950" b="1" i="0" u="none" strike="noStrike">
                          <a:solidFill>
                            <a:srgbClr val="4B5563"/>
                          </a:solidFill>
                          <a:effectLst/>
                          <a:latin typeface="Segoe UI" panose="020B0502040204020203" pitchFamily="34" charset="0"/>
                        </a:rPr>
                        <a:t>Flagship (Value Brand)</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16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512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50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200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5000 mAh</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1" i="0" u="none" strike="noStrike">
                          <a:solidFill>
                            <a:srgbClr val="4B5563"/>
                          </a:solidFill>
                          <a:effectLst/>
                          <a:latin typeface="Segoe UI" panose="020B0502040204020203" pitchFamily="34" charset="0"/>
                        </a:rPr>
                        <a:t>₹ 33,785</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1012204740"/>
                  </a:ext>
                </a:extLst>
              </a:tr>
              <a:tr h="182880">
                <a:tc>
                  <a:txBody>
                    <a:bodyPr/>
                    <a:lstStyle/>
                    <a:p>
                      <a:pPr algn="l" fontAlgn="ctr">
                        <a:buNone/>
                      </a:pPr>
                      <a:r>
                        <a:rPr lang="en-IN" sz="950" b="1" i="0" u="none" strike="noStrike" dirty="0">
                          <a:solidFill>
                            <a:srgbClr val="4B5563"/>
                          </a:solidFill>
                          <a:effectLst/>
                          <a:latin typeface="Segoe UI" panose="020B0502040204020203" pitchFamily="34" charset="0"/>
                        </a:rPr>
                        <a:t>Flagship (Premium Brand)</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16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512 GB</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50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200 MP</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0" u="none" strike="noStrike">
                          <a:solidFill>
                            <a:srgbClr val="4B5563"/>
                          </a:solidFill>
                          <a:effectLst/>
                          <a:latin typeface="Segoe UI" panose="020B0502040204020203" pitchFamily="34" charset="0"/>
                        </a:rPr>
                        <a:t>5000 mAh</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1" i="0" u="none" strike="noStrike" dirty="0">
                          <a:solidFill>
                            <a:srgbClr val="4B5563"/>
                          </a:solidFill>
                          <a:effectLst/>
                          <a:latin typeface="Segoe UI" panose="020B0502040204020203" pitchFamily="34" charset="0"/>
                        </a:rPr>
                        <a:t>₹ 36,364</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1289531780"/>
                  </a:ext>
                </a:extLst>
              </a:tr>
            </a:tbl>
          </a:graphicData>
        </a:graphic>
      </p:graphicFrame>
      <p:pic>
        <p:nvPicPr>
          <p:cNvPr id="62" name="Picture 61">
            <a:extLst>
              <a:ext uri="{FF2B5EF4-FFF2-40B4-BE49-F238E27FC236}">
                <a16:creationId xmlns:a16="http://schemas.microsoft.com/office/drawing/2014/main" id="{110B3558-A8ED-1044-DEB9-2470A37477A6}"/>
              </a:ext>
            </a:extLst>
          </p:cNvPr>
          <p:cNvPicPr>
            <a:picLocks noChangeAspect="1"/>
          </p:cNvPicPr>
          <p:nvPr/>
        </p:nvPicPr>
        <p:blipFill>
          <a:blip r:embed="rId3"/>
          <a:stretch>
            <a:fillRect/>
          </a:stretch>
        </p:blipFill>
        <p:spPr>
          <a:xfrm>
            <a:off x="408930" y="2482949"/>
            <a:ext cx="4022393" cy="2605538"/>
          </a:xfrm>
          <a:prstGeom prst="rect">
            <a:avLst/>
          </a:prstGeom>
        </p:spPr>
      </p:pic>
      <p:sp>
        <p:nvSpPr>
          <p:cNvPr id="64" name="TextBox 63">
            <a:extLst>
              <a:ext uri="{FF2B5EF4-FFF2-40B4-BE49-F238E27FC236}">
                <a16:creationId xmlns:a16="http://schemas.microsoft.com/office/drawing/2014/main" id="{56CB0D93-A844-3D45-8616-86F2EF22D79F}"/>
              </a:ext>
            </a:extLst>
          </p:cNvPr>
          <p:cNvSpPr txBox="1"/>
          <p:nvPr/>
        </p:nvSpPr>
        <p:spPr>
          <a:xfrm>
            <a:off x="1385668" y="621012"/>
            <a:ext cx="2096086" cy="276999"/>
          </a:xfrm>
          <a:prstGeom prst="rect">
            <a:avLst/>
          </a:prstGeom>
          <a:noFill/>
        </p:spPr>
        <p:txBody>
          <a:bodyPr wrap="square">
            <a:spAutoFit/>
          </a:bodyPr>
          <a:lstStyle/>
          <a:p>
            <a:pPr marL="0" indent="0">
              <a:buNone/>
            </a:pPr>
            <a:r>
              <a:rPr lang="en-US" sz="1200" b="1" dirty="0">
                <a:solidFill>
                  <a:srgbClr val="1E1B4B"/>
                </a:solidFill>
                <a:latin typeface="Segoe UI" panose="020B0502040204020203" pitchFamily="34" charset="0"/>
                <a:ea typeface="Calibri" pitchFamily="34" charset="-122"/>
                <a:cs typeface="Segoe UI" panose="020B0502040204020203" pitchFamily="34" charset="0"/>
              </a:rPr>
              <a:t>Sample Price Predictions </a:t>
            </a:r>
            <a:endParaRPr lang="en-US" sz="1200" dirty="0">
              <a:latin typeface="Segoe UI" panose="020B0502040204020203" pitchFamily="34" charset="0"/>
              <a:cs typeface="Segoe UI" panose="020B0502040204020203" pitchFamily="34" charset="0"/>
            </a:endParaRPr>
          </a:p>
        </p:txBody>
      </p:sp>
      <p:graphicFrame>
        <p:nvGraphicFramePr>
          <p:cNvPr id="66" name="Table 65">
            <a:extLst>
              <a:ext uri="{FF2B5EF4-FFF2-40B4-BE49-F238E27FC236}">
                <a16:creationId xmlns:a16="http://schemas.microsoft.com/office/drawing/2014/main" id="{D196CCAC-6B6C-710D-86D9-47C421B1CCE1}"/>
              </a:ext>
            </a:extLst>
          </p:cNvPr>
          <p:cNvGraphicFramePr>
            <a:graphicFrameLocks noGrp="1"/>
          </p:cNvGraphicFramePr>
          <p:nvPr>
            <p:extLst>
              <p:ext uri="{D42A27DB-BD31-4B8C-83A1-F6EECF244321}">
                <p14:modId xmlns:p14="http://schemas.microsoft.com/office/powerpoint/2010/main" val="1820237253"/>
              </p:ext>
            </p:extLst>
          </p:nvPr>
        </p:nvGraphicFramePr>
        <p:xfrm>
          <a:off x="4572000" y="3070995"/>
          <a:ext cx="4475181" cy="1504285"/>
        </p:xfrm>
        <a:graphic>
          <a:graphicData uri="http://schemas.openxmlformats.org/drawingml/2006/table">
            <a:tbl>
              <a:tblPr/>
              <a:tblGrid>
                <a:gridCol w="1442588">
                  <a:extLst>
                    <a:ext uri="{9D8B030D-6E8A-4147-A177-3AD203B41FA5}">
                      <a16:colId xmlns:a16="http://schemas.microsoft.com/office/drawing/2014/main" val="3375117004"/>
                    </a:ext>
                  </a:extLst>
                </a:gridCol>
                <a:gridCol w="1008852">
                  <a:extLst>
                    <a:ext uri="{9D8B030D-6E8A-4147-A177-3AD203B41FA5}">
                      <a16:colId xmlns:a16="http://schemas.microsoft.com/office/drawing/2014/main" val="388891489"/>
                    </a:ext>
                  </a:extLst>
                </a:gridCol>
                <a:gridCol w="2023741">
                  <a:extLst>
                    <a:ext uri="{9D8B030D-6E8A-4147-A177-3AD203B41FA5}">
                      <a16:colId xmlns:a16="http://schemas.microsoft.com/office/drawing/2014/main" val="185429321"/>
                    </a:ext>
                  </a:extLst>
                </a:gridCol>
              </a:tblGrid>
              <a:tr h="280668">
                <a:tc>
                  <a:txBody>
                    <a:bodyPr/>
                    <a:lstStyle/>
                    <a:p>
                      <a:pPr algn="ctr" fontAlgn="ctr">
                        <a:buNone/>
                      </a:pPr>
                      <a:r>
                        <a:rPr lang="en-IN" sz="1100" b="1" i="0" u="none" strike="noStrike">
                          <a:solidFill>
                            <a:srgbClr val="F5F4FB"/>
                          </a:solidFill>
                          <a:effectLst/>
                          <a:latin typeface="Segoe UI" panose="020B0502040204020203" pitchFamily="34" charset="0"/>
                        </a:rPr>
                        <a:t>Tolerance</a:t>
                      </a:r>
                    </a:p>
                  </a:txBody>
                  <a:tcPr marL="7620" marR="7620" marT="7620" marB="0" anchor="ctr">
                    <a:lnL w="12700" cap="flat" cmpd="sng" algn="ctr">
                      <a:solidFill>
                        <a:srgbClr val="5C33BE"/>
                      </a:solidFill>
                      <a:prstDash val="solid"/>
                      <a:round/>
                      <a:headEnd type="none" w="med" len="med"/>
                      <a:tailEnd type="none" w="med" len="med"/>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a:solidFill>
                            <a:srgbClr val="F5F4FB"/>
                          </a:solidFill>
                          <a:effectLst/>
                          <a:latin typeface="Segoe UI" panose="020B0502040204020203" pitchFamily="34" charset="0"/>
                        </a:rPr>
                        <a:t>% of Predictions</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tc>
                  <a:txBody>
                    <a:bodyPr/>
                    <a:lstStyle/>
                    <a:p>
                      <a:pPr algn="ctr" fontAlgn="ctr">
                        <a:buNone/>
                      </a:pPr>
                      <a:r>
                        <a:rPr lang="en-IN" sz="1100" b="1" i="0" u="none" strike="noStrike" dirty="0">
                          <a:solidFill>
                            <a:srgbClr val="F5F4FB"/>
                          </a:solidFill>
                          <a:effectLst/>
                          <a:latin typeface="Segoe UI" panose="020B0502040204020203" pitchFamily="34" charset="0"/>
                        </a:rPr>
                        <a:t>Business Meaning</a:t>
                      </a:r>
                    </a:p>
                  </a:txBody>
                  <a:tcPr marL="7620" marR="7620" marT="7620" marB="0" anchor="ctr">
                    <a:lnL>
                      <a:noFill/>
                    </a:lnL>
                    <a:lnR>
                      <a:noFill/>
                    </a:lnR>
                    <a:lnT w="12700" cap="flat" cmpd="sng" algn="ctr">
                      <a:solidFill>
                        <a:srgbClr val="5C33BE"/>
                      </a:solidFill>
                      <a:prstDash val="solid"/>
                      <a:round/>
                      <a:headEnd type="none" w="med" len="med"/>
                      <a:tailEnd type="none" w="med" len="med"/>
                    </a:lnT>
                    <a:lnB w="12700" cap="flat" cmpd="sng" algn="ctr">
                      <a:solidFill>
                        <a:srgbClr val="5C33BE"/>
                      </a:solidFill>
                      <a:prstDash val="solid"/>
                      <a:round/>
                      <a:headEnd type="none" w="med" len="med"/>
                      <a:tailEnd type="none" w="med" len="med"/>
                    </a:lnB>
                    <a:solidFill>
                      <a:srgbClr val="1E1B4B"/>
                    </a:solidFill>
                  </a:tcPr>
                </a:tc>
                <a:extLst>
                  <a:ext uri="{0D108BD9-81ED-4DB2-BD59-A6C34878D82A}">
                    <a16:rowId xmlns:a16="http://schemas.microsoft.com/office/drawing/2014/main" val="2251598852"/>
                  </a:ext>
                </a:extLst>
              </a:tr>
              <a:tr h="232277">
                <a:tc>
                  <a:txBody>
                    <a:bodyPr/>
                    <a:lstStyle/>
                    <a:p>
                      <a:pPr algn="l" fontAlgn="ctr">
                        <a:buNone/>
                      </a:pPr>
                      <a:r>
                        <a:rPr lang="en-IN" sz="950" b="0" i="0" u="none" strike="noStrike" dirty="0">
                          <a:solidFill>
                            <a:srgbClr val="4B5563"/>
                          </a:solidFill>
                          <a:effectLst/>
                          <a:latin typeface="Segoe UI" panose="020B0502040204020203" pitchFamily="34" charset="0"/>
                        </a:rPr>
                        <a:t>Within ±10%</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950" b="1" i="0" u="none" strike="noStrike" dirty="0">
                          <a:solidFill>
                            <a:srgbClr val="4B5563"/>
                          </a:solidFill>
                          <a:effectLst/>
                          <a:latin typeface="Segoe UI" panose="020B0502040204020203" pitchFamily="34" charset="0"/>
                        </a:rPr>
                        <a:t>71.03%</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tc>
                  <a:txBody>
                    <a:bodyPr/>
                    <a:lstStyle/>
                    <a:p>
                      <a:pPr algn="ctr" fontAlgn="ctr">
                        <a:buNone/>
                      </a:pPr>
                      <a:r>
                        <a:rPr lang="en-IN" sz="950" b="0" i="1" u="none" strike="noStrike">
                          <a:solidFill>
                            <a:srgbClr val="4B5563"/>
                          </a:solidFill>
                          <a:effectLst/>
                          <a:latin typeface="Segoe UI" panose="020B0502040204020203" pitchFamily="34" charset="0"/>
                        </a:rPr>
                        <a:t>Pricing-ready accuracy</a:t>
                      </a:r>
                    </a:p>
                  </a:txBody>
                  <a:tcPr marL="7620" marR="7620" marT="7620" marB="0" anchor="ctr">
                    <a:lnL>
                      <a:noFill/>
                    </a:lnL>
                    <a:lnR>
                      <a:noFill/>
                    </a:lnR>
                    <a:lnT w="12700" cap="flat" cmpd="sng" algn="ctr">
                      <a:solidFill>
                        <a:srgbClr val="5C33BE"/>
                      </a:solidFill>
                      <a:prstDash val="solid"/>
                      <a:round/>
                      <a:headEnd type="none" w="med" len="med"/>
                      <a:tailEnd type="none" w="med" len="med"/>
                    </a:lnT>
                    <a:lnB>
                      <a:noFill/>
                    </a:lnB>
                    <a:solidFill>
                      <a:srgbClr val="F5F4FB"/>
                    </a:solidFill>
                  </a:tcPr>
                </a:tc>
                <a:extLst>
                  <a:ext uri="{0D108BD9-81ED-4DB2-BD59-A6C34878D82A}">
                    <a16:rowId xmlns:a16="http://schemas.microsoft.com/office/drawing/2014/main" val="3525704269"/>
                  </a:ext>
                </a:extLst>
              </a:tr>
              <a:tr h="232277">
                <a:tc>
                  <a:txBody>
                    <a:bodyPr/>
                    <a:lstStyle/>
                    <a:p>
                      <a:pPr algn="l" fontAlgn="ctr">
                        <a:buNone/>
                      </a:pPr>
                      <a:r>
                        <a:rPr lang="en-IN" sz="950" b="0" i="0" u="none" strike="noStrike">
                          <a:solidFill>
                            <a:srgbClr val="4B5563"/>
                          </a:solidFill>
                          <a:effectLst/>
                          <a:latin typeface="Segoe UI" panose="020B0502040204020203" pitchFamily="34" charset="0"/>
                        </a:rPr>
                        <a:t>Within ±20%</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1" i="0" u="none" strike="noStrike" dirty="0">
                          <a:solidFill>
                            <a:srgbClr val="4B5563"/>
                          </a:solidFill>
                          <a:effectLst/>
                          <a:latin typeface="Segoe UI" panose="020B0502040204020203" pitchFamily="34" charset="0"/>
                        </a:rPr>
                        <a:t>92.52%</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1" u="none" strike="noStrike">
                          <a:solidFill>
                            <a:srgbClr val="4B5563"/>
                          </a:solidFill>
                          <a:effectLst/>
                          <a:latin typeface="Segoe UI" panose="020B0502040204020203" pitchFamily="34" charset="0"/>
                        </a:rPr>
                        <a:t>Acceptable for strategic decisions</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4009957538"/>
                  </a:ext>
                </a:extLst>
              </a:tr>
              <a:tr h="232277">
                <a:tc>
                  <a:txBody>
                    <a:bodyPr/>
                    <a:lstStyle/>
                    <a:p>
                      <a:pPr algn="l" fontAlgn="ctr">
                        <a:buNone/>
                      </a:pPr>
                      <a:r>
                        <a:rPr lang="en-IN" sz="950" b="0" i="0" u="none" strike="noStrike">
                          <a:solidFill>
                            <a:srgbClr val="4B5563"/>
                          </a:solidFill>
                          <a:effectLst/>
                          <a:latin typeface="Segoe UI" panose="020B0502040204020203" pitchFamily="34" charset="0"/>
                        </a:rPr>
                        <a:t>Within ±30%</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1" i="0" u="none" strike="noStrike" dirty="0">
                          <a:solidFill>
                            <a:srgbClr val="4B5563"/>
                          </a:solidFill>
                          <a:effectLst/>
                          <a:latin typeface="Segoe UI" panose="020B0502040204020203" pitchFamily="34" charset="0"/>
                        </a:rPr>
                        <a:t>95.33%</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1" u="none" strike="noStrike">
                          <a:solidFill>
                            <a:srgbClr val="4B5563"/>
                          </a:solidFill>
                          <a:effectLst/>
                          <a:latin typeface="Segoe UI" panose="020B0502040204020203" pitchFamily="34" charset="0"/>
                        </a:rPr>
                        <a:t>Directionally reliable</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15191114"/>
                  </a:ext>
                </a:extLst>
              </a:tr>
              <a:tr h="232277">
                <a:tc>
                  <a:txBody>
                    <a:bodyPr/>
                    <a:lstStyle/>
                    <a:p>
                      <a:pPr algn="l" fontAlgn="ctr">
                        <a:buNone/>
                      </a:pPr>
                      <a:r>
                        <a:rPr lang="en-IN" sz="950" b="0" i="0" u="none" strike="noStrike">
                          <a:solidFill>
                            <a:srgbClr val="4B5563"/>
                          </a:solidFill>
                          <a:effectLst/>
                          <a:latin typeface="Segoe UI" panose="020B0502040204020203" pitchFamily="34" charset="0"/>
                        </a:rPr>
                        <a:t>Mean Absolute % Error</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1" i="0" u="none" strike="noStrike" dirty="0">
                          <a:solidFill>
                            <a:srgbClr val="4B5563"/>
                          </a:solidFill>
                          <a:effectLst/>
                          <a:latin typeface="Segoe UI" panose="020B0502040204020203" pitchFamily="34" charset="0"/>
                        </a:rPr>
                        <a:t>  8.44%</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1" u="none" strike="noStrike">
                          <a:solidFill>
                            <a:srgbClr val="4B5563"/>
                          </a:solidFill>
                          <a:effectLst/>
                          <a:latin typeface="Segoe UI" panose="020B0502040204020203" pitchFamily="34" charset="0"/>
                        </a:rPr>
                        <a:t>Average prediction deviation</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682164031"/>
                  </a:ext>
                </a:extLst>
              </a:tr>
              <a:tr h="232277">
                <a:tc>
                  <a:txBody>
                    <a:bodyPr/>
                    <a:lstStyle/>
                    <a:p>
                      <a:pPr algn="l" fontAlgn="ctr">
                        <a:buNone/>
                      </a:pPr>
                      <a:r>
                        <a:rPr lang="en-IN" sz="950" b="0" i="0" u="none" strike="noStrike">
                          <a:solidFill>
                            <a:srgbClr val="4B5563"/>
                          </a:solidFill>
                          <a:effectLst/>
                          <a:latin typeface="Segoe UI" panose="020B0502040204020203" pitchFamily="34" charset="0"/>
                        </a:rPr>
                        <a:t>Median Absolute % Error</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1" i="0" u="none" strike="noStrike" dirty="0">
                          <a:solidFill>
                            <a:srgbClr val="4B5563"/>
                          </a:solidFill>
                          <a:effectLst/>
                          <a:latin typeface="Segoe UI" panose="020B0502040204020203" pitchFamily="34" charset="0"/>
                        </a:rPr>
                        <a:t>  4.48%</a:t>
                      </a:r>
                    </a:p>
                  </a:txBody>
                  <a:tcPr marL="7620" marR="7620" marT="7620" marB="0" anchor="ctr">
                    <a:lnL>
                      <a:noFill/>
                    </a:lnL>
                    <a:lnR>
                      <a:noFill/>
                    </a:lnR>
                    <a:lnT>
                      <a:noFill/>
                    </a:lnT>
                    <a:lnB>
                      <a:noFill/>
                    </a:lnB>
                    <a:solidFill>
                      <a:srgbClr val="F5F4FB"/>
                    </a:solidFill>
                  </a:tcPr>
                </a:tc>
                <a:tc>
                  <a:txBody>
                    <a:bodyPr/>
                    <a:lstStyle/>
                    <a:p>
                      <a:pPr algn="ctr" fontAlgn="ctr">
                        <a:buNone/>
                      </a:pPr>
                      <a:r>
                        <a:rPr lang="en-IN" sz="950" b="0" i="1" u="none" strike="noStrike" dirty="0">
                          <a:solidFill>
                            <a:srgbClr val="4B5563"/>
                          </a:solidFill>
                          <a:effectLst/>
                          <a:latin typeface="Segoe UI" panose="020B0502040204020203" pitchFamily="34" charset="0"/>
                        </a:rPr>
                        <a:t>Typical prediction deviation</a:t>
                      </a:r>
                    </a:p>
                  </a:txBody>
                  <a:tcPr marL="7620" marR="7620" marT="7620" marB="0" anchor="ctr">
                    <a:lnL>
                      <a:noFill/>
                    </a:lnL>
                    <a:lnR>
                      <a:noFill/>
                    </a:lnR>
                    <a:lnT>
                      <a:noFill/>
                    </a:lnT>
                    <a:lnB>
                      <a:noFill/>
                    </a:lnB>
                    <a:solidFill>
                      <a:srgbClr val="F5F4FB"/>
                    </a:solidFill>
                  </a:tcPr>
                </a:tc>
                <a:extLst>
                  <a:ext uri="{0D108BD9-81ED-4DB2-BD59-A6C34878D82A}">
                    <a16:rowId xmlns:a16="http://schemas.microsoft.com/office/drawing/2014/main" val="3171817949"/>
                  </a:ext>
                </a:extLst>
              </a:tr>
            </a:tbl>
          </a:graphicData>
        </a:graphic>
      </p:graphicFrame>
      <p:sp>
        <p:nvSpPr>
          <p:cNvPr id="68" name="TextBox 67">
            <a:extLst>
              <a:ext uri="{FF2B5EF4-FFF2-40B4-BE49-F238E27FC236}">
                <a16:creationId xmlns:a16="http://schemas.microsoft.com/office/drawing/2014/main" id="{F3AB2013-E64F-C8D9-0F42-C979E3098FD0}"/>
              </a:ext>
            </a:extLst>
          </p:cNvPr>
          <p:cNvSpPr txBox="1"/>
          <p:nvPr/>
        </p:nvSpPr>
        <p:spPr>
          <a:xfrm>
            <a:off x="4639994" y="2763464"/>
            <a:ext cx="3336387" cy="276999"/>
          </a:xfrm>
          <a:prstGeom prst="rect">
            <a:avLst/>
          </a:prstGeom>
          <a:noFill/>
        </p:spPr>
        <p:txBody>
          <a:bodyPr wrap="square">
            <a:spAutoFit/>
          </a:bodyPr>
          <a:lstStyle/>
          <a:p>
            <a:pPr marL="0" indent="0">
              <a:buNone/>
            </a:pPr>
            <a:r>
              <a:rPr lang="en-US" sz="1200" b="1" dirty="0">
                <a:solidFill>
                  <a:srgbClr val="1E1B4B"/>
                </a:solidFill>
                <a:latin typeface="Segoe UI" panose="020B0502040204020203" pitchFamily="34" charset="0"/>
                <a:ea typeface="Calibri" pitchFamily="34" charset="-122"/>
                <a:cs typeface="Segoe UI" panose="020B0502040204020203" pitchFamily="34" charset="0"/>
              </a:rPr>
              <a:t>Prediction Accuracy Summary</a:t>
            </a:r>
            <a:endParaRPr lang="en-US" sz="1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0703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p:cNvSpPr/>
          <p:nvPr/>
        </p:nvSpPr>
        <p:spPr>
          <a:xfrm>
            <a:off x="329184" y="0"/>
            <a:ext cx="8476488"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Business Recommendations</a:t>
            </a:r>
            <a:endParaRPr lang="en-US" sz="2800" dirty="0">
              <a:latin typeface="Bahnschrift" panose="020B0502040204020203" pitchFamily="34" charset="0"/>
            </a:endParaRPr>
          </a:p>
        </p:txBody>
      </p:sp>
      <p:sp>
        <p:nvSpPr>
          <p:cNvPr id="6" name="Shape 4"/>
          <p:cNvSpPr/>
          <p:nvPr/>
        </p:nvSpPr>
        <p:spPr>
          <a:xfrm>
            <a:off x="274320" y="950976"/>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7" name="Shape 5"/>
          <p:cNvSpPr/>
          <p:nvPr/>
        </p:nvSpPr>
        <p:spPr>
          <a:xfrm>
            <a:off x="365760" y="1042416"/>
            <a:ext cx="274320" cy="274320"/>
          </a:xfrm>
          <a:prstGeom prst="ellipse">
            <a:avLst/>
          </a:prstGeom>
          <a:solidFill>
            <a:srgbClr val="5C33BE"/>
          </a:solidFill>
          <a:ln w="12700">
            <a:solidFill>
              <a:srgbClr val="5C33BE"/>
            </a:solidFill>
            <a:prstDash val="solid"/>
          </a:ln>
        </p:spPr>
        <p:txBody>
          <a:bodyPr/>
          <a:lstStyle/>
          <a:p>
            <a:endParaRPr lang="en-IN"/>
          </a:p>
        </p:txBody>
      </p:sp>
      <p:sp>
        <p:nvSpPr>
          <p:cNvPr id="8" name="Text 6"/>
          <p:cNvSpPr/>
          <p:nvPr/>
        </p:nvSpPr>
        <p:spPr>
          <a:xfrm>
            <a:off x="365760" y="1042416"/>
            <a:ext cx="274320" cy="274320"/>
          </a:xfrm>
          <a:prstGeom prst="rect">
            <a:avLst/>
          </a:prstGeom>
          <a:noFill/>
          <a:ln/>
        </p:spPr>
        <p:txBody>
          <a:bodyPr wrap="square" rtlCol="0" anchor="ctr"/>
          <a:lstStyle/>
          <a:p>
            <a:pPr marL="0"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1</a:t>
            </a:r>
            <a:endParaRPr lang="en-US" sz="1100" dirty="0">
              <a:latin typeface="Segoe UI" panose="020B0502040204020203" pitchFamily="34" charset="0"/>
              <a:cs typeface="Segoe UI" panose="020B0502040204020203" pitchFamily="34" charset="0"/>
            </a:endParaRPr>
          </a:p>
        </p:txBody>
      </p:sp>
      <p:sp>
        <p:nvSpPr>
          <p:cNvPr id="9" name="Text 7"/>
          <p:cNvSpPr/>
          <p:nvPr/>
        </p:nvSpPr>
        <p:spPr>
          <a:xfrm>
            <a:off x="713232" y="1042416"/>
            <a:ext cx="3657600" cy="256032"/>
          </a:xfrm>
          <a:prstGeom prst="rect">
            <a:avLst/>
          </a:prstGeom>
          <a:noFill/>
          <a:ln/>
        </p:spPr>
        <p:txBody>
          <a:bodyPr wrap="square" rtlCol="0" anchor="ctr"/>
          <a:lstStyle/>
          <a:p>
            <a:r>
              <a:rPr lang="en-IN" sz="1100" b="1" dirty="0">
                <a:solidFill>
                  <a:srgbClr val="1E1B4B"/>
                </a:solidFill>
                <a:latin typeface="Segoe UI" panose="020B0502040204020203" pitchFamily="34" charset="0"/>
                <a:ea typeface="Calibri" pitchFamily="34" charset="-122"/>
                <a:cs typeface="Segoe UI" panose="020B0502040204020203" pitchFamily="34" charset="0"/>
              </a:rPr>
              <a:t>Prioritise Front Camera Quality</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10" name="Text 8"/>
          <p:cNvSpPr/>
          <p:nvPr/>
        </p:nvSpPr>
        <p:spPr>
          <a:xfrm>
            <a:off x="384048" y="1353312"/>
            <a:ext cx="3968496" cy="603504"/>
          </a:xfrm>
          <a:prstGeom prst="rect">
            <a:avLst/>
          </a:prstGeom>
          <a:noFill/>
          <a:ln/>
        </p:spPr>
        <p:txBody>
          <a:bodyPr wrap="square" rtlCol="0" anchor="ctr"/>
          <a:lstStyle/>
          <a:p>
            <a:pPr algn="ctr"/>
            <a:r>
              <a:rPr lang="en-IN" sz="1000" i="1" dirty="0">
                <a:solidFill>
                  <a:srgbClr val="4B5563"/>
                </a:solidFill>
                <a:latin typeface="Segoe UI" panose="020B0502040204020203" pitchFamily="34" charset="0"/>
                <a:cs typeface="Segoe UI" panose="020B0502040204020203" pitchFamily="34" charset="0"/>
              </a:rPr>
              <a:t>Permutation R² drop of 0.36, the model's strongest price driver</a:t>
            </a:r>
            <a:endParaRPr lang="en-US" sz="1000" i="1" dirty="0">
              <a:solidFill>
                <a:srgbClr val="4B5563"/>
              </a:solidFill>
              <a:latin typeface="Segoe UI" panose="020B0502040204020203" pitchFamily="34" charset="0"/>
              <a:cs typeface="Segoe UI" panose="020B0502040204020203" pitchFamily="34" charset="0"/>
            </a:endParaRPr>
          </a:p>
        </p:txBody>
      </p:sp>
      <p:sp>
        <p:nvSpPr>
          <p:cNvPr id="12" name="Shape 10"/>
          <p:cNvSpPr/>
          <p:nvPr/>
        </p:nvSpPr>
        <p:spPr>
          <a:xfrm>
            <a:off x="4709160" y="950976"/>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3" name="Shape 11"/>
          <p:cNvSpPr/>
          <p:nvPr/>
        </p:nvSpPr>
        <p:spPr>
          <a:xfrm>
            <a:off x="4800600" y="1042416"/>
            <a:ext cx="274320" cy="274320"/>
          </a:xfrm>
          <a:prstGeom prst="ellipse">
            <a:avLst/>
          </a:prstGeom>
          <a:solidFill>
            <a:srgbClr val="5C33BE"/>
          </a:solidFill>
          <a:ln w="12700">
            <a:solidFill>
              <a:srgbClr val="5C33BE"/>
            </a:solidFill>
            <a:prstDash val="solid"/>
          </a:ln>
        </p:spPr>
        <p:txBody>
          <a:bodyPr/>
          <a:lstStyle/>
          <a:p>
            <a:endParaRPr lang="en-IN"/>
          </a:p>
        </p:txBody>
      </p:sp>
      <p:sp>
        <p:nvSpPr>
          <p:cNvPr id="14" name="Text 12"/>
          <p:cNvSpPr/>
          <p:nvPr/>
        </p:nvSpPr>
        <p:spPr>
          <a:xfrm>
            <a:off x="4800600" y="1042416"/>
            <a:ext cx="274320" cy="274320"/>
          </a:xfrm>
          <a:prstGeom prst="rect">
            <a:avLst/>
          </a:prstGeom>
          <a:noFill/>
          <a:ln/>
        </p:spPr>
        <p:txBody>
          <a:bodyPr wrap="square" rtlCol="0" anchor="ctr"/>
          <a:lstStyle/>
          <a:p>
            <a:pPr marL="0"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2</a:t>
            </a:r>
            <a:endParaRPr lang="en-US" sz="1100" dirty="0">
              <a:latin typeface="Segoe UI" panose="020B0502040204020203" pitchFamily="34" charset="0"/>
              <a:cs typeface="Segoe UI" panose="020B0502040204020203" pitchFamily="34" charset="0"/>
            </a:endParaRPr>
          </a:p>
        </p:txBody>
      </p:sp>
      <p:sp>
        <p:nvSpPr>
          <p:cNvPr id="15" name="Text 13"/>
          <p:cNvSpPr/>
          <p:nvPr/>
        </p:nvSpPr>
        <p:spPr>
          <a:xfrm>
            <a:off x="5148072" y="1042416"/>
            <a:ext cx="3657600" cy="256032"/>
          </a:xfrm>
          <a:prstGeom prst="rect">
            <a:avLst/>
          </a:prstGeom>
          <a:noFill/>
          <a:ln/>
        </p:spPr>
        <p:txBody>
          <a:bodyPr wrap="square" rtlCol="0" anchor="ctr"/>
          <a:lstStyle/>
          <a:p>
            <a:r>
              <a:rPr lang="en-IN" sz="1100" b="1" dirty="0">
                <a:solidFill>
                  <a:srgbClr val="1E1B4B"/>
                </a:solidFill>
                <a:latin typeface="Segoe UI" panose="020B0502040204020203" pitchFamily="34" charset="0"/>
                <a:ea typeface="Calibri" pitchFamily="34" charset="-122"/>
                <a:cs typeface="Segoe UI" panose="020B0502040204020203" pitchFamily="34" charset="0"/>
              </a:rPr>
              <a:t>Treat Battery as Non-Linear</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16" name="Text 14"/>
          <p:cNvSpPr/>
          <p:nvPr/>
        </p:nvSpPr>
        <p:spPr>
          <a:xfrm>
            <a:off x="4818888" y="1353312"/>
            <a:ext cx="3968496" cy="603504"/>
          </a:xfrm>
          <a:prstGeom prst="rect">
            <a:avLst/>
          </a:prstGeom>
          <a:noFill/>
          <a:ln/>
        </p:spPr>
        <p:txBody>
          <a:bodyPr wrap="square" rtlCol="0" anchor="ctr"/>
          <a:lstStyle/>
          <a:p>
            <a:pPr algn="ctr"/>
            <a:r>
              <a:rPr lang="en-IN" sz="1000" i="1" dirty="0">
                <a:solidFill>
                  <a:srgbClr val="4B5563"/>
                </a:solidFill>
                <a:latin typeface="Segoe UI" panose="020B0502040204020203" pitchFamily="34" charset="0"/>
                <a:cs typeface="Segoe UI" panose="020B0502040204020203" pitchFamily="34" charset="0"/>
              </a:rPr>
              <a:t>Near-zero correlation, yet removing it worsens MAE by ₹319</a:t>
            </a:r>
            <a:endParaRPr lang="en-US" sz="1000" i="1" dirty="0">
              <a:solidFill>
                <a:srgbClr val="4B5563"/>
              </a:solidFill>
              <a:latin typeface="Segoe UI" panose="020B0502040204020203" pitchFamily="34" charset="0"/>
              <a:cs typeface="Segoe UI" panose="020B0502040204020203" pitchFamily="34" charset="0"/>
            </a:endParaRPr>
          </a:p>
        </p:txBody>
      </p:sp>
      <p:sp>
        <p:nvSpPr>
          <p:cNvPr id="18" name="Shape 16"/>
          <p:cNvSpPr/>
          <p:nvPr/>
        </p:nvSpPr>
        <p:spPr>
          <a:xfrm>
            <a:off x="274320" y="2340864"/>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9" name="Shape 17"/>
          <p:cNvSpPr/>
          <p:nvPr/>
        </p:nvSpPr>
        <p:spPr>
          <a:xfrm>
            <a:off x="365760" y="2432304"/>
            <a:ext cx="274320" cy="274320"/>
          </a:xfrm>
          <a:prstGeom prst="ellipse">
            <a:avLst/>
          </a:prstGeom>
          <a:solidFill>
            <a:srgbClr val="5C33BE"/>
          </a:solidFill>
          <a:ln w="12700">
            <a:solidFill>
              <a:srgbClr val="5C33BE"/>
            </a:solidFill>
            <a:prstDash val="solid"/>
          </a:ln>
        </p:spPr>
        <p:txBody>
          <a:bodyPr/>
          <a:lstStyle/>
          <a:p>
            <a:endParaRPr lang="en-IN"/>
          </a:p>
        </p:txBody>
      </p:sp>
      <p:sp>
        <p:nvSpPr>
          <p:cNvPr id="20" name="Text 18"/>
          <p:cNvSpPr/>
          <p:nvPr/>
        </p:nvSpPr>
        <p:spPr>
          <a:xfrm>
            <a:off x="365760" y="2432304"/>
            <a:ext cx="274320" cy="274320"/>
          </a:xfrm>
          <a:prstGeom prst="rect">
            <a:avLst/>
          </a:prstGeom>
          <a:noFill/>
          <a:ln/>
        </p:spPr>
        <p:txBody>
          <a:bodyPr wrap="square" rtlCol="0" anchor="ctr"/>
          <a:lstStyle/>
          <a:p>
            <a:pPr marL="0"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3</a:t>
            </a:r>
            <a:endParaRPr lang="en-US" sz="1100" dirty="0">
              <a:latin typeface="Segoe UI" panose="020B0502040204020203" pitchFamily="34" charset="0"/>
              <a:cs typeface="Segoe UI" panose="020B0502040204020203" pitchFamily="34" charset="0"/>
            </a:endParaRPr>
          </a:p>
        </p:txBody>
      </p:sp>
      <p:sp>
        <p:nvSpPr>
          <p:cNvPr id="21" name="Text 19"/>
          <p:cNvSpPr/>
          <p:nvPr/>
        </p:nvSpPr>
        <p:spPr>
          <a:xfrm>
            <a:off x="713232" y="2432304"/>
            <a:ext cx="3657600" cy="256032"/>
          </a:xfrm>
          <a:prstGeom prst="rect">
            <a:avLst/>
          </a:prstGeom>
          <a:noFill/>
          <a:ln/>
        </p:spPr>
        <p:txBody>
          <a:bodyPr wrap="square" rtlCol="0" anchor="ctr"/>
          <a:lstStyle/>
          <a:p>
            <a:r>
              <a:rPr lang="en-IN" sz="1100" b="1" dirty="0">
                <a:solidFill>
                  <a:srgbClr val="1E1B4B"/>
                </a:solidFill>
                <a:latin typeface="Segoe UI" panose="020B0502040204020203" pitchFamily="34" charset="0"/>
                <a:ea typeface="Calibri" pitchFamily="34" charset="-122"/>
                <a:cs typeface="Segoe UI" panose="020B0502040204020203" pitchFamily="34" charset="0"/>
              </a:rPr>
              <a:t>Maintain Product Positioning</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22" name="Text 20"/>
          <p:cNvSpPr/>
          <p:nvPr/>
        </p:nvSpPr>
        <p:spPr>
          <a:xfrm>
            <a:off x="384048" y="2743200"/>
            <a:ext cx="3968496" cy="603504"/>
          </a:xfrm>
          <a:prstGeom prst="rect">
            <a:avLst/>
          </a:prstGeom>
          <a:noFill/>
          <a:ln/>
        </p:spPr>
        <p:txBody>
          <a:bodyPr wrap="square" rtlCol="0" anchor="ctr"/>
          <a:lstStyle/>
          <a:p>
            <a:pPr algn="ctr"/>
            <a:r>
              <a:rPr lang="en-IN" sz="1000" i="1" dirty="0">
                <a:solidFill>
                  <a:srgbClr val="4B5563"/>
                </a:solidFill>
                <a:latin typeface="Segoe UI" panose="020B0502040204020203" pitchFamily="34" charset="0"/>
                <a:cs typeface="Segoe UI" panose="020B0502040204020203" pitchFamily="34" charset="0"/>
              </a:rPr>
              <a:t>Brand/model identity adds pricing power beyond specs</a:t>
            </a:r>
            <a:endParaRPr lang="en-US" sz="1000" i="1" dirty="0">
              <a:solidFill>
                <a:srgbClr val="4B5563"/>
              </a:solidFill>
              <a:latin typeface="Segoe UI" panose="020B0502040204020203" pitchFamily="34" charset="0"/>
              <a:cs typeface="Segoe UI" panose="020B0502040204020203" pitchFamily="34" charset="0"/>
            </a:endParaRPr>
          </a:p>
        </p:txBody>
      </p:sp>
      <p:sp>
        <p:nvSpPr>
          <p:cNvPr id="24" name="Shape 22"/>
          <p:cNvSpPr/>
          <p:nvPr/>
        </p:nvSpPr>
        <p:spPr>
          <a:xfrm>
            <a:off x="4709160" y="2340864"/>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25" name="Shape 23"/>
          <p:cNvSpPr/>
          <p:nvPr/>
        </p:nvSpPr>
        <p:spPr>
          <a:xfrm>
            <a:off x="4800600" y="2432304"/>
            <a:ext cx="274320" cy="274320"/>
          </a:xfrm>
          <a:prstGeom prst="ellipse">
            <a:avLst/>
          </a:prstGeom>
          <a:solidFill>
            <a:srgbClr val="5C33BE"/>
          </a:solidFill>
          <a:ln w="12700">
            <a:solidFill>
              <a:srgbClr val="5C33BE"/>
            </a:solidFill>
            <a:prstDash val="solid"/>
          </a:ln>
        </p:spPr>
        <p:txBody>
          <a:bodyPr/>
          <a:lstStyle/>
          <a:p>
            <a:endParaRPr lang="en-IN"/>
          </a:p>
        </p:txBody>
      </p:sp>
      <p:sp>
        <p:nvSpPr>
          <p:cNvPr id="26" name="Text 24"/>
          <p:cNvSpPr/>
          <p:nvPr/>
        </p:nvSpPr>
        <p:spPr>
          <a:xfrm>
            <a:off x="4800600" y="2432304"/>
            <a:ext cx="274320" cy="274320"/>
          </a:xfrm>
          <a:prstGeom prst="rect">
            <a:avLst/>
          </a:prstGeom>
          <a:noFill/>
          <a:ln/>
        </p:spPr>
        <p:txBody>
          <a:bodyPr wrap="square" rtlCol="0" anchor="ctr"/>
          <a:lstStyle/>
          <a:p>
            <a:pPr marL="0"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4</a:t>
            </a:r>
            <a:endParaRPr lang="en-US" sz="1100" dirty="0">
              <a:latin typeface="Segoe UI" panose="020B0502040204020203" pitchFamily="34" charset="0"/>
              <a:cs typeface="Segoe UI" panose="020B0502040204020203" pitchFamily="34" charset="0"/>
            </a:endParaRPr>
          </a:p>
        </p:txBody>
      </p:sp>
      <p:sp>
        <p:nvSpPr>
          <p:cNvPr id="27" name="Text 25"/>
          <p:cNvSpPr/>
          <p:nvPr/>
        </p:nvSpPr>
        <p:spPr>
          <a:xfrm>
            <a:off x="5148072" y="2432304"/>
            <a:ext cx="3657600" cy="256032"/>
          </a:xfrm>
          <a:prstGeom prst="rect">
            <a:avLst/>
          </a:prstGeom>
          <a:noFill/>
          <a:ln/>
        </p:spPr>
        <p:txBody>
          <a:bodyPr wrap="square" rtlCol="0" anchor="ctr"/>
          <a:lstStyle/>
          <a:p>
            <a:r>
              <a:rPr lang="en-IN" sz="1100" b="1" dirty="0">
                <a:solidFill>
                  <a:srgbClr val="1E1B4B"/>
                </a:solidFill>
                <a:latin typeface="Segoe UI" panose="020B0502040204020203" pitchFamily="34" charset="0"/>
                <a:ea typeface="Calibri" pitchFamily="34" charset="-122"/>
                <a:cs typeface="Segoe UI" panose="020B0502040204020203" pitchFamily="34" charset="0"/>
              </a:rPr>
              <a:t>Use RAM &amp; Storage for Tiers</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28" name="Text 26"/>
          <p:cNvSpPr/>
          <p:nvPr/>
        </p:nvSpPr>
        <p:spPr>
          <a:xfrm>
            <a:off x="4818888" y="2743200"/>
            <a:ext cx="3968496" cy="603504"/>
          </a:xfrm>
          <a:prstGeom prst="rect">
            <a:avLst/>
          </a:prstGeom>
          <a:noFill/>
          <a:ln/>
        </p:spPr>
        <p:txBody>
          <a:bodyPr wrap="square" rtlCol="0" anchor="ctr"/>
          <a:lstStyle/>
          <a:p>
            <a:pPr algn="ctr"/>
            <a:r>
              <a:rPr lang="en-IN" sz="1000" i="1" dirty="0">
                <a:solidFill>
                  <a:srgbClr val="4B5563"/>
                </a:solidFill>
                <a:latin typeface="Segoe UI" panose="020B0502040204020203" pitchFamily="34" charset="0"/>
                <a:cs typeface="Segoe UI" panose="020B0502040204020203" pitchFamily="34" charset="0"/>
              </a:rPr>
              <a:t>Consistent scaling from ₹5K (Entry) to ₹36K (Flagship)</a:t>
            </a:r>
            <a:endParaRPr lang="en-US" sz="1000" i="1" dirty="0">
              <a:solidFill>
                <a:srgbClr val="4B5563"/>
              </a:solidFill>
              <a:latin typeface="Segoe UI" panose="020B0502040204020203" pitchFamily="34" charset="0"/>
              <a:cs typeface="Segoe UI" panose="020B0502040204020203" pitchFamily="34" charset="0"/>
            </a:endParaRPr>
          </a:p>
        </p:txBody>
      </p:sp>
      <p:sp>
        <p:nvSpPr>
          <p:cNvPr id="30" name="Shape 28"/>
          <p:cNvSpPr/>
          <p:nvPr/>
        </p:nvSpPr>
        <p:spPr>
          <a:xfrm>
            <a:off x="274320" y="3730752"/>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31" name="Shape 29"/>
          <p:cNvSpPr/>
          <p:nvPr/>
        </p:nvSpPr>
        <p:spPr>
          <a:xfrm>
            <a:off x="365760" y="3822192"/>
            <a:ext cx="274320" cy="274320"/>
          </a:xfrm>
          <a:prstGeom prst="ellipse">
            <a:avLst/>
          </a:prstGeom>
          <a:solidFill>
            <a:srgbClr val="5C33BE"/>
          </a:solidFill>
          <a:ln w="12700">
            <a:solidFill>
              <a:srgbClr val="5C33BE"/>
            </a:solidFill>
            <a:prstDash val="solid"/>
          </a:ln>
        </p:spPr>
        <p:txBody>
          <a:bodyPr/>
          <a:lstStyle/>
          <a:p>
            <a:endParaRPr lang="en-IN"/>
          </a:p>
        </p:txBody>
      </p:sp>
      <p:sp>
        <p:nvSpPr>
          <p:cNvPr id="32" name="Text 30"/>
          <p:cNvSpPr/>
          <p:nvPr/>
        </p:nvSpPr>
        <p:spPr>
          <a:xfrm>
            <a:off x="365760" y="3822192"/>
            <a:ext cx="274320" cy="274320"/>
          </a:xfrm>
          <a:prstGeom prst="rect">
            <a:avLst/>
          </a:prstGeom>
          <a:noFill/>
          <a:ln/>
        </p:spPr>
        <p:txBody>
          <a:bodyPr wrap="square" rtlCol="0" anchor="ctr"/>
          <a:lstStyle/>
          <a:p>
            <a:pPr marL="0"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5</a:t>
            </a:r>
            <a:endParaRPr lang="en-US" sz="1100" dirty="0">
              <a:latin typeface="Segoe UI" panose="020B0502040204020203" pitchFamily="34" charset="0"/>
              <a:cs typeface="Segoe UI" panose="020B0502040204020203" pitchFamily="34" charset="0"/>
            </a:endParaRPr>
          </a:p>
        </p:txBody>
      </p:sp>
      <p:sp>
        <p:nvSpPr>
          <p:cNvPr id="33" name="Text 31"/>
          <p:cNvSpPr/>
          <p:nvPr/>
        </p:nvSpPr>
        <p:spPr>
          <a:xfrm>
            <a:off x="713232" y="3822192"/>
            <a:ext cx="3657600" cy="256032"/>
          </a:xfrm>
          <a:prstGeom prst="rect">
            <a:avLst/>
          </a:prstGeom>
          <a:noFill/>
          <a:ln/>
        </p:spPr>
        <p:txBody>
          <a:bodyPr wrap="square" rtlCol="0" anchor="ctr"/>
          <a:lstStyle/>
          <a:p>
            <a:r>
              <a:rPr lang="en-IN" sz="1100" b="1" dirty="0">
                <a:solidFill>
                  <a:srgbClr val="1E1B4B"/>
                </a:solidFill>
                <a:latin typeface="Segoe UI" panose="020B0502040204020203" pitchFamily="34" charset="0"/>
                <a:ea typeface="Calibri" pitchFamily="34" charset="-122"/>
                <a:cs typeface="Segoe UI" panose="020B0502040204020203" pitchFamily="34" charset="0"/>
              </a:rPr>
              <a:t>Deprioritise Processor Brand </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34" name="Text 32"/>
          <p:cNvSpPr/>
          <p:nvPr/>
        </p:nvSpPr>
        <p:spPr>
          <a:xfrm>
            <a:off x="384048" y="4133088"/>
            <a:ext cx="3968496" cy="603504"/>
          </a:xfrm>
          <a:prstGeom prst="rect">
            <a:avLst/>
          </a:prstGeom>
          <a:noFill/>
          <a:ln/>
        </p:spPr>
        <p:txBody>
          <a:bodyPr wrap="square" rtlCol="0" anchor="ctr"/>
          <a:lstStyle/>
          <a:p>
            <a:pPr algn="ctr"/>
            <a:r>
              <a:rPr lang="en-IN" sz="1000" i="1" dirty="0">
                <a:solidFill>
                  <a:srgbClr val="4B5563"/>
                </a:solidFill>
                <a:latin typeface="Segoe UI" panose="020B0502040204020203" pitchFamily="34" charset="0"/>
                <a:cs typeface="Segoe UI" panose="020B0502040204020203" pitchFamily="34" charset="0"/>
              </a:rPr>
              <a:t>All processor features rank in the bottom half</a:t>
            </a:r>
            <a:endParaRPr lang="en-US" sz="1000" i="1" dirty="0">
              <a:solidFill>
                <a:srgbClr val="4B5563"/>
              </a:solidFill>
              <a:latin typeface="Segoe UI" panose="020B0502040204020203" pitchFamily="34" charset="0"/>
              <a:cs typeface="Segoe UI" panose="020B0502040204020203" pitchFamily="34" charset="0"/>
            </a:endParaRPr>
          </a:p>
        </p:txBody>
      </p:sp>
      <p:sp>
        <p:nvSpPr>
          <p:cNvPr id="36" name="Shape 34"/>
          <p:cNvSpPr/>
          <p:nvPr/>
        </p:nvSpPr>
        <p:spPr>
          <a:xfrm>
            <a:off x="4709160" y="3730752"/>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37" name="Shape 35"/>
          <p:cNvSpPr/>
          <p:nvPr/>
        </p:nvSpPr>
        <p:spPr>
          <a:xfrm>
            <a:off x="4800600" y="3822192"/>
            <a:ext cx="274320" cy="274320"/>
          </a:xfrm>
          <a:prstGeom prst="ellipse">
            <a:avLst/>
          </a:prstGeom>
          <a:solidFill>
            <a:srgbClr val="5C33BE"/>
          </a:solidFill>
          <a:ln w="12700">
            <a:solidFill>
              <a:srgbClr val="5C33BE"/>
            </a:solidFill>
            <a:prstDash val="solid"/>
          </a:ln>
        </p:spPr>
        <p:txBody>
          <a:bodyPr/>
          <a:lstStyle/>
          <a:p>
            <a:endParaRPr lang="en-IN"/>
          </a:p>
        </p:txBody>
      </p:sp>
      <p:sp>
        <p:nvSpPr>
          <p:cNvPr id="38" name="Text 36"/>
          <p:cNvSpPr/>
          <p:nvPr/>
        </p:nvSpPr>
        <p:spPr>
          <a:xfrm>
            <a:off x="4800600" y="3822192"/>
            <a:ext cx="274320" cy="274320"/>
          </a:xfrm>
          <a:prstGeom prst="rect">
            <a:avLst/>
          </a:prstGeom>
          <a:noFill/>
          <a:ln/>
        </p:spPr>
        <p:txBody>
          <a:bodyPr wrap="square" rtlCol="0" anchor="ctr"/>
          <a:lstStyle/>
          <a:p>
            <a:pPr marL="0" indent="0" algn="ctr">
              <a:buNone/>
            </a:pPr>
            <a:r>
              <a:rPr lang="en-US" sz="1100" b="1" dirty="0">
                <a:solidFill>
                  <a:srgbClr val="FFFFFF"/>
                </a:solidFill>
                <a:latin typeface="Segoe UI" panose="020B0502040204020203" pitchFamily="34" charset="0"/>
                <a:ea typeface="Calibri" pitchFamily="34" charset="-122"/>
                <a:cs typeface="Segoe UI" panose="020B0502040204020203" pitchFamily="34" charset="0"/>
              </a:rPr>
              <a:t>6</a:t>
            </a:r>
            <a:endParaRPr lang="en-US" sz="1100" dirty="0">
              <a:latin typeface="Segoe UI" panose="020B0502040204020203" pitchFamily="34" charset="0"/>
              <a:cs typeface="Segoe UI" panose="020B0502040204020203" pitchFamily="34" charset="0"/>
            </a:endParaRPr>
          </a:p>
        </p:txBody>
      </p:sp>
      <p:sp>
        <p:nvSpPr>
          <p:cNvPr id="39" name="Text 37"/>
          <p:cNvSpPr/>
          <p:nvPr/>
        </p:nvSpPr>
        <p:spPr>
          <a:xfrm>
            <a:off x="5148072" y="3822192"/>
            <a:ext cx="3657600" cy="256032"/>
          </a:xfrm>
          <a:prstGeom prst="rect">
            <a:avLst/>
          </a:prstGeom>
          <a:noFill/>
          <a:ln/>
        </p:spPr>
        <p:txBody>
          <a:bodyPr wrap="square" rtlCol="0" anchor="ctr"/>
          <a:lstStyle/>
          <a:p>
            <a:r>
              <a:rPr lang="en-IN" sz="1100" b="1" dirty="0">
                <a:solidFill>
                  <a:srgbClr val="1E1B4B"/>
                </a:solidFill>
                <a:latin typeface="Segoe UI" panose="020B0502040204020203" pitchFamily="34" charset="0"/>
                <a:ea typeface="Calibri" pitchFamily="34" charset="-122"/>
                <a:cs typeface="Segoe UI" panose="020B0502040204020203" pitchFamily="34" charset="0"/>
              </a:rPr>
              <a:t>Deploy for Pricing Support</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40" name="Text 38"/>
          <p:cNvSpPr/>
          <p:nvPr/>
        </p:nvSpPr>
        <p:spPr>
          <a:xfrm>
            <a:off x="4818888" y="4131681"/>
            <a:ext cx="3812345" cy="603504"/>
          </a:xfrm>
          <a:prstGeom prst="rect">
            <a:avLst/>
          </a:prstGeom>
          <a:noFill/>
          <a:ln/>
        </p:spPr>
        <p:txBody>
          <a:bodyPr wrap="square" rtlCol="0" anchor="ctr"/>
          <a:lstStyle/>
          <a:p>
            <a:pPr algn="ctr"/>
            <a:r>
              <a:rPr lang="en-IN" sz="1000" i="1" dirty="0">
                <a:solidFill>
                  <a:srgbClr val="4B5563"/>
                </a:solidFill>
                <a:latin typeface="Segoe UI" panose="020B0502040204020203" pitchFamily="34" charset="0"/>
                <a:cs typeface="Segoe UI" panose="020B0502040204020203" pitchFamily="34" charset="0"/>
              </a:rPr>
              <a:t>71% of predictions land within ±10%</a:t>
            </a:r>
            <a:endParaRPr lang="en-US" sz="1000" i="1" dirty="0">
              <a:solidFill>
                <a:srgbClr val="4B5563"/>
              </a:solidFill>
              <a:latin typeface="Segoe UI" panose="020B0502040204020203" pitchFamily="34" charset="0"/>
              <a:cs typeface="Segoe UI" panose="020B0502040204020203"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74686-A81E-12B0-4D8F-7ADAD638F0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7A42EB-AA80-CA5C-3F2A-4433F5C72A98}"/>
              </a:ext>
            </a:extLst>
          </p:cNvPr>
          <p:cNvSpPr/>
          <p:nvPr/>
        </p:nvSpPr>
        <p:spPr>
          <a:xfrm>
            <a:off x="0" y="0"/>
            <a:ext cx="9144000" cy="594360"/>
          </a:xfrm>
          <a:prstGeom prst="rect">
            <a:avLst/>
          </a:prstGeom>
          <a:solidFill>
            <a:srgbClr val="1E1B4B"/>
          </a:solidFill>
          <a:ln w="12700">
            <a:solidFill>
              <a:srgbClr val="1E1B4B"/>
            </a:solidFill>
            <a:prstDash val="solid"/>
          </a:ln>
        </p:spPr>
        <p:txBody>
          <a:bodyPr/>
          <a:lstStyle/>
          <a:p>
            <a:endParaRPr lang="en-IN"/>
          </a:p>
        </p:txBody>
      </p:sp>
      <p:sp>
        <p:nvSpPr>
          <p:cNvPr id="3" name="Text 1">
            <a:extLst>
              <a:ext uri="{FF2B5EF4-FFF2-40B4-BE49-F238E27FC236}">
                <a16:creationId xmlns:a16="http://schemas.microsoft.com/office/drawing/2014/main" id="{9E4FD4D1-FCCD-C3C0-9AA7-AFA114137B61}"/>
              </a:ext>
            </a:extLst>
          </p:cNvPr>
          <p:cNvSpPr/>
          <p:nvPr/>
        </p:nvSpPr>
        <p:spPr>
          <a:xfrm>
            <a:off x="329184" y="0"/>
            <a:ext cx="8476488" cy="594360"/>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Project Challenges &amp; Key Learnings</a:t>
            </a:r>
            <a:endParaRPr lang="en-US" sz="2800" dirty="0">
              <a:latin typeface="Bahnschrift" panose="020B0502040204020203" pitchFamily="34" charset="0"/>
            </a:endParaRPr>
          </a:p>
        </p:txBody>
      </p:sp>
      <p:sp>
        <p:nvSpPr>
          <p:cNvPr id="6" name="Shape 4">
            <a:extLst>
              <a:ext uri="{FF2B5EF4-FFF2-40B4-BE49-F238E27FC236}">
                <a16:creationId xmlns:a16="http://schemas.microsoft.com/office/drawing/2014/main" id="{F17F75C6-7D8F-40A4-DFD4-4C291DB5B0BF}"/>
              </a:ext>
            </a:extLst>
          </p:cNvPr>
          <p:cNvSpPr/>
          <p:nvPr/>
        </p:nvSpPr>
        <p:spPr>
          <a:xfrm>
            <a:off x="274320" y="950976"/>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8" name="Text 6">
            <a:extLst>
              <a:ext uri="{FF2B5EF4-FFF2-40B4-BE49-F238E27FC236}">
                <a16:creationId xmlns:a16="http://schemas.microsoft.com/office/drawing/2014/main" id="{0687793C-2085-ABA9-EE86-7CF4D592D54E}"/>
              </a:ext>
            </a:extLst>
          </p:cNvPr>
          <p:cNvSpPr/>
          <p:nvPr/>
        </p:nvSpPr>
        <p:spPr>
          <a:xfrm>
            <a:off x="365760" y="1042416"/>
            <a:ext cx="274320" cy="274320"/>
          </a:xfrm>
          <a:prstGeom prst="rect">
            <a:avLst/>
          </a:prstGeom>
          <a:noFill/>
          <a:ln/>
        </p:spPr>
        <p:txBody>
          <a:bodyPr wrap="square" rtlCol="0" anchor="ctr"/>
          <a:lstStyle/>
          <a:p>
            <a:pPr marL="0" indent="0" algn="ctr">
              <a:buNone/>
            </a:pPr>
            <a:endParaRPr lang="en-US" sz="1100" dirty="0">
              <a:latin typeface="Segoe UI" panose="020B0502040204020203" pitchFamily="34" charset="0"/>
              <a:cs typeface="Segoe UI" panose="020B0502040204020203" pitchFamily="34" charset="0"/>
            </a:endParaRPr>
          </a:p>
        </p:txBody>
      </p:sp>
      <p:sp>
        <p:nvSpPr>
          <p:cNvPr id="9" name="Text 7">
            <a:extLst>
              <a:ext uri="{FF2B5EF4-FFF2-40B4-BE49-F238E27FC236}">
                <a16:creationId xmlns:a16="http://schemas.microsoft.com/office/drawing/2014/main" id="{6E0AA3BA-887C-9C62-5D0A-AAA3E5755AEE}"/>
              </a:ext>
            </a:extLst>
          </p:cNvPr>
          <p:cNvSpPr/>
          <p:nvPr/>
        </p:nvSpPr>
        <p:spPr>
          <a:xfrm>
            <a:off x="365760" y="1042416"/>
            <a:ext cx="4005072" cy="256032"/>
          </a:xfrm>
          <a:prstGeom prst="rect">
            <a:avLst/>
          </a:prstGeom>
          <a:noFill/>
          <a:ln/>
        </p:spPr>
        <p:txBody>
          <a:bodyPr wrap="square" rtlCol="0" anchor="ctr"/>
          <a:lstStyle/>
          <a:p>
            <a:r>
              <a:rPr lang="en-IN" sz="1100" dirty="0"/>
              <a:t>📌 </a:t>
            </a:r>
            <a:r>
              <a:rPr lang="en-IN" sz="1100" b="1" dirty="0">
                <a:solidFill>
                  <a:srgbClr val="1E1B4B"/>
                </a:solidFill>
                <a:latin typeface="Segoe UI" panose="020B0502040204020203" pitchFamily="34" charset="0"/>
                <a:ea typeface="Calibri" pitchFamily="34" charset="-122"/>
                <a:cs typeface="Segoe UI" panose="020B0502040204020203" pitchFamily="34" charset="0"/>
              </a:rPr>
              <a:t>Challenge 1 — Clean Data Before Modelling</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10" name="Text 8">
            <a:extLst>
              <a:ext uri="{FF2B5EF4-FFF2-40B4-BE49-F238E27FC236}">
                <a16:creationId xmlns:a16="http://schemas.microsoft.com/office/drawing/2014/main" id="{BB1EA85B-8DBC-43AF-A9F2-159532A158B4}"/>
              </a:ext>
            </a:extLst>
          </p:cNvPr>
          <p:cNvSpPr/>
          <p:nvPr/>
        </p:nvSpPr>
        <p:spPr>
          <a:xfrm>
            <a:off x="274320" y="1353312"/>
            <a:ext cx="4206240" cy="841248"/>
          </a:xfrm>
          <a:prstGeom prst="rect">
            <a:avLst/>
          </a:prstGeom>
          <a:noFill/>
          <a:ln/>
        </p:spPr>
        <p:txBody>
          <a:bodyPr wrap="square" rtlCol="0" anchor="ctr"/>
          <a:lstStyle/>
          <a:p>
            <a:r>
              <a:rPr lang="en-IN" sz="950" b="1" dirty="0">
                <a:latin typeface="Segoe UI" panose="020B0502040204020203" pitchFamily="34" charset="0"/>
                <a:cs typeface="Segoe UI" panose="020B0502040204020203" pitchFamily="34" charset="0"/>
              </a:rPr>
              <a:t>Challenge: </a:t>
            </a:r>
            <a:r>
              <a:rPr lang="en-IN" sz="950" dirty="0">
                <a:latin typeface="Segoe UI" panose="020B0502040204020203" pitchFamily="34" charset="0"/>
                <a:cs typeface="Segoe UI" panose="020B0502040204020203" pitchFamily="34" charset="0"/>
              </a:rPr>
              <a:t>Cleaning duplicates hidden by an index column, and inconsistent processor/camera text formatting.</a:t>
            </a:r>
          </a:p>
          <a:p>
            <a:endParaRPr lang="en-IN" sz="950" dirty="0">
              <a:latin typeface="Segoe UI" panose="020B0502040204020203" pitchFamily="34" charset="0"/>
              <a:cs typeface="Segoe UI" panose="020B0502040204020203" pitchFamily="34" charset="0"/>
            </a:endParaRPr>
          </a:p>
          <a:p>
            <a:r>
              <a:rPr lang="en-IN" sz="950" b="1" dirty="0">
                <a:latin typeface="Segoe UI" panose="020B0502040204020203" pitchFamily="34" charset="0"/>
                <a:cs typeface="Segoe UI" panose="020B0502040204020203" pitchFamily="34" charset="0"/>
              </a:rPr>
              <a:t>Learning: </a:t>
            </a:r>
            <a:r>
              <a:rPr lang="en-IN" sz="950" dirty="0">
                <a:latin typeface="Segoe UI" panose="020B0502040204020203" pitchFamily="34" charset="0"/>
                <a:cs typeface="Segoe UI" panose="020B0502040204020203" pitchFamily="34" charset="0"/>
              </a:rPr>
              <a:t>Reliable models begin with reliable data</a:t>
            </a:r>
            <a:endParaRPr lang="en-US" sz="950" i="1" dirty="0">
              <a:solidFill>
                <a:srgbClr val="4B5563"/>
              </a:solidFill>
              <a:latin typeface="Segoe UI" panose="020B0502040204020203" pitchFamily="34" charset="0"/>
              <a:cs typeface="Segoe UI" panose="020B0502040204020203" pitchFamily="34" charset="0"/>
            </a:endParaRPr>
          </a:p>
        </p:txBody>
      </p:sp>
      <p:sp>
        <p:nvSpPr>
          <p:cNvPr id="12" name="Shape 10">
            <a:extLst>
              <a:ext uri="{FF2B5EF4-FFF2-40B4-BE49-F238E27FC236}">
                <a16:creationId xmlns:a16="http://schemas.microsoft.com/office/drawing/2014/main" id="{6FC9F4D8-4632-BC68-04D3-AD276F00350D}"/>
              </a:ext>
            </a:extLst>
          </p:cNvPr>
          <p:cNvSpPr/>
          <p:nvPr/>
        </p:nvSpPr>
        <p:spPr>
          <a:xfrm>
            <a:off x="4709160" y="950976"/>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15" name="Text 13">
            <a:extLst>
              <a:ext uri="{FF2B5EF4-FFF2-40B4-BE49-F238E27FC236}">
                <a16:creationId xmlns:a16="http://schemas.microsoft.com/office/drawing/2014/main" id="{7CFF20E2-02CD-92E2-AC2D-92F425C5F139}"/>
              </a:ext>
            </a:extLst>
          </p:cNvPr>
          <p:cNvSpPr/>
          <p:nvPr/>
        </p:nvSpPr>
        <p:spPr>
          <a:xfrm>
            <a:off x="4754880" y="1042416"/>
            <a:ext cx="4050792" cy="256032"/>
          </a:xfrm>
          <a:prstGeom prst="rect">
            <a:avLst/>
          </a:prstGeom>
          <a:noFill/>
          <a:ln/>
        </p:spPr>
        <p:txBody>
          <a:bodyPr wrap="square" rtlCol="0" anchor="ctr"/>
          <a:lstStyle/>
          <a:p>
            <a:r>
              <a:rPr lang="en-IN" sz="1100" dirty="0"/>
              <a:t>📌 </a:t>
            </a:r>
            <a:r>
              <a:rPr lang="en-IN" sz="1100" b="1" dirty="0">
                <a:solidFill>
                  <a:srgbClr val="1E1B4B"/>
                </a:solidFill>
                <a:latin typeface="Segoe UI" panose="020B0502040204020203" pitchFamily="34" charset="0"/>
                <a:ea typeface="Calibri" pitchFamily="34" charset="-122"/>
                <a:cs typeface="Segoe UI" panose="020B0502040204020203" pitchFamily="34" charset="0"/>
              </a:rPr>
              <a:t>Challenge 2 — Choose Encoding Carefully</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16" name="Text 14">
            <a:extLst>
              <a:ext uri="{FF2B5EF4-FFF2-40B4-BE49-F238E27FC236}">
                <a16:creationId xmlns:a16="http://schemas.microsoft.com/office/drawing/2014/main" id="{43EE648E-6A8A-27C7-E2F1-204D8EF2F582}"/>
              </a:ext>
            </a:extLst>
          </p:cNvPr>
          <p:cNvSpPr/>
          <p:nvPr/>
        </p:nvSpPr>
        <p:spPr>
          <a:xfrm>
            <a:off x="4736592" y="1298448"/>
            <a:ext cx="4178808" cy="932688"/>
          </a:xfrm>
          <a:prstGeom prst="rect">
            <a:avLst/>
          </a:prstGeom>
          <a:noFill/>
          <a:ln/>
        </p:spPr>
        <p:txBody>
          <a:bodyPr wrap="square" rtlCol="0" anchor="ctr"/>
          <a:lstStyle/>
          <a:p>
            <a:r>
              <a:rPr lang="en-IN" sz="950" b="1" dirty="0">
                <a:latin typeface="Segoe UI" panose="020B0502040204020203" pitchFamily="34" charset="0"/>
                <a:cs typeface="Segoe UI" panose="020B0502040204020203" pitchFamily="34" charset="0"/>
              </a:rPr>
              <a:t>Challenge: </a:t>
            </a:r>
            <a:r>
              <a:rPr lang="en-IN" sz="950" dirty="0">
                <a:latin typeface="Segoe UI" panose="020B0502040204020203" pitchFamily="34" charset="0"/>
                <a:cs typeface="Segoe UI" panose="020B0502040204020203" pitchFamily="34" charset="0"/>
              </a:rPr>
              <a:t>Transforming high-cardinality categorical variables without losing useful information.</a:t>
            </a:r>
          </a:p>
          <a:p>
            <a:endParaRPr lang="en-IN" sz="950" dirty="0">
              <a:latin typeface="Segoe UI" panose="020B0502040204020203" pitchFamily="34" charset="0"/>
              <a:cs typeface="Segoe UI" panose="020B0502040204020203" pitchFamily="34" charset="0"/>
            </a:endParaRPr>
          </a:p>
          <a:p>
            <a:r>
              <a:rPr lang="en-IN" sz="950" b="1" dirty="0">
                <a:latin typeface="Segoe UI" panose="020B0502040204020203" pitchFamily="34" charset="0"/>
                <a:cs typeface="Segoe UI" panose="020B0502040204020203" pitchFamily="34" charset="0"/>
              </a:rPr>
              <a:t>Learning: </a:t>
            </a:r>
            <a:r>
              <a:rPr lang="en-IN" sz="950" dirty="0">
                <a:latin typeface="Segoe UI" panose="020B0502040204020203" pitchFamily="34" charset="0"/>
                <a:cs typeface="Segoe UI" panose="020B0502040204020203" pitchFamily="34" charset="0"/>
              </a:rPr>
              <a:t>The choice of encoding influences both interpretability and model performance.</a:t>
            </a:r>
          </a:p>
        </p:txBody>
      </p:sp>
      <p:sp>
        <p:nvSpPr>
          <p:cNvPr id="18" name="Shape 16">
            <a:extLst>
              <a:ext uri="{FF2B5EF4-FFF2-40B4-BE49-F238E27FC236}">
                <a16:creationId xmlns:a16="http://schemas.microsoft.com/office/drawing/2014/main" id="{362C6A7C-3671-8346-36F5-FBB74A108E48}"/>
              </a:ext>
            </a:extLst>
          </p:cNvPr>
          <p:cNvSpPr/>
          <p:nvPr/>
        </p:nvSpPr>
        <p:spPr>
          <a:xfrm>
            <a:off x="274320" y="2340864"/>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21" name="Text 19">
            <a:extLst>
              <a:ext uri="{FF2B5EF4-FFF2-40B4-BE49-F238E27FC236}">
                <a16:creationId xmlns:a16="http://schemas.microsoft.com/office/drawing/2014/main" id="{1141C0D7-9777-AFF6-26F9-79CE6C4A0AA8}"/>
              </a:ext>
            </a:extLst>
          </p:cNvPr>
          <p:cNvSpPr/>
          <p:nvPr/>
        </p:nvSpPr>
        <p:spPr>
          <a:xfrm>
            <a:off x="329184" y="2432304"/>
            <a:ext cx="4041648" cy="256032"/>
          </a:xfrm>
          <a:prstGeom prst="rect">
            <a:avLst/>
          </a:prstGeom>
          <a:noFill/>
          <a:ln/>
        </p:spPr>
        <p:txBody>
          <a:bodyPr wrap="square" rtlCol="0" anchor="ctr"/>
          <a:lstStyle/>
          <a:p>
            <a:r>
              <a:rPr lang="en-IN" sz="1100" dirty="0"/>
              <a:t>📌 </a:t>
            </a:r>
            <a:r>
              <a:rPr lang="en-IN" sz="1100" b="1" dirty="0">
                <a:solidFill>
                  <a:srgbClr val="1E1B4B"/>
                </a:solidFill>
                <a:latin typeface="Segoe UI" panose="020B0502040204020203" pitchFamily="34" charset="0"/>
                <a:ea typeface="Calibri" pitchFamily="34" charset="-122"/>
                <a:cs typeface="Segoe UI" panose="020B0502040204020203" pitchFamily="34" charset="0"/>
              </a:rPr>
              <a:t>Challenge 3 — Validate Feature Decisions Empirically</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22" name="Text 20">
            <a:extLst>
              <a:ext uri="{FF2B5EF4-FFF2-40B4-BE49-F238E27FC236}">
                <a16:creationId xmlns:a16="http://schemas.microsoft.com/office/drawing/2014/main" id="{5C92D4C8-161F-CD83-D84F-C1E4ECB711EE}"/>
              </a:ext>
            </a:extLst>
          </p:cNvPr>
          <p:cNvSpPr/>
          <p:nvPr/>
        </p:nvSpPr>
        <p:spPr>
          <a:xfrm>
            <a:off x="384048" y="2688336"/>
            <a:ext cx="3968496" cy="932688"/>
          </a:xfrm>
          <a:prstGeom prst="rect">
            <a:avLst/>
          </a:prstGeom>
          <a:noFill/>
          <a:ln/>
        </p:spPr>
        <p:txBody>
          <a:bodyPr wrap="square" rtlCol="0" anchor="ctr"/>
          <a:lstStyle/>
          <a:p>
            <a:r>
              <a:rPr lang="en-IN" sz="950" b="1" dirty="0">
                <a:latin typeface="Segoe UI" panose="020B0502040204020203" pitchFamily="34" charset="0"/>
                <a:cs typeface="Segoe UI" panose="020B0502040204020203" pitchFamily="34" charset="0"/>
              </a:rPr>
              <a:t>Challenge: </a:t>
            </a:r>
            <a:r>
              <a:rPr lang="en-IN" sz="950" dirty="0">
                <a:latin typeface="Segoe UI" panose="020B0502040204020203" pitchFamily="34" charset="0"/>
                <a:cs typeface="Segoe UI" panose="020B0502040204020203" pitchFamily="34" charset="0"/>
              </a:rPr>
              <a:t>Different screening techniques produced conflicting rankings.</a:t>
            </a:r>
          </a:p>
          <a:p>
            <a:endParaRPr lang="en-IN" sz="950" dirty="0">
              <a:latin typeface="Segoe UI" panose="020B0502040204020203" pitchFamily="34" charset="0"/>
              <a:cs typeface="Segoe UI" panose="020B0502040204020203" pitchFamily="34" charset="0"/>
            </a:endParaRPr>
          </a:p>
          <a:p>
            <a:r>
              <a:rPr lang="en-IN" sz="950" b="1" dirty="0">
                <a:latin typeface="Segoe UI" panose="020B0502040204020203" pitchFamily="34" charset="0"/>
                <a:cs typeface="Segoe UI" panose="020B0502040204020203" pitchFamily="34" charset="0"/>
              </a:rPr>
              <a:t>Learning: </a:t>
            </a:r>
            <a:r>
              <a:rPr lang="en-IN" sz="950" dirty="0">
                <a:latin typeface="Segoe UI" panose="020B0502040204020203" pitchFamily="34" charset="0"/>
                <a:cs typeface="Segoe UI" panose="020B0502040204020203" pitchFamily="34" charset="0"/>
              </a:rPr>
              <a:t>Empirical validation is more trustworthy than relying on a single statistical method.</a:t>
            </a:r>
          </a:p>
        </p:txBody>
      </p:sp>
      <p:sp>
        <p:nvSpPr>
          <p:cNvPr id="24" name="Shape 22">
            <a:extLst>
              <a:ext uri="{FF2B5EF4-FFF2-40B4-BE49-F238E27FC236}">
                <a16:creationId xmlns:a16="http://schemas.microsoft.com/office/drawing/2014/main" id="{7C31D5A4-5D3E-DD05-B4CD-14E50E6B1DAF}"/>
              </a:ext>
            </a:extLst>
          </p:cNvPr>
          <p:cNvSpPr/>
          <p:nvPr/>
        </p:nvSpPr>
        <p:spPr>
          <a:xfrm>
            <a:off x="4709160" y="2340864"/>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dirty="0"/>
          </a:p>
        </p:txBody>
      </p:sp>
      <p:sp>
        <p:nvSpPr>
          <p:cNvPr id="26" name="Text 24">
            <a:extLst>
              <a:ext uri="{FF2B5EF4-FFF2-40B4-BE49-F238E27FC236}">
                <a16:creationId xmlns:a16="http://schemas.microsoft.com/office/drawing/2014/main" id="{08CB82B5-6475-799B-67A1-C8FC6BEA316A}"/>
              </a:ext>
            </a:extLst>
          </p:cNvPr>
          <p:cNvSpPr/>
          <p:nvPr/>
        </p:nvSpPr>
        <p:spPr>
          <a:xfrm>
            <a:off x="4800600" y="2432304"/>
            <a:ext cx="274320" cy="274320"/>
          </a:xfrm>
          <a:prstGeom prst="rect">
            <a:avLst/>
          </a:prstGeom>
          <a:noFill/>
          <a:ln/>
        </p:spPr>
        <p:txBody>
          <a:bodyPr wrap="square" rtlCol="0" anchor="ctr"/>
          <a:lstStyle/>
          <a:p>
            <a:pPr marL="0" indent="0" algn="ctr">
              <a:buNone/>
            </a:pPr>
            <a:endParaRPr lang="en-US" sz="1100" dirty="0">
              <a:latin typeface="Segoe UI" panose="020B0502040204020203" pitchFamily="34" charset="0"/>
              <a:cs typeface="Segoe UI" panose="020B0502040204020203" pitchFamily="34" charset="0"/>
            </a:endParaRPr>
          </a:p>
        </p:txBody>
      </p:sp>
      <p:sp>
        <p:nvSpPr>
          <p:cNvPr id="27" name="Text 25">
            <a:extLst>
              <a:ext uri="{FF2B5EF4-FFF2-40B4-BE49-F238E27FC236}">
                <a16:creationId xmlns:a16="http://schemas.microsoft.com/office/drawing/2014/main" id="{71645CAD-8EED-70F6-FE1F-4184F0E4722A}"/>
              </a:ext>
            </a:extLst>
          </p:cNvPr>
          <p:cNvSpPr/>
          <p:nvPr/>
        </p:nvSpPr>
        <p:spPr>
          <a:xfrm>
            <a:off x="4754880" y="2432304"/>
            <a:ext cx="4050792" cy="256032"/>
          </a:xfrm>
          <a:prstGeom prst="rect">
            <a:avLst/>
          </a:prstGeom>
          <a:noFill/>
          <a:ln/>
        </p:spPr>
        <p:txBody>
          <a:bodyPr wrap="square" rtlCol="0" anchor="ctr"/>
          <a:lstStyle/>
          <a:p>
            <a:r>
              <a:rPr lang="en-IN" sz="1100" dirty="0"/>
              <a:t>📌 </a:t>
            </a:r>
            <a:r>
              <a:rPr lang="en-IN" sz="1100" b="1" dirty="0">
                <a:solidFill>
                  <a:srgbClr val="1E1B4B"/>
                </a:solidFill>
                <a:latin typeface="Segoe UI" panose="020B0502040204020203" pitchFamily="34" charset="0"/>
                <a:ea typeface="Calibri" pitchFamily="34" charset="-122"/>
                <a:cs typeface="Segoe UI" panose="020B0502040204020203" pitchFamily="34" charset="0"/>
              </a:rPr>
              <a:t>Challenge 4 — Prioritize Generalisation</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28" name="Text 26">
            <a:extLst>
              <a:ext uri="{FF2B5EF4-FFF2-40B4-BE49-F238E27FC236}">
                <a16:creationId xmlns:a16="http://schemas.microsoft.com/office/drawing/2014/main" id="{44D0462C-4E9D-EA5E-6DCE-8E00CA95856C}"/>
              </a:ext>
            </a:extLst>
          </p:cNvPr>
          <p:cNvSpPr/>
          <p:nvPr/>
        </p:nvSpPr>
        <p:spPr>
          <a:xfrm>
            <a:off x="4736592" y="2706624"/>
            <a:ext cx="4178808" cy="914400"/>
          </a:xfrm>
          <a:prstGeom prst="rect">
            <a:avLst/>
          </a:prstGeom>
          <a:noFill/>
          <a:ln/>
        </p:spPr>
        <p:txBody>
          <a:bodyPr wrap="square" rtlCol="0" anchor="ctr"/>
          <a:lstStyle/>
          <a:p>
            <a:r>
              <a:rPr lang="en-IN" sz="950" b="1" dirty="0">
                <a:latin typeface="Segoe UI" panose="020B0502040204020203" pitchFamily="34" charset="0"/>
                <a:cs typeface="Segoe UI" panose="020B0502040204020203" pitchFamily="34" charset="0"/>
              </a:rPr>
              <a:t>Challenge: </a:t>
            </a:r>
            <a:r>
              <a:rPr lang="en-IN" sz="950" dirty="0">
                <a:latin typeface="Segoe UI" panose="020B0502040204020203" pitchFamily="34" charset="0"/>
                <a:cs typeface="Segoe UI" panose="020B0502040204020203" pitchFamily="34" charset="0"/>
              </a:rPr>
              <a:t>Hyperparameter tuning improved CV performance but slightly reduced Test performance.</a:t>
            </a:r>
          </a:p>
          <a:p>
            <a:endParaRPr lang="en-IN" sz="950" dirty="0">
              <a:latin typeface="Segoe UI" panose="020B0502040204020203" pitchFamily="34" charset="0"/>
              <a:cs typeface="Segoe UI" panose="020B0502040204020203" pitchFamily="34" charset="0"/>
            </a:endParaRPr>
          </a:p>
          <a:p>
            <a:r>
              <a:rPr lang="en-IN" sz="950" b="1" dirty="0">
                <a:latin typeface="Segoe UI" panose="020B0502040204020203" pitchFamily="34" charset="0"/>
                <a:cs typeface="Segoe UI" panose="020B0502040204020203" pitchFamily="34" charset="0"/>
              </a:rPr>
              <a:t>Learning: </a:t>
            </a:r>
            <a:r>
              <a:rPr lang="en-IN" sz="950" dirty="0">
                <a:latin typeface="Segoe UI" panose="020B0502040204020203" pitchFamily="34" charset="0"/>
                <a:cs typeface="Segoe UI" panose="020B0502040204020203" pitchFamily="34" charset="0"/>
              </a:rPr>
              <a:t>Generalisation should be prioritised over a single train-test split.</a:t>
            </a:r>
          </a:p>
        </p:txBody>
      </p:sp>
      <p:sp>
        <p:nvSpPr>
          <p:cNvPr id="30" name="Shape 28">
            <a:extLst>
              <a:ext uri="{FF2B5EF4-FFF2-40B4-BE49-F238E27FC236}">
                <a16:creationId xmlns:a16="http://schemas.microsoft.com/office/drawing/2014/main" id="{9A7FD130-1574-C021-FD61-373C36A92FA2}"/>
              </a:ext>
            </a:extLst>
          </p:cNvPr>
          <p:cNvSpPr/>
          <p:nvPr/>
        </p:nvSpPr>
        <p:spPr>
          <a:xfrm>
            <a:off x="274320" y="3730752"/>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33" name="Text 31">
            <a:extLst>
              <a:ext uri="{FF2B5EF4-FFF2-40B4-BE49-F238E27FC236}">
                <a16:creationId xmlns:a16="http://schemas.microsoft.com/office/drawing/2014/main" id="{9A801FCF-2F98-62EE-9EF1-620D61EA281A}"/>
              </a:ext>
            </a:extLst>
          </p:cNvPr>
          <p:cNvSpPr/>
          <p:nvPr/>
        </p:nvSpPr>
        <p:spPr>
          <a:xfrm>
            <a:off x="329184" y="3822192"/>
            <a:ext cx="4041648" cy="256032"/>
          </a:xfrm>
          <a:prstGeom prst="rect">
            <a:avLst/>
          </a:prstGeom>
          <a:noFill/>
          <a:ln/>
        </p:spPr>
        <p:txBody>
          <a:bodyPr wrap="square" rtlCol="0" anchor="ctr"/>
          <a:lstStyle/>
          <a:p>
            <a:r>
              <a:rPr lang="en-IN" sz="1100" dirty="0"/>
              <a:t>📌 </a:t>
            </a:r>
            <a:r>
              <a:rPr lang="en-IN" sz="1100" b="1" dirty="0">
                <a:solidFill>
                  <a:srgbClr val="1E1B4B"/>
                </a:solidFill>
                <a:latin typeface="Segoe UI" panose="020B0502040204020203" pitchFamily="34" charset="0"/>
                <a:ea typeface="Calibri" pitchFamily="34" charset="-122"/>
                <a:cs typeface="Segoe UI" panose="020B0502040204020203" pitchFamily="34" charset="0"/>
              </a:rPr>
              <a:t>Challenge 5 — Build Reproducible Workflows</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34" name="Text 32">
            <a:extLst>
              <a:ext uri="{FF2B5EF4-FFF2-40B4-BE49-F238E27FC236}">
                <a16:creationId xmlns:a16="http://schemas.microsoft.com/office/drawing/2014/main" id="{C65A475D-700D-A529-795E-E6E1E8C2C984}"/>
              </a:ext>
            </a:extLst>
          </p:cNvPr>
          <p:cNvSpPr/>
          <p:nvPr/>
        </p:nvSpPr>
        <p:spPr>
          <a:xfrm>
            <a:off x="274320" y="4133088"/>
            <a:ext cx="4206240" cy="877824"/>
          </a:xfrm>
          <a:prstGeom prst="rect">
            <a:avLst/>
          </a:prstGeom>
          <a:noFill/>
          <a:ln/>
        </p:spPr>
        <p:txBody>
          <a:bodyPr wrap="square" rtlCol="0" anchor="ctr"/>
          <a:lstStyle/>
          <a:p>
            <a:r>
              <a:rPr lang="en-IN" sz="950" b="1" dirty="0">
                <a:latin typeface="Segoe UI" panose="020B0502040204020203" pitchFamily="34" charset="0"/>
                <a:cs typeface="Segoe UI" panose="020B0502040204020203" pitchFamily="34" charset="0"/>
              </a:rPr>
              <a:t>Challenge: </a:t>
            </a:r>
            <a:r>
              <a:rPr lang="en-IN" sz="950" dirty="0">
                <a:latin typeface="Segoe UI" panose="020B0502040204020203" pitchFamily="34" charset="0"/>
                <a:cs typeface="Segoe UI" panose="020B0502040204020203" pitchFamily="34" charset="0"/>
              </a:rPr>
              <a:t>GridSearchCV required 900 model fits.</a:t>
            </a:r>
          </a:p>
          <a:p>
            <a:endParaRPr lang="en-IN" sz="950" dirty="0">
              <a:latin typeface="Segoe UI" panose="020B0502040204020203" pitchFamily="34" charset="0"/>
              <a:cs typeface="Segoe UI" panose="020B0502040204020203" pitchFamily="34" charset="0"/>
            </a:endParaRPr>
          </a:p>
          <a:p>
            <a:r>
              <a:rPr lang="en-IN" sz="950" b="1" dirty="0">
                <a:latin typeface="Segoe UI" panose="020B0502040204020203" pitchFamily="34" charset="0"/>
                <a:cs typeface="Segoe UI" panose="020B0502040204020203" pitchFamily="34" charset="0"/>
              </a:rPr>
              <a:t>Learning: </a:t>
            </a:r>
            <a:r>
              <a:rPr lang="en-IN" sz="950" dirty="0">
                <a:latin typeface="Segoe UI" panose="020B0502040204020203" pitchFamily="34" charset="0"/>
                <a:cs typeface="Segoe UI" panose="020B0502040204020203" pitchFamily="34" charset="0"/>
              </a:rPr>
              <a:t>The USE_CACHE workflow improved development efficiency while preserving reproducibility.</a:t>
            </a:r>
          </a:p>
        </p:txBody>
      </p:sp>
      <p:sp>
        <p:nvSpPr>
          <p:cNvPr id="36" name="Shape 34">
            <a:extLst>
              <a:ext uri="{FF2B5EF4-FFF2-40B4-BE49-F238E27FC236}">
                <a16:creationId xmlns:a16="http://schemas.microsoft.com/office/drawing/2014/main" id="{6C061850-7CA1-45AA-2F82-0EA9B972AA72}"/>
              </a:ext>
            </a:extLst>
          </p:cNvPr>
          <p:cNvSpPr/>
          <p:nvPr/>
        </p:nvSpPr>
        <p:spPr>
          <a:xfrm>
            <a:off x="4709160" y="3730752"/>
            <a:ext cx="4206240" cy="1280160"/>
          </a:xfrm>
          <a:prstGeom prst="roundRect">
            <a:avLst>
              <a:gd name="adj" fmla="val 5714"/>
            </a:avLst>
          </a:prstGeom>
          <a:solidFill>
            <a:srgbClr val="F5F4FB"/>
          </a:solidFill>
          <a:ln w="12700">
            <a:solidFill>
              <a:srgbClr val="5C33BE"/>
            </a:solidFill>
            <a:prstDash val="solid"/>
          </a:ln>
          <a:effectLst>
            <a:outerShdw blurRad="76200" dist="25400" dir="2700000" algn="bl" rotWithShape="0">
              <a:srgbClr val="000000">
                <a:alpha val="8000"/>
              </a:srgbClr>
            </a:outerShdw>
          </a:effectLst>
        </p:spPr>
        <p:txBody>
          <a:bodyPr/>
          <a:lstStyle/>
          <a:p>
            <a:endParaRPr lang="en-IN"/>
          </a:p>
        </p:txBody>
      </p:sp>
      <p:sp>
        <p:nvSpPr>
          <p:cNvPr id="39" name="Text 37">
            <a:extLst>
              <a:ext uri="{FF2B5EF4-FFF2-40B4-BE49-F238E27FC236}">
                <a16:creationId xmlns:a16="http://schemas.microsoft.com/office/drawing/2014/main" id="{1ACF77B7-E1D5-F555-FF0E-741E773E38B1}"/>
              </a:ext>
            </a:extLst>
          </p:cNvPr>
          <p:cNvSpPr/>
          <p:nvPr/>
        </p:nvSpPr>
        <p:spPr>
          <a:xfrm>
            <a:off x="4800600" y="3822192"/>
            <a:ext cx="4005072" cy="256032"/>
          </a:xfrm>
          <a:prstGeom prst="rect">
            <a:avLst/>
          </a:prstGeom>
          <a:noFill/>
          <a:ln/>
        </p:spPr>
        <p:txBody>
          <a:bodyPr wrap="square" rtlCol="0" anchor="ctr"/>
          <a:lstStyle/>
          <a:p>
            <a:r>
              <a:rPr lang="en-IN" sz="1100" dirty="0"/>
              <a:t>📌 </a:t>
            </a:r>
            <a:r>
              <a:rPr lang="en-IN" sz="1100" b="1" dirty="0">
                <a:solidFill>
                  <a:srgbClr val="1E1B4B"/>
                </a:solidFill>
                <a:latin typeface="Segoe UI" panose="020B0502040204020203" pitchFamily="34" charset="0"/>
                <a:ea typeface="Calibri" pitchFamily="34" charset="-122"/>
                <a:cs typeface="Segoe UI" panose="020B0502040204020203" pitchFamily="34" charset="0"/>
              </a:rPr>
              <a:t>Challenge 6 — Translate Analytics into Business Value</a:t>
            </a:r>
            <a:endParaRPr lang="en-US" sz="1100" b="1" dirty="0">
              <a:solidFill>
                <a:srgbClr val="1E1B4B"/>
              </a:solidFill>
              <a:latin typeface="Segoe UI" panose="020B0502040204020203" pitchFamily="34" charset="0"/>
              <a:ea typeface="Calibri" pitchFamily="34" charset="-122"/>
              <a:cs typeface="Segoe UI" panose="020B0502040204020203" pitchFamily="34" charset="0"/>
            </a:endParaRPr>
          </a:p>
        </p:txBody>
      </p:sp>
      <p:sp>
        <p:nvSpPr>
          <p:cNvPr id="40" name="Text 38">
            <a:extLst>
              <a:ext uri="{FF2B5EF4-FFF2-40B4-BE49-F238E27FC236}">
                <a16:creationId xmlns:a16="http://schemas.microsoft.com/office/drawing/2014/main" id="{F486E353-F8EC-A22D-AAF2-7511893E1823}"/>
              </a:ext>
            </a:extLst>
          </p:cNvPr>
          <p:cNvSpPr/>
          <p:nvPr/>
        </p:nvSpPr>
        <p:spPr>
          <a:xfrm>
            <a:off x="4709160" y="4078224"/>
            <a:ext cx="4206240" cy="931279"/>
          </a:xfrm>
          <a:prstGeom prst="rect">
            <a:avLst/>
          </a:prstGeom>
          <a:noFill/>
          <a:ln/>
        </p:spPr>
        <p:txBody>
          <a:bodyPr wrap="square" rtlCol="0" anchor="ctr"/>
          <a:lstStyle/>
          <a:p>
            <a:r>
              <a:rPr lang="en-IN" sz="950" b="1" dirty="0">
                <a:latin typeface="Segoe UI" panose="020B0502040204020203" pitchFamily="34" charset="0"/>
                <a:cs typeface="Segoe UI" panose="020B0502040204020203" pitchFamily="34" charset="0"/>
              </a:rPr>
              <a:t>Challenge: </a:t>
            </a:r>
            <a:r>
              <a:rPr lang="en-IN" sz="950" dirty="0">
                <a:latin typeface="Segoe UI" panose="020B0502040204020203" pitchFamily="34" charset="0"/>
                <a:cs typeface="Segoe UI" panose="020B0502040204020203" pitchFamily="34" charset="0"/>
              </a:rPr>
              <a:t>Translating technical findings into practical pricing recommendations.</a:t>
            </a:r>
          </a:p>
          <a:p>
            <a:endParaRPr lang="en-IN" sz="950" dirty="0">
              <a:latin typeface="Segoe UI" panose="020B0502040204020203" pitchFamily="34" charset="0"/>
              <a:cs typeface="Segoe UI" panose="020B0502040204020203" pitchFamily="34" charset="0"/>
            </a:endParaRPr>
          </a:p>
          <a:p>
            <a:r>
              <a:rPr lang="en-IN" sz="950" b="1" dirty="0">
                <a:latin typeface="Segoe UI" panose="020B0502040204020203" pitchFamily="34" charset="0"/>
                <a:cs typeface="Segoe UI" panose="020B0502040204020203" pitchFamily="34" charset="0"/>
              </a:rPr>
              <a:t>Learning: </a:t>
            </a:r>
            <a:r>
              <a:rPr lang="en-IN" sz="950" dirty="0">
                <a:latin typeface="Segoe UI" panose="020B0502040204020203" pitchFamily="34" charset="0"/>
                <a:cs typeface="Segoe UI" panose="020B0502040204020203" pitchFamily="34" charset="0"/>
              </a:rPr>
              <a:t>Machine learning creates the greatest value when technical results are converted into actionable business insights.</a:t>
            </a:r>
          </a:p>
        </p:txBody>
      </p:sp>
    </p:spTree>
    <p:extLst>
      <p:ext uri="{BB962C8B-B14F-4D97-AF65-F5344CB8AC3E}">
        <p14:creationId xmlns:p14="http://schemas.microsoft.com/office/powerpoint/2010/main" val="1301970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1E1B4B"/>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18CF8"/>
          </a:solidFill>
          <a:ln w="12700">
            <a:solidFill>
              <a:srgbClr val="818CF8"/>
            </a:solidFill>
            <a:prstDash val="solid"/>
          </a:ln>
        </p:spPr>
        <p:txBody>
          <a:bodyPr/>
          <a:lstStyle/>
          <a:p>
            <a:endParaRPr lang="en-IN"/>
          </a:p>
        </p:txBody>
      </p:sp>
      <p:sp>
        <p:nvSpPr>
          <p:cNvPr id="3" name="Text 1"/>
          <p:cNvSpPr/>
          <p:nvPr/>
        </p:nvSpPr>
        <p:spPr>
          <a:xfrm>
            <a:off x="329184" y="91440"/>
            <a:ext cx="8449056" cy="384048"/>
          </a:xfrm>
          <a:prstGeom prst="rect">
            <a:avLst/>
          </a:prstGeom>
          <a:noFill/>
          <a:ln/>
        </p:spPr>
        <p:txBody>
          <a:bodyPr wrap="square" rtlCol="0" anchor="ctr"/>
          <a:lstStyle/>
          <a:p>
            <a:pPr marL="0" indent="0" algn="ctr">
              <a:buNone/>
            </a:pPr>
            <a:r>
              <a:rPr lang="en-US" sz="2800" b="1" dirty="0">
                <a:solidFill>
                  <a:srgbClr val="FFFFFF"/>
                </a:solidFill>
                <a:latin typeface="Bahnschrift" panose="020B0502040204020203" pitchFamily="34" charset="0"/>
                <a:ea typeface="Calibri" pitchFamily="34" charset="-122"/>
                <a:cs typeface="Calibri" pitchFamily="34" charset="-120"/>
              </a:rPr>
              <a:t>Conclusion &amp; Future Scope</a:t>
            </a:r>
            <a:endParaRPr lang="en-US" sz="2800" dirty="0">
              <a:latin typeface="Bahnschrift" panose="020B0502040204020203" pitchFamily="34" charset="0"/>
            </a:endParaRPr>
          </a:p>
        </p:txBody>
      </p:sp>
      <p:sp>
        <p:nvSpPr>
          <p:cNvPr id="4" name="Text 2"/>
          <p:cNvSpPr/>
          <p:nvPr/>
        </p:nvSpPr>
        <p:spPr>
          <a:xfrm>
            <a:off x="256032" y="585216"/>
            <a:ext cx="4224528" cy="219456"/>
          </a:xfrm>
          <a:prstGeom prst="rect">
            <a:avLst/>
          </a:prstGeom>
          <a:noFill/>
          <a:ln/>
        </p:spPr>
        <p:txBody>
          <a:bodyPr wrap="square" rtlCol="0" anchor="ctr"/>
          <a:lstStyle/>
          <a:p>
            <a:pPr marL="0" indent="0" algn="ctr">
              <a:buNone/>
            </a:pPr>
            <a:r>
              <a:rPr lang="en-US" sz="1400" b="1" dirty="0">
                <a:solidFill>
                  <a:srgbClr val="A5B4FC"/>
                </a:solidFill>
                <a:latin typeface="Segoe UI" panose="020B0502040204020203" pitchFamily="34" charset="0"/>
                <a:ea typeface="Calibri" pitchFamily="34" charset="-122"/>
                <a:cs typeface="Segoe UI" panose="020B0502040204020203" pitchFamily="34" charset="0"/>
              </a:rPr>
              <a:t>Conclusion</a:t>
            </a:r>
            <a:endParaRPr lang="en-US" sz="1400" dirty="0">
              <a:latin typeface="Segoe UI" panose="020B0502040204020203" pitchFamily="34" charset="0"/>
              <a:cs typeface="Segoe UI" panose="020B0502040204020203" pitchFamily="34" charset="0"/>
            </a:endParaRPr>
          </a:p>
        </p:txBody>
      </p:sp>
      <p:sp>
        <p:nvSpPr>
          <p:cNvPr id="5" name="Shape 3"/>
          <p:cNvSpPr/>
          <p:nvPr/>
        </p:nvSpPr>
        <p:spPr>
          <a:xfrm>
            <a:off x="256032" y="822960"/>
            <a:ext cx="4224528" cy="3584448"/>
          </a:xfrm>
          <a:prstGeom prst="roundRect">
            <a:avLst>
              <a:gd name="adj" fmla="val 2041"/>
            </a:avLst>
          </a:prstGeom>
          <a:solidFill>
            <a:srgbClr val="2D2B6B"/>
          </a:solidFill>
          <a:ln w="12700">
            <a:solidFill>
              <a:srgbClr val="818CF8"/>
            </a:solidFill>
            <a:prstDash val="solid"/>
          </a:ln>
        </p:spPr>
        <p:txBody>
          <a:bodyPr/>
          <a:lstStyle/>
          <a:p>
            <a:endParaRPr lang="en-IN"/>
          </a:p>
        </p:txBody>
      </p:sp>
      <p:sp>
        <p:nvSpPr>
          <p:cNvPr id="6" name="Text 4"/>
          <p:cNvSpPr/>
          <p:nvPr/>
        </p:nvSpPr>
        <p:spPr>
          <a:xfrm>
            <a:off x="347472" y="877824"/>
            <a:ext cx="4041648" cy="530352"/>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C7D2FE"/>
                </a:solidFill>
                <a:latin typeface="Segoe UI" panose="020B0502040204020203" pitchFamily="34" charset="0"/>
                <a:ea typeface="Calibri" pitchFamily="34" charset="-122"/>
                <a:cs typeface="Segoe UI" panose="020B0502040204020203" pitchFamily="34" charset="0"/>
              </a:rPr>
              <a:t>Front Camera emerged as the strongest smartphone pricing driver</a:t>
            </a:r>
            <a:r>
              <a:rPr lang="en-IN" sz="1000" dirty="0">
                <a:latin typeface="Segoe UI" panose="020B0502040204020203" pitchFamily="34" charset="0"/>
                <a:cs typeface="Segoe UI" panose="020B0502040204020203" pitchFamily="34" charset="0"/>
              </a:rPr>
              <a:t>.</a:t>
            </a:r>
            <a:endParaRPr lang="en-US" sz="1000" dirty="0">
              <a:latin typeface="Segoe UI" panose="020B0502040204020203" pitchFamily="34" charset="0"/>
              <a:cs typeface="Segoe UI" panose="020B0502040204020203" pitchFamily="34" charset="0"/>
            </a:endParaRPr>
          </a:p>
        </p:txBody>
      </p:sp>
      <p:sp>
        <p:nvSpPr>
          <p:cNvPr id="7" name="Shape 5"/>
          <p:cNvSpPr/>
          <p:nvPr/>
        </p:nvSpPr>
        <p:spPr>
          <a:xfrm>
            <a:off x="384048" y="1389888"/>
            <a:ext cx="3913632" cy="0"/>
          </a:xfrm>
          <a:prstGeom prst="line">
            <a:avLst/>
          </a:prstGeom>
          <a:noFill/>
          <a:ln w="6350">
            <a:solidFill>
              <a:srgbClr val="3D3B7B"/>
            </a:solidFill>
            <a:prstDash val="solid"/>
          </a:ln>
        </p:spPr>
        <p:txBody>
          <a:bodyPr/>
          <a:lstStyle/>
          <a:p>
            <a:endParaRPr lang="en-IN"/>
          </a:p>
        </p:txBody>
      </p:sp>
      <p:sp>
        <p:nvSpPr>
          <p:cNvPr id="8" name="Text 6"/>
          <p:cNvSpPr/>
          <p:nvPr/>
        </p:nvSpPr>
        <p:spPr>
          <a:xfrm>
            <a:off x="347472" y="1444752"/>
            <a:ext cx="4041648" cy="530352"/>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C7D2FE"/>
                </a:solidFill>
                <a:latin typeface="Segoe UI" panose="020B0502040204020203" pitchFamily="34" charset="0"/>
                <a:ea typeface="Calibri" pitchFamily="34" charset="-122"/>
                <a:cs typeface="Segoe UI" panose="020B0502040204020203" pitchFamily="34" charset="0"/>
              </a:rPr>
              <a:t>Battery and Model captured important non-linear pricing signals</a:t>
            </a:r>
            <a:endParaRPr lang="en-US" sz="1000" dirty="0">
              <a:solidFill>
                <a:srgbClr val="C7D2FE"/>
              </a:solidFill>
              <a:latin typeface="Segoe UI" panose="020B0502040204020203" pitchFamily="34" charset="0"/>
              <a:ea typeface="Calibri" pitchFamily="34" charset="-122"/>
              <a:cs typeface="Segoe UI" panose="020B0502040204020203" pitchFamily="34" charset="0"/>
            </a:endParaRPr>
          </a:p>
        </p:txBody>
      </p:sp>
      <p:sp>
        <p:nvSpPr>
          <p:cNvPr id="9" name="Shape 7"/>
          <p:cNvSpPr/>
          <p:nvPr/>
        </p:nvSpPr>
        <p:spPr>
          <a:xfrm>
            <a:off x="384048" y="1956816"/>
            <a:ext cx="3913632" cy="0"/>
          </a:xfrm>
          <a:prstGeom prst="line">
            <a:avLst/>
          </a:prstGeom>
          <a:noFill/>
          <a:ln w="6350">
            <a:solidFill>
              <a:srgbClr val="3D3B7B"/>
            </a:solidFill>
            <a:prstDash val="solid"/>
          </a:ln>
        </p:spPr>
        <p:txBody>
          <a:bodyPr/>
          <a:lstStyle/>
          <a:p>
            <a:endParaRPr lang="en-IN"/>
          </a:p>
        </p:txBody>
      </p:sp>
      <p:sp>
        <p:nvSpPr>
          <p:cNvPr id="10" name="Text 8"/>
          <p:cNvSpPr/>
          <p:nvPr/>
        </p:nvSpPr>
        <p:spPr>
          <a:xfrm>
            <a:off x="347472" y="2011680"/>
            <a:ext cx="4041648" cy="530352"/>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C7D2FE"/>
                </a:solidFill>
                <a:latin typeface="Segoe UI" panose="020B0502040204020203" pitchFamily="34" charset="0"/>
                <a:ea typeface="Calibri" pitchFamily="34" charset="-122"/>
                <a:cs typeface="Segoe UI" panose="020B0502040204020203" pitchFamily="34" charset="0"/>
              </a:rPr>
              <a:t>RAM and Memory established the primary hardware pricing tiers.</a:t>
            </a:r>
            <a:endParaRPr lang="en-US" sz="1000" dirty="0">
              <a:solidFill>
                <a:srgbClr val="C7D2FE"/>
              </a:solidFill>
              <a:latin typeface="Segoe UI" panose="020B0502040204020203" pitchFamily="34" charset="0"/>
              <a:ea typeface="Calibri" pitchFamily="34" charset="-122"/>
              <a:cs typeface="Segoe UI" panose="020B0502040204020203" pitchFamily="34" charset="0"/>
            </a:endParaRPr>
          </a:p>
        </p:txBody>
      </p:sp>
      <p:sp>
        <p:nvSpPr>
          <p:cNvPr id="11" name="Shape 9"/>
          <p:cNvSpPr/>
          <p:nvPr/>
        </p:nvSpPr>
        <p:spPr>
          <a:xfrm>
            <a:off x="384048" y="2523744"/>
            <a:ext cx="3913632" cy="0"/>
          </a:xfrm>
          <a:prstGeom prst="line">
            <a:avLst/>
          </a:prstGeom>
          <a:noFill/>
          <a:ln w="6350">
            <a:solidFill>
              <a:srgbClr val="3D3B7B"/>
            </a:solidFill>
            <a:prstDash val="solid"/>
          </a:ln>
        </p:spPr>
        <p:txBody>
          <a:bodyPr/>
          <a:lstStyle/>
          <a:p>
            <a:endParaRPr lang="en-IN"/>
          </a:p>
        </p:txBody>
      </p:sp>
      <p:sp>
        <p:nvSpPr>
          <p:cNvPr id="12" name="Text 10"/>
          <p:cNvSpPr/>
          <p:nvPr/>
        </p:nvSpPr>
        <p:spPr>
          <a:xfrm>
            <a:off x="347472" y="2578608"/>
            <a:ext cx="4041648" cy="530352"/>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C7D2FE"/>
                </a:solidFill>
                <a:latin typeface="Segoe UI" panose="020B0502040204020203" pitchFamily="34" charset="0"/>
                <a:ea typeface="Calibri" pitchFamily="34" charset="-122"/>
                <a:cs typeface="Segoe UI" panose="020B0502040204020203" pitchFamily="34" charset="0"/>
              </a:rPr>
              <a:t>Tuned XGBoost delivered the strongest overall generalisation performance.</a:t>
            </a:r>
            <a:endParaRPr lang="en-US" sz="1000" dirty="0">
              <a:solidFill>
                <a:srgbClr val="C7D2FE"/>
              </a:solidFill>
              <a:latin typeface="Segoe UI" panose="020B0502040204020203" pitchFamily="34" charset="0"/>
              <a:ea typeface="Calibri" pitchFamily="34" charset="-122"/>
              <a:cs typeface="Segoe UI" panose="020B0502040204020203" pitchFamily="34" charset="0"/>
            </a:endParaRPr>
          </a:p>
        </p:txBody>
      </p:sp>
      <p:sp>
        <p:nvSpPr>
          <p:cNvPr id="13" name="Shape 11"/>
          <p:cNvSpPr/>
          <p:nvPr/>
        </p:nvSpPr>
        <p:spPr>
          <a:xfrm>
            <a:off x="384048" y="3090672"/>
            <a:ext cx="3913632" cy="0"/>
          </a:xfrm>
          <a:prstGeom prst="line">
            <a:avLst/>
          </a:prstGeom>
          <a:noFill/>
          <a:ln w="6350">
            <a:solidFill>
              <a:srgbClr val="3D3B7B"/>
            </a:solidFill>
            <a:prstDash val="solid"/>
          </a:ln>
        </p:spPr>
        <p:txBody>
          <a:bodyPr/>
          <a:lstStyle/>
          <a:p>
            <a:endParaRPr lang="en-IN"/>
          </a:p>
        </p:txBody>
      </p:sp>
      <p:sp>
        <p:nvSpPr>
          <p:cNvPr id="14" name="Text 12"/>
          <p:cNvSpPr/>
          <p:nvPr/>
        </p:nvSpPr>
        <p:spPr>
          <a:xfrm>
            <a:off x="329184" y="3145536"/>
            <a:ext cx="4059936" cy="530352"/>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C7D2FE"/>
                </a:solidFill>
                <a:latin typeface="Segoe UI" panose="020B0502040204020203" pitchFamily="34" charset="0"/>
                <a:ea typeface="Calibri" pitchFamily="34" charset="-122"/>
                <a:cs typeface="Segoe UI" panose="020B0502040204020203" pitchFamily="34" charset="0"/>
              </a:rPr>
              <a:t>Empirical validation resolved feature-selection disagreements objectively.</a:t>
            </a:r>
            <a:endParaRPr lang="en-US" sz="1000" dirty="0">
              <a:solidFill>
                <a:srgbClr val="C7D2FE"/>
              </a:solidFill>
              <a:latin typeface="Segoe UI" panose="020B0502040204020203" pitchFamily="34" charset="0"/>
              <a:ea typeface="Calibri" pitchFamily="34" charset="-122"/>
              <a:cs typeface="Segoe UI" panose="020B0502040204020203" pitchFamily="34" charset="0"/>
            </a:endParaRPr>
          </a:p>
        </p:txBody>
      </p:sp>
      <p:sp>
        <p:nvSpPr>
          <p:cNvPr id="15" name="Shape 13"/>
          <p:cNvSpPr/>
          <p:nvPr/>
        </p:nvSpPr>
        <p:spPr>
          <a:xfrm>
            <a:off x="384048" y="3657600"/>
            <a:ext cx="3913632" cy="0"/>
          </a:xfrm>
          <a:prstGeom prst="line">
            <a:avLst/>
          </a:prstGeom>
          <a:noFill/>
          <a:ln w="6350">
            <a:solidFill>
              <a:srgbClr val="3D3B7B"/>
            </a:solidFill>
            <a:prstDash val="solid"/>
          </a:ln>
        </p:spPr>
        <p:txBody>
          <a:bodyPr/>
          <a:lstStyle/>
          <a:p>
            <a:endParaRPr lang="en-IN"/>
          </a:p>
        </p:txBody>
      </p:sp>
      <p:sp>
        <p:nvSpPr>
          <p:cNvPr id="16" name="Text 14"/>
          <p:cNvSpPr/>
          <p:nvPr/>
        </p:nvSpPr>
        <p:spPr>
          <a:xfrm>
            <a:off x="347472" y="3712464"/>
            <a:ext cx="4041648" cy="530352"/>
          </a:xfrm>
          <a:prstGeom prst="rect">
            <a:avLst/>
          </a:prstGeom>
          <a:noFill/>
          <a:ln/>
        </p:spPr>
        <p:txBody>
          <a:bodyPr wrap="square" rtlCol="0" anchor="ctr"/>
          <a:lstStyle/>
          <a:p>
            <a:pPr marL="171450" indent="-171450">
              <a:buFont typeface="Arial" panose="020B0604020202020204" pitchFamily="34" charset="0"/>
              <a:buChar char="•"/>
            </a:pPr>
            <a:r>
              <a:rPr lang="en-IN" sz="1000" dirty="0">
                <a:solidFill>
                  <a:srgbClr val="C7D2FE"/>
                </a:solidFill>
                <a:latin typeface="Segoe UI" panose="020B0502040204020203" pitchFamily="34" charset="0"/>
                <a:ea typeface="Calibri" pitchFamily="34" charset="-122"/>
                <a:cs typeface="Segoe UI" panose="020B0502040204020203" pitchFamily="34" charset="0"/>
              </a:rPr>
              <a:t>An evidence-based machine learning pipeline successfully predicted smartphone prices while identifying the key drivers of market value.</a:t>
            </a:r>
            <a:endParaRPr lang="en-US" sz="1000" dirty="0">
              <a:solidFill>
                <a:srgbClr val="C7D2FE"/>
              </a:solidFill>
              <a:latin typeface="Segoe UI" panose="020B0502040204020203" pitchFamily="34" charset="0"/>
              <a:ea typeface="Calibri" pitchFamily="34" charset="-122"/>
              <a:cs typeface="Segoe UI" panose="020B0502040204020203" pitchFamily="34" charset="0"/>
            </a:endParaRPr>
          </a:p>
        </p:txBody>
      </p:sp>
      <p:sp>
        <p:nvSpPr>
          <p:cNvPr id="17" name="Text 15"/>
          <p:cNvSpPr/>
          <p:nvPr/>
        </p:nvSpPr>
        <p:spPr>
          <a:xfrm>
            <a:off x="4718304" y="585216"/>
            <a:ext cx="4187952" cy="219456"/>
          </a:xfrm>
          <a:prstGeom prst="rect">
            <a:avLst/>
          </a:prstGeom>
          <a:noFill/>
          <a:ln/>
        </p:spPr>
        <p:txBody>
          <a:bodyPr wrap="square" rtlCol="0" anchor="ctr"/>
          <a:lstStyle/>
          <a:p>
            <a:pPr algn="ctr"/>
            <a:r>
              <a:rPr lang="en-US" sz="1400" b="1" dirty="0">
                <a:solidFill>
                  <a:srgbClr val="A5B4FC"/>
                </a:solidFill>
                <a:latin typeface="Segoe UI" panose="020B0502040204020203" pitchFamily="34" charset="0"/>
                <a:ea typeface="Calibri" pitchFamily="34" charset="-122"/>
                <a:cs typeface="Segoe UI" panose="020B0502040204020203" pitchFamily="34" charset="0"/>
              </a:rPr>
              <a:t>Future Scope</a:t>
            </a:r>
          </a:p>
        </p:txBody>
      </p:sp>
      <p:sp>
        <p:nvSpPr>
          <p:cNvPr id="18" name="Shape 16"/>
          <p:cNvSpPr/>
          <p:nvPr/>
        </p:nvSpPr>
        <p:spPr>
          <a:xfrm>
            <a:off x="5335172" y="841248"/>
            <a:ext cx="1353312" cy="1060704"/>
          </a:xfrm>
          <a:prstGeom prst="roundRect">
            <a:avLst>
              <a:gd name="adj" fmla="val 5172"/>
            </a:avLst>
          </a:prstGeom>
          <a:solidFill>
            <a:srgbClr val="2D2B6B"/>
          </a:solidFill>
          <a:ln w="6350">
            <a:solidFill>
              <a:srgbClr val="818CF8"/>
            </a:solidFill>
            <a:prstDash val="solid"/>
          </a:ln>
        </p:spPr>
        <p:txBody>
          <a:bodyPr/>
          <a:lstStyle/>
          <a:p>
            <a:pPr algn="ctr"/>
            <a:endParaRPr lang="en-IN" sz="1000" dirty="0">
              <a:solidFill>
                <a:srgbClr val="C7D2FE"/>
              </a:solidFill>
              <a:latin typeface="Segoe UI" panose="020B0502040204020203" pitchFamily="34" charset="0"/>
              <a:ea typeface="Calibri" pitchFamily="34" charset="-122"/>
              <a:cs typeface="Segoe UI" panose="020B0502040204020203" pitchFamily="34" charset="0"/>
            </a:endParaRPr>
          </a:p>
          <a:p>
            <a:pPr algn="ctr"/>
            <a:r>
              <a:rPr lang="en-IN" sz="1000" dirty="0">
                <a:solidFill>
                  <a:srgbClr val="C7D2FE"/>
                </a:solidFill>
                <a:latin typeface="Segoe UI" panose="020B0502040204020203" pitchFamily="34" charset="0"/>
                <a:ea typeface="Calibri" pitchFamily="34" charset="-122"/>
                <a:cs typeface="Segoe UI" panose="020B0502040204020203" pitchFamily="34" charset="0"/>
              </a:rPr>
              <a:t>Expand the dataset with additional premium smartphones.</a:t>
            </a:r>
          </a:p>
        </p:txBody>
      </p:sp>
      <p:sp>
        <p:nvSpPr>
          <p:cNvPr id="22" name="Shape 20"/>
          <p:cNvSpPr/>
          <p:nvPr/>
        </p:nvSpPr>
        <p:spPr>
          <a:xfrm>
            <a:off x="7176399" y="849336"/>
            <a:ext cx="1353312" cy="1060704"/>
          </a:xfrm>
          <a:prstGeom prst="roundRect">
            <a:avLst>
              <a:gd name="adj" fmla="val 5172"/>
            </a:avLst>
          </a:prstGeom>
          <a:solidFill>
            <a:srgbClr val="2D2B6B"/>
          </a:solidFill>
          <a:ln w="6350">
            <a:solidFill>
              <a:srgbClr val="818CF8"/>
            </a:solidFill>
            <a:prstDash val="solid"/>
          </a:ln>
        </p:spPr>
        <p:txBody>
          <a:bodyPr/>
          <a:lstStyle/>
          <a:p>
            <a:endParaRPr lang="en-IN" sz="1000" dirty="0">
              <a:solidFill>
                <a:srgbClr val="C7D2FE"/>
              </a:solidFill>
              <a:latin typeface="Segoe UI" panose="020B0502040204020203" pitchFamily="34" charset="0"/>
              <a:ea typeface="Calibri" pitchFamily="34" charset="-122"/>
              <a:cs typeface="Segoe UI" panose="020B0502040204020203" pitchFamily="34" charset="0"/>
            </a:endParaRPr>
          </a:p>
          <a:p>
            <a:pPr algn="ctr"/>
            <a:r>
              <a:rPr lang="en-IN" sz="1000" dirty="0">
                <a:solidFill>
                  <a:srgbClr val="C7D2FE"/>
                </a:solidFill>
                <a:latin typeface="Segoe UI" panose="020B0502040204020203" pitchFamily="34" charset="0"/>
                <a:ea typeface="Calibri" pitchFamily="34" charset="-122"/>
                <a:cs typeface="Segoe UI" panose="020B0502040204020203" pitchFamily="34" charset="0"/>
              </a:rPr>
              <a:t>Incorporate time-based pricing and depreciation features.</a:t>
            </a:r>
          </a:p>
        </p:txBody>
      </p:sp>
      <p:sp>
        <p:nvSpPr>
          <p:cNvPr id="26" name="Shape 24"/>
          <p:cNvSpPr/>
          <p:nvPr/>
        </p:nvSpPr>
        <p:spPr>
          <a:xfrm>
            <a:off x="7176399" y="2072874"/>
            <a:ext cx="1353312" cy="1060704"/>
          </a:xfrm>
          <a:prstGeom prst="roundRect">
            <a:avLst>
              <a:gd name="adj" fmla="val 5172"/>
            </a:avLst>
          </a:prstGeom>
          <a:solidFill>
            <a:srgbClr val="2D2B6B"/>
          </a:solidFill>
          <a:ln w="6350">
            <a:solidFill>
              <a:srgbClr val="818CF8"/>
            </a:solidFill>
            <a:prstDash val="solid"/>
          </a:ln>
        </p:spPr>
        <p:txBody>
          <a:bodyPr/>
          <a:lstStyle/>
          <a:p>
            <a:pPr algn="ctr"/>
            <a:endParaRPr lang="en-IN" sz="1000" dirty="0">
              <a:solidFill>
                <a:srgbClr val="C7D2FE"/>
              </a:solidFill>
              <a:latin typeface="Segoe UI" panose="020B0502040204020203" pitchFamily="34" charset="0"/>
              <a:ea typeface="Calibri" pitchFamily="34" charset="-122"/>
              <a:cs typeface="Segoe UI" panose="020B0502040204020203" pitchFamily="34" charset="0"/>
            </a:endParaRPr>
          </a:p>
          <a:p>
            <a:pPr algn="ctr"/>
            <a:r>
              <a:rPr lang="en-IN" sz="1000" dirty="0">
                <a:solidFill>
                  <a:srgbClr val="C7D2FE"/>
                </a:solidFill>
                <a:latin typeface="Segoe UI" panose="020B0502040204020203" pitchFamily="34" charset="0"/>
                <a:ea typeface="Calibri" pitchFamily="34" charset="-122"/>
                <a:cs typeface="Segoe UI" panose="020B0502040204020203" pitchFamily="34" charset="0"/>
              </a:rPr>
              <a:t>Deploy the model as an operational pricing application.</a:t>
            </a:r>
          </a:p>
        </p:txBody>
      </p:sp>
      <p:sp>
        <p:nvSpPr>
          <p:cNvPr id="30" name="Shape 28"/>
          <p:cNvSpPr/>
          <p:nvPr/>
        </p:nvSpPr>
        <p:spPr>
          <a:xfrm>
            <a:off x="5349240" y="2080260"/>
            <a:ext cx="1353312" cy="1060704"/>
          </a:xfrm>
          <a:prstGeom prst="roundRect">
            <a:avLst>
              <a:gd name="adj" fmla="val 5172"/>
            </a:avLst>
          </a:prstGeom>
          <a:solidFill>
            <a:srgbClr val="2D2B6B"/>
          </a:solidFill>
          <a:ln w="6350">
            <a:solidFill>
              <a:srgbClr val="818CF8"/>
            </a:solidFill>
            <a:prstDash val="solid"/>
          </a:ln>
        </p:spPr>
        <p:txBody>
          <a:bodyPr/>
          <a:lstStyle/>
          <a:p>
            <a:pPr algn="ctr"/>
            <a:endParaRPr lang="en-IN" sz="1000" dirty="0">
              <a:solidFill>
                <a:srgbClr val="C7D2FE"/>
              </a:solidFill>
              <a:latin typeface="Segoe UI" panose="020B0502040204020203" pitchFamily="34" charset="0"/>
              <a:ea typeface="Calibri" pitchFamily="34" charset="-122"/>
              <a:cs typeface="Segoe UI" panose="020B0502040204020203" pitchFamily="34" charset="0"/>
            </a:endParaRPr>
          </a:p>
          <a:p>
            <a:pPr algn="ctr"/>
            <a:r>
              <a:rPr lang="en-IN" sz="1000" dirty="0">
                <a:solidFill>
                  <a:srgbClr val="C7D2FE"/>
                </a:solidFill>
                <a:latin typeface="Segoe UI" panose="020B0502040204020203" pitchFamily="34" charset="0"/>
                <a:ea typeface="Calibri" pitchFamily="34" charset="-122"/>
                <a:cs typeface="Segoe UI" panose="020B0502040204020203" pitchFamily="34" charset="0"/>
              </a:rPr>
              <a:t>Explore advanced ensemble learning techniques.</a:t>
            </a:r>
          </a:p>
        </p:txBody>
      </p:sp>
      <p:sp>
        <p:nvSpPr>
          <p:cNvPr id="34" name="Shape 32"/>
          <p:cNvSpPr/>
          <p:nvPr/>
        </p:nvSpPr>
        <p:spPr>
          <a:xfrm>
            <a:off x="5349240" y="3305556"/>
            <a:ext cx="1353312" cy="1060704"/>
          </a:xfrm>
          <a:prstGeom prst="roundRect">
            <a:avLst>
              <a:gd name="adj" fmla="val 5172"/>
            </a:avLst>
          </a:prstGeom>
          <a:solidFill>
            <a:srgbClr val="2D2B6B"/>
          </a:solidFill>
          <a:ln w="6350">
            <a:solidFill>
              <a:srgbClr val="818CF8"/>
            </a:solidFill>
            <a:prstDash val="solid"/>
          </a:ln>
        </p:spPr>
        <p:txBody>
          <a:bodyPr/>
          <a:lstStyle/>
          <a:p>
            <a:pPr algn="ctr"/>
            <a:endParaRPr lang="en-IN" sz="1000" dirty="0">
              <a:solidFill>
                <a:srgbClr val="C7D2FE"/>
              </a:solidFill>
              <a:latin typeface="Segoe UI" panose="020B0502040204020203" pitchFamily="34" charset="0"/>
              <a:ea typeface="Calibri" pitchFamily="34" charset="-122"/>
              <a:cs typeface="Segoe UI" panose="020B0502040204020203" pitchFamily="34" charset="0"/>
            </a:endParaRPr>
          </a:p>
          <a:p>
            <a:pPr algn="ctr"/>
            <a:r>
              <a:rPr lang="en-IN" sz="1000" dirty="0">
                <a:solidFill>
                  <a:srgbClr val="C7D2FE"/>
                </a:solidFill>
                <a:latin typeface="Segoe UI" panose="020B0502040204020203" pitchFamily="34" charset="0"/>
                <a:ea typeface="Calibri" pitchFamily="34" charset="-122"/>
                <a:cs typeface="Segoe UI" panose="020B0502040204020203" pitchFamily="34" charset="0"/>
              </a:rPr>
              <a:t>Develop an interactive pricing dashboard.</a:t>
            </a:r>
          </a:p>
        </p:txBody>
      </p:sp>
      <p:sp>
        <p:nvSpPr>
          <p:cNvPr id="42" name="Shape 40"/>
          <p:cNvSpPr/>
          <p:nvPr/>
        </p:nvSpPr>
        <p:spPr>
          <a:xfrm>
            <a:off x="0" y="4485132"/>
            <a:ext cx="9144000" cy="658368"/>
          </a:xfrm>
          <a:prstGeom prst="rect">
            <a:avLst/>
          </a:prstGeom>
          <a:solidFill>
            <a:srgbClr val="5C33BE"/>
          </a:solidFill>
          <a:ln w="12700">
            <a:solidFill>
              <a:srgbClr val="5C33BE"/>
            </a:solidFill>
            <a:prstDash val="solid"/>
          </a:ln>
        </p:spPr>
        <p:txBody>
          <a:bodyPr/>
          <a:lstStyle/>
          <a:p>
            <a:endParaRPr lang="en-IN"/>
          </a:p>
        </p:txBody>
      </p:sp>
      <p:sp>
        <p:nvSpPr>
          <p:cNvPr id="43" name="Text 41"/>
          <p:cNvSpPr/>
          <p:nvPr/>
        </p:nvSpPr>
        <p:spPr>
          <a:xfrm>
            <a:off x="0" y="4521708"/>
            <a:ext cx="9144000" cy="347472"/>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Thank You</a:t>
            </a:r>
            <a:endParaRPr lang="en-US" sz="1800" dirty="0"/>
          </a:p>
        </p:txBody>
      </p:sp>
      <p:sp>
        <p:nvSpPr>
          <p:cNvPr id="44" name="Text 42"/>
          <p:cNvSpPr/>
          <p:nvPr/>
        </p:nvSpPr>
        <p:spPr>
          <a:xfrm>
            <a:off x="0" y="4850892"/>
            <a:ext cx="9144000" cy="237744"/>
          </a:xfrm>
          <a:prstGeom prst="rect">
            <a:avLst/>
          </a:prstGeom>
          <a:noFill/>
          <a:ln/>
        </p:spPr>
        <p:txBody>
          <a:bodyPr wrap="square" rtlCol="0" anchor="ctr"/>
          <a:lstStyle/>
          <a:p>
            <a:pPr marL="0" indent="0" algn="ctr">
              <a:buNone/>
            </a:pPr>
            <a:r>
              <a:rPr lang="en-US" sz="900" dirty="0">
                <a:solidFill>
                  <a:srgbClr val="DDD6FE"/>
                </a:solidFill>
                <a:latin typeface="Calibri" pitchFamily="34" charset="0"/>
                <a:ea typeface="Calibri" pitchFamily="34" charset="-122"/>
                <a:cs typeface="Calibri" pitchFamily="34" charset="-120"/>
              </a:rPr>
              <a:t>Thank You   |   Yousuf S. R. Sakkaf   |   github.com/S-Yousuf-S/NHIS_Project4   |   </a:t>
            </a:r>
            <a:r>
              <a:rPr lang="en-US" sz="900" dirty="0" err="1">
                <a:solidFill>
                  <a:srgbClr val="DDD6FE"/>
                </a:solidFill>
                <a:latin typeface="Calibri" pitchFamily="34" charset="0"/>
                <a:ea typeface="Calibri" pitchFamily="34" charset="-122"/>
                <a:cs typeface="Calibri" pitchFamily="34" charset="-120"/>
              </a:rPr>
              <a:t>SmartPhone_Price_Prediction</a:t>
            </a:r>
            <a:endParaRPr lang="en-US" sz="900" dirty="0"/>
          </a:p>
        </p:txBody>
      </p:sp>
      <p:sp>
        <p:nvSpPr>
          <p:cNvPr id="46" name="Shape 32">
            <a:extLst>
              <a:ext uri="{FF2B5EF4-FFF2-40B4-BE49-F238E27FC236}">
                <a16:creationId xmlns:a16="http://schemas.microsoft.com/office/drawing/2014/main" id="{812DDC54-8DFC-CFE5-0E99-E3D7D4DD2CB4}"/>
              </a:ext>
            </a:extLst>
          </p:cNvPr>
          <p:cNvSpPr/>
          <p:nvPr/>
        </p:nvSpPr>
        <p:spPr>
          <a:xfrm>
            <a:off x="7176399" y="3305556"/>
            <a:ext cx="1353312" cy="1060704"/>
          </a:xfrm>
          <a:prstGeom prst="roundRect">
            <a:avLst>
              <a:gd name="adj" fmla="val 5172"/>
            </a:avLst>
          </a:prstGeom>
          <a:solidFill>
            <a:srgbClr val="2D2B6B"/>
          </a:solidFill>
          <a:ln w="6350">
            <a:solidFill>
              <a:srgbClr val="818CF8"/>
            </a:solidFill>
            <a:prstDash val="solid"/>
          </a:ln>
        </p:spPr>
        <p:txBody>
          <a:bodyPr/>
          <a:lstStyle/>
          <a:p>
            <a:pPr algn="ctr"/>
            <a:endParaRPr lang="en-IN" sz="1000" dirty="0">
              <a:solidFill>
                <a:srgbClr val="C7D2FE"/>
              </a:solidFill>
              <a:latin typeface="Segoe UI" panose="020B0502040204020203" pitchFamily="34" charset="0"/>
              <a:ea typeface="Calibri" pitchFamily="34" charset="-122"/>
              <a:cs typeface="Segoe UI" panose="020B0502040204020203" pitchFamily="34" charset="0"/>
            </a:endParaRPr>
          </a:p>
          <a:p>
            <a:pPr algn="ctr"/>
            <a:r>
              <a:rPr lang="en-IN" sz="1000" dirty="0">
                <a:solidFill>
                  <a:srgbClr val="C7D2FE"/>
                </a:solidFill>
                <a:latin typeface="Segoe UI" panose="020B0502040204020203" pitchFamily="34" charset="0"/>
                <a:ea typeface="Calibri" pitchFamily="34" charset="-122"/>
                <a:cs typeface="Segoe UI" panose="020B0502040204020203" pitchFamily="34" charset="0"/>
              </a:rPr>
              <a:t>Incorporate additional market and hardware features.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7154</TotalTime>
  <Words>9354</Words>
  <Application>Microsoft Office PowerPoint</Application>
  <PresentationFormat>On-screen Show (16:9)</PresentationFormat>
  <Paragraphs>1121</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Bahnschrift</vt:lpstr>
      <vt:lpstr>Calibri</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Yousuf Sakkaf</cp:lastModifiedBy>
  <cp:revision>27</cp:revision>
  <dcterms:created xsi:type="dcterms:W3CDTF">2026-06-21T07:36:33Z</dcterms:created>
  <dcterms:modified xsi:type="dcterms:W3CDTF">2026-07-07T15:50:13Z</dcterms:modified>
</cp:coreProperties>
</file>